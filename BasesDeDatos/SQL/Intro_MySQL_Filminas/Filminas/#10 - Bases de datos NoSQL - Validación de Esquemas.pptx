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Pragati Narrow"/>
      <p:regular r:id="rId21"/>
      <p:bold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3iITWWHBIDZPM2DMC2uZpOceI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PragatiNarrow-bold.fntdata"/><Relationship Id="rId21" Type="http://schemas.openxmlformats.org/officeDocument/2006/relationships/font" Target="fonts/PragatiNarrow-regular.fntdata"/><Relationship Id="rId24" Type="http://schemas.openxmlformats.org/officeDocument/2006/relationships/font" Target="fonts/Oswald-bold.fntdata"/><Relationship Id="rId23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mongodb.com/docs/manual/core/schema-validation/specify-json-schema/" TargetMode="External"/><Relationship Id="rId4" Type="http://schemas.openxmlformats.org/officeDocument/2006/relationships/hyperlink" Target="https://www.mongodb.com/docs/manual/core/schema-validation/specify-query-expression-rule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mongodb.com/docs/manual/reference/operator/query/jsonSchema/#mongodb-query-op.-jsonSchema" TargetMode="External"/><Relationship Id="rId4" Type="http://schemas.openxmlformats.org/officeDocument/2006/relationships/hyperlink" Target="https://www.mongodb.com/docs/manual/core/schema-validation/specify-json-schema/json-schema-tips/#std-label-json-schema-tip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mongodb.com/docs/manual/core/schema-valid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4400">
                <a:latin typeface="Oswald"/>
                <a:ea typeface="Oswald"/>
                <a:cs typeface="Oswald"/>
                <a:sym typeface="Oswald"/>
              </a:rPr>
              <a:t>Validación de Esquemas </a:t>
            </a:r>
            <a:endParaRPr sz="4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Bases de Datos 2022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Esquemas Flexibles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854850"/>
            <a:ext cx="8520600" cy="3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Por defecto los documentos de una colección pueden tener diferentes estructuras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Cambio en la estructura implica actualizar los documentos a la nueva estructura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En la práctica los documentos de una colección comparten una estructura similar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Opcionalmente se pueden arreglar reglas de</a:t>
            </a: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validación de esquemas 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Validación de Esquemas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7" name="Google Shape;67;p4"/>
          <p:cNvSpPr txBox="1"/>
          <p:nvPr>
            <p:ph idx="1" type="body"/>
          </p:nvPr>
        </p:nvSpPr>
        <p:spPr>
          <a:xfrm>
            <a:off x="311700" y="854850"/>
            <a:ext cx="8520600" cy="3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Permite especificar reglas de validación a los documentos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La validación de esquema se ejecuta durante los inserts y updates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Cómo se especifican las reglas de validación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Especificación con </a:t>
            </a:r>
            <a:r>
              <a:rPr lang="en-GB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Validación de Esquemas JSON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4"/>
              </a:rPr>
              <a:t>Especificación con Operadores de Selección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Validación de Esquemas JSON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3" name="Google Shape;73;p5"/>
          <p:cNvSpPr txBox="1"/>
          <p:nvPr>
            <p:ph idx="1" type="body"/>
          </p:nvPr>
        </p:nvSpPr>
        <p:spPr>
          <a:xfrm>
            <a:off x="311700" y="853200"/>
            <a:ext cx="85206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db.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createCollection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"&lt;name&gt;", {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validator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&lt;document&gt;, 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validationLevel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&lt;string&gt;, 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validationAction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&lt;string&gt; }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runCommand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 collMod: "&lt;name&gt;", 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validator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&lt;document&gt;, 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validationLevel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&lt;string&gt;, 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validationAction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&lt;string&gt; }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313200" y="1602000"/>
            <a:ext cx="4258800" cy="3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 sz="1700">
                <a:latin typeface="Oswald"/>
                <a:ea typeface="Oswald"/>
                <a:cs typeface="Oswald"/>
                <a:sym typeface="Oswald"/>
              </a:rPr>
              <a:t>Crear la colección employees </a:t>
            </a:r>
            <a:endParaRPr sz="17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createCollection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("employees",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validator: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$jsonSchema: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bsonType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"object",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required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"name", "age" ],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properties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name: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bsonType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"string",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minLength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3,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description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"full name of the employee and is required"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age: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bsonType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"int",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minimum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16,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description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"age of the employee and is required"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category: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enum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"Full-time","Part-time", "Temporary" ],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description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"can only be one of the enum values if the field exists"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} )</a:t>
            </a:r>
            <a:endParaRPr sz="14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75" name="Google Shape;75;p5"/>
          <p:cNvSpPr txBox="1"/>
          <p:nvPr>
            <p:ph idx="1" type="body"/>
          </p:nvPr>
        </p:nvSpPr>
        <p:spPr>
          <a:xfrm>
            <a:off x="4572000" y="1602000"/>
            <a:ext cx="42588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Ejemplo de validación 1</a:t>
            </a:r>
            <a:endParaRPr sz="12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db.employees.</a:t>
            </a:r>
            <a:r>
              <a:rPr lang="en-GB" sz="1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( {  name: "Kate MacDonell",   category:"Full-time" } 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solidFill>
                  <a:srgbClr val="FF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MongoServerError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: Document failed validation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Ejemplo de validación 2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db.employees.</a:t>
            </a:r>
            <a:r>
              <a:rPr lang="en-GB" sz="1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( { name: "Kate MacDonell", age: 15, category:"Part-time" } 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FF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MongoServerError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: Document failed validation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Ejemplo de validación 3</a:t>
            </a:r>
            <a:endParaRPr sz="12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db.employees.</a:t>
            </a:r>
            <a:r>
              <a:rPr lang="en-GB" sz="1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( { name: "Kate MacDonell", age: 21, category: "On-call"} 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FF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MongoServerError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: Document failed validation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Ejemplo de validación  4</a:t>
            </a:r>
            <a:endParaRPr sz="12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db.employees.</a:t>
            </a:r>
            <a:r>
              <a:rPr lang="en-GB" sz="1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( { name: "Kate MacDonell", age: 21, category: "Part-time" } 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{ acknowledged: true, insertedId: ObjectId("63648dff89f286435339acf3") }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Validación de Esquemas JSON - JSONSchema</a:t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6"/>
          <p:cNvSpPr txBox="1"/>
          <p:nvPr>
            <p:ph idx="1" type="body"/>
          </p:nvPr>
        </p:nvSpPr>
        <p:spPr>
          <a:xfrm>
            <a:off x="311700" y="853200"/>
            <a:ext cx="85206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b="1"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$jsonSchema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&lt;JSON Schema object&gt;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82" name="Google Shape;82;p6"/>
          <p:cNvSpPr txBox="1"/>
          <p:nvPr>
            <p:ph idx="1" type="body"/>
          </p:nvPr>
        </p:nvSpPr>
        <p:spPr>
          <a:xfrm>
            <a:off x="311700" y="1346700"/>
            <a:ext cx="8520600" cy="26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$jsonSchema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 {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			&lt;</a:t>
            </a:r>
            <a:r>
              <a:rPr lang="en-GB" sz="16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keyword</a:t>
            </a:r>
            <a:r>
              <a:rPr baseline="-25000" lang="en-GB" sz="16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&lt;value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&gt;,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			&lt;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keyword</a:t>
            </a:r>
            <a:r>
              <a:rPr baseline="-25000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2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&lt;value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2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&gt;,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			&lt;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keyword</a:t>
            </a:r>
            <a:r>
              <a:rPr baseline="-25000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3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&lt;value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3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&gt;,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			…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		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Validación de Esquemas JSON - JSONSchema - KEYWORDS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8" name="Google Shape;88;p7"/>
          <p:cNvSpPr txBox="1"/>
          <p:nvPr>
            <p:ph idx="1" type="body"/>
          </p:nvPr>
        </p:nvSpPr>
        <p:spPr>
          <a:xfrm>
            <a:off x="311700" y="854850"/>
            <a:ext cx="8520600" cy="3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bsonType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Acepta los mismos alias en string usados por el operador $type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required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El documento debe contener todos los elementos especificados en el arreglo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properties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Un esquema JSON válido donde cada valor es un esquema JSON válido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additionalProperties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Especifica si campos si se permiten campos adicionales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minimum, maximum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Indica el valor mínimo (máximo) del campo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minItems, maxItems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Indica la longitud mínima (longitud máxima) del arreglo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otros keywords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enum</a:t>
            </a: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, </a:t>
            </a: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description</a:t>
            </a: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, </a:t>
            </a: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pattern</a:t>
            </a: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, </a:t>
            </a: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minLength</a:t>
            </a: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, </a:t>
            </a: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maxLength</a:t>
            </a: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, </a:t>
            </a: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uniqueItems</a:t>
            </a: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, </a:t>
            </a:r>
            <a:r>
              <a:rPr lang="en-GB" u="sng">
                <a:solidFill>
                  <a:schemeClr val="hlink"/>
                </a:solidFill>
                <a:latin typeface="Pragati Narrow"/>
                <a:ea typeface="Pragati Narrow"/>
                <a:cs typeface="Pragati Narrow"/>
                <a:sym typeface="Pragati Narrow"/>
                <a:hlinkClick r:id="rId3"/>
              </a:rPr>
              <a:t>más keywords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 u="sng">
                <a:solidFill>
                  <a:schemeClr val="hlink"/>
                </a:solidFill>
                <a:latin typeface="Pragati Narrow"/>
                <a:ea typeface="Pragati Narrow"/>
                <a:cs typeface="Pragati Narrow"/>
                <a:sym typeface="Pragati Narrow"/>
                <a:hlinkClick r:id="rId4"/>
              </a:rPr>
              <a:t>Tips y buenas prácticas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Validación de Esquemas con Operadores de Selección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4" name="Google Shape;94;p8"/>
          <p:cNvSpPr txBox="1"/>
          <p:nvPr>
            <p:ph idx="1" type="body"/>
          </p:nvPr>
        </p:nvSpPr>
        <p:spPr>
          <a:xfrm>
            <a:off x="311700" y="853200"/>
            <a:ext cx="85206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Permite especificar validaciones que comparan múltiples campos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Se puede combinar validación con operador de selección con validación de esquemas JSON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5" name="Google Shape;95;p8"/>
          <p:cNvSpPr txBox="1"/>
          <p:nvPr>
            <p:ph idx="1" type="body"/>
          </p:nvPr>
        </p:nvSpPr>
        <p:spPr>
          <a:xfrm>
            <a:off x="313200" y="1542000"/>
            <a:ext cx="42588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Crear la colección orders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createCollection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"orders",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validator: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$expr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	     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$eq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    "$totalWithIVA",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	           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$multiply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"$total", "$IVA" ]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	      ]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	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4572000" y="1540800"/>
            <a:ext cx="4258800" cy="3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Ejemplo de validación 1</a:t>
            </a:r>
            <a:endParaRPr sz="12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db.orders.</a:t>
            </a:r>
            <a:r>
              <a:rPr lang="en-GB" sz="1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( {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 	total: NumberDecimal("4000"),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 	IVA: NumberDecimal("1.21"),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 	totalWithIVA: NumberDecimal("4800")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} 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FF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MongoServerError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: Document failed validation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Ejemplo de validación 2</a:t>
            </a:r>
            <a:endParaRPr sz="12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db.orders.</a:t>
            </a:r>
            <a:r>
              <a:rPr lang="en-GB" sz="1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( {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 	total: NumberDecimal("4000"),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 	IVA: NumberDecimal("1.21"),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 	totalWithIVA: NumberDecimal("4840")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} 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{ acknowledged: true,  insertedId: ObjectId("6364977e89f286435339acf4") }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Validación de Esquemas - ValidationLevel - ValidationAction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311700" y="853200"/>
            <a:ext cx="8520600" cy="4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700"/>
              <a:buFont typeface="Oswald"/>
              <a:buChar char="➢"/>
            </a:pPr>
            <a:r>
              <a:rPr lang="en-GB" sz="1600">
                <a:solidFill>
                  <a:srgbClr val="3D85C6"/>
                </a:solidFill>
                <a:latin typeface="Oswald"/>
                <a:ea typeface="Oswald"/>
                <a:cs typeface="Oswald"/>
                <a:sym typeface="Oswald"/>
              </a:rPr>
              <a:t>validationLevel 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: permiten especificar cómo aplicar las reglas de validación a documentos ya existentes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swald"/>
              <a:buChar char="○"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strict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: (valor por defecto) Las reglas de validación se aplican a todos los inserts y updates.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moderate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 : Las reglas de validación solo se aplican a los documentos existentes válidos.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700"/>
              <a:buFont typeface="Oswald"/>
              <a:buChar char="➢"/>
            </a:pPr>
            <a:r>
              <a:rPr lang="en-GB" sz="1600">
                <a:solidFill>
                  <a:srgbClr val="3D85C6"/>
                </a:solidFill>
                <a:latin typeface="Oswald"/>
                <a:ea typeface="Oswald"/>
                <a:cs typeface="Oswald"/>
                <a:sym typeface="Oswald"/>
              </a:rPr>
              <a:t>validationAction 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: permiten especificar cómo manejar los documentos que no cumplen la validación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swald"/>
              <a:buChar char="○"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error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: (valor por defecto) MongoDB rechaza cualquier insert o update que no cumple la regla de validación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warn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: MongoDB permite que operación continúe, pero registra la infracción en los logs de MongoDB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Validación de Esquemas - ValidationLevel - ValidationAction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8" name="Google Shape;108;p10"/>
          <p:cNvSpPr txBox="1"/>
          <p:nvPr>
            <p:ph idx="1" type="body"/>
          </p:nvPr>
        </p:nvSpPr>
        <p:spPr>
          <a:xfrm>
            <a:off x="311700" y="853200"/>
            <a:ext cx="85206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db.contacts.insertMany( [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{ "_id": 1, "name": "Anne", "phone": "+1 555 123 456", "city": "London", "status": "Complete"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{ "_id": 2, "name": "Ivan", "city": "Vancouver"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313200" y="1742275"/>
            <a:ext cx="42588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035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 sz="1700">
                <a:latin typeface="Oswald"/>
                <a:ea typeface="Oswald"/>
                <a:cs typeface="Oswald"/>
                <a:sym typeface="Oswald"/>
              </a:rPr>
              <a:t>Agregar una validación a una colección existente</a:t>
            </a:r>
            <a:endParaRPr sz="17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runCommand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collMod: "contacts",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validator: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$jsonSchema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bsonType: "object",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required: [ "phone", "name" ],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properties: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phone: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bsonType: "string",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description: "phone must be a string and is required"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name: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bsonType: "string",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description: "name must be a string and is required"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}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validationLevel: "moderate",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validationAction: "error"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126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}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4572000" y="1742275"/>
            <a:ext cx="42588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Ejemplo de validación 1</a:t>
            </a:r>
            <a:endParaRPr sz="12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db.contacts.</a:t>
            </a:r>
            <a:r>
              <a:rPr lang="en-GB" sz="1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updateOne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(  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{ "_id": 1},  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{ $set: { phone: null} } 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FF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MongoServerError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: Document failed validation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Oswald"/>
              <a:buChar char="➢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Ejemplo de validación 2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db.contacts.</a:t>
            </a:r>
            <a:r>
              <a:rPr lang="en-GB" sz="1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updateOne</a:t>
            </a: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{ "_id": 2}, 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  	{ $set: { phone: null } }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{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acknowledged: true,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insertedId: null,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matchedCount: 1,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modifiedCount: 1,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  upsertedCount: 0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sz="10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Validación de Esquemas - Metadata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311700" y="853200"/>
            <a:ext cx="8520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Pragati Narrow"/>
              <a:buChar char="➢"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Mostrar la regla de validación de una colección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gati Narrow"/>
              <a:buChar char="○"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getCollectionInfos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"&lt;collection&gt;") 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Temas a estudiar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853200"/>
            <a:ext cx="83316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➢"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Referencias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-GB" sz="16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Validación de esquemas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