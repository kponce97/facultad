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Pragati Narrow"/>
      <p:regular r:id="rId31"/>
      <p:bold r:id="rId32"/>
    </p:embeddedFont>
    <p:embeddedFont>
      <p:font typeface="Helvetica Neue"/>
      <p:regular r:id="rId33"/>
      <p:bold r:id="rId34"/>
      <p:italic r:id="rId35"/>
      <p:boldItalic r:id="rId36"/>
    </p:embeddedFont>
    <p:embeddedFont>
      <p:font typeface="Oswal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iK8AvEq2Vbh/IHnip2g4YxK4J6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5BE5A6D-CEF7-4FE4-8D9B-2EDBEF2AF182}">
  <a:tblStyle styleId="{F5BE5A6D-CEF7-4FE4-8D9B-2EDBEF2AF18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agatiNarrow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HelveticaNeue-regular.fntdata"/><Relationship Id="rId10" Type="http://schemas.openxmlformats.org/officeDocument/2006/relationships/slide" Target="slides/slide4.xml"/><Relationship Id="rId32" Type="http://schemas.openxmlformats.org/officeDocument/2006/relationships/font" Target="fonts/PragatiNarrow-bold.fntdata"/><Relationship Id="rId13" Type="http://schemas.openxmlformats.org/officeDocument/2006/relationships/slide" Target="slides/slide7.xml"/><Relationship Id="rId35" Type="http://schemas.openxmlformats.org/officeDocument/2006/relationships/font" Target="fonts/HelveticaNeue-italic.fntdata"/><Relationship Id="rId12" Type="http://schemas.openxmlformats.org/officeDocument/2006/relationships/slide" Target="slides/slide6.xml"/><Relationship Id="rId34" Type="http://schemas.openxmlformats.org/officeDocument/2006/relationships/font" Target="fonts/HelveticaNeue-bold.fntdata"/><Relationship Id="rId15" Type="http://schemas.openxmlformats.org/officeDocument/2006/relationships/slide" Target="slides/slide9.xml"/><Relationship Id="rId37" Type="http://schemas.openxmlformats.org/officeDocument/2006/relationships/font" Target="fonts/Oswald-regular.fntdata"/><Relationship Id="rId14" Type="http://schemas.openxmlformats.org/officeDocument/2006/relationships/slide" Target="slides/slide8.xml"/><Relationship Id="rId36" Type="http://schemas.openxmlformats.org/officeDocument/2006/relationships/font" Target="fonts/HelveticaNeue-boldItalic.fntdata"/><Relationship Id="rId17" Type="http://schemas.openxmlformats.org/officeDocument/2006/relationships/slide" Target="slides/slide11.xml"/><Relationship Id="rId39" Type="http://customschemas.google.com/relationships/presentationmetadata" Target="metadata"/><Relationship Id="rId16" Type="http://schemas.openxmlformats.org/officeDocument/2006/relationships/slide" Target="slides/slide10.xml"/><Relationship Id="rId38" Type="http://schemas.openxmlformats.org/officeDocument/2006/relationships/font" Target="fonts/Oswald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ongodb.com/docs/manual/reference/bson-types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mongodb.com/docs/manual/reference/bios-example-collection/" TargetMode="External"/><Relationship Id="rId4" Type="http://schemas.openxmlformats.org/officeDocument/2006/relationships/hyperlink" Target="https://bsonspec.org/" TargetMode="External"/><Relationship Id="rId5" Type="http://schemas.openxmlformats.org/officeDocument/2006/relationships/hyperlink" Target="https://www.mongodb.com/docs/manual/reference/bson-type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mongodb.com/docs/manual/reference/method/js-cursor/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mongodb.com/docs/manual/reference/operator/update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mongodb.com/docs/manual/cru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Introducción a MongoDB y 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Operaciones CRUD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Bases de Datos 2024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Introducción a MongoDB 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MongoDB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6" name="Google Shape;66;p3"/>
          <p:cNvSpPr txBox="1"/>
          <p:nvPr>
            <p:ph idx="1" type="body"/>
          </p:nvPr>
        </p:nvSpPr>
        <p:spPr>
          <a:xfrm>
            <a:off x="311700" y="1460425"/>
            <a:ext cx="42603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Documento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GB" sz="800">
                <a:solidFill>
                  <a:srgbClr val="274E13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endParaRPr b="1" sz="800">
              <a:solidFill>
                <a:srgbClr val="274E1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"_id"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"153499",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 "Joe Moore"</a:t>
            </a:r>
            <a:r>
              <a:rPr b="1" lang="en-GB" sz="800">
                <a:solidFill>
                  <a:srgbClr val="274E1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1" sz="800">
              <a:solidFill>
                <a:srgbClr val="274E1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"age"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22,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"phones"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[ "120642342", "12062346" ]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"address"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-GB" sz="800">
                <a:solidFill>
                  <a:srgbClr val="274E13"/>
                </a:solidFill>
                <a:latin typeface="Consolas"/>
                <a:ea typeface="Consolas"/>
                <a:cs typeface="Consolas"/>
                <a:sym typeface="Consolas"/>
              </a:rPr>
              <a:t>{ </a:t>
            </a:r>
            <a:endParaRPr b="1" sz="800">
              <a:solidFill>
                <a:srgbClr val="274E1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"street"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"Joe",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"phones"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Moore""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"state"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Moore""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rgbClr val="274E13"/>
                </a:solidFill>
                <a:latin typeface="Consolas"/>
                <a:ea typeface="Consolas"/>
                <a:cs typeface="Consolas"/>
                <a:sym typeface="Consolas"/>
              </a:rPr>
              <a:t>    	}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>
                <a:solidFill>
                  <a:srgbClr val="274E1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311700" y="854825"/>
            <a:ext cx="8520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MongoDB es una base de datos de </a:t>
            </a:r>
            <a:r>
              <a:rPr b="1" lang="en-GB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documentos </a:t>
            </a:r>
            <a:r>
              <a:rPr lang="en-GB">
                <a:latin typeface="Roboto"/>
                <a:ea typeface="Roboto"/>
                <a:cs typeface="Roboto"/>
                <a:sym typeface="Roboto"/>
              </a:rPr>
              <a:t>con un modelo de datos flexible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3228525" y="1965600"/>
            <a:ext cx="11910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field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value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arreglo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documento anidado</a:t>
            </a:r>
            <a:endParaRPr b="1" i="0" sz="900" u="none" cap="none" strike="noStrike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4572000" y="1918800"/>
            <a:ext cx="42603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MongoDB almacena los datos como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documentos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similares a JSON (documentos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BSON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Un documento es una estructura de datos compuesta de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pares campo-valor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Cada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campo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debe estar entre comillas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El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valor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de cada campo puede ser cualquiera de los </a:t>
            </a:r>
            <a:r>
              <a:rPr lang="en-GB" sz="1600" u="sng">
                <a:solidFill>
                  <a:schemeClr val="accent5"/>
                </a:solidFill>
                <a:latin typeface="Oswald"/>
                <a:ea typeface="Oswald"/>
                <a:cs typeface="Oswald"/>
                <a:sym typeface="Oswa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tipos de datos BSON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cxnSp>
        <p:nvCxnSpPr>
          <p:cNvPr id="70" name="Google Shape;70;p3"/>
          <p:cNvCxnSpPr/>
          <p:nvPr/>
        </p:nvCxnSpPr>
        <p:spPr>
          <a:xfrm rot="10800000">
            <a:off x="3023125" y="2137200"/>
            <a:ext cx="34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1" name="Google Shape;71;p3"/>
          <p:cNvCxnSpPr/>
          <p:nvPr/>
        </p:nvCxnSpPr>
        <p:spPr>
          <a:xfrm rot="10800000">
            <a:off x="3023125" y="2404200"/>
            <a:ext cx="34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" name="Google Shape;72;p3"/>
          <p:cNvCxnSpPr/>
          <p:nvPr/>
        </p:nvCxnSpPr>
        <p:spPr>
          <a:xfrm rot="10800000">
            <a:off x="3023125" y="2685475"/>
            <a:ext cx="348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Colecciones y bases de datos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313200" y="1754250"/>
            <a:ext cx="4260300" cy="26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Colección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1080300" y="2445275"/>
            <a:ext cx="2803200" cy="16818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 txBox="1"/>
          <p:nvPr/>
        </p:nvSpPr>
        <p:spPr>
          <a:xfrm>
            <a:off x="1039300" y="2394500"/>
            <a:ext cx="1356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Collection: employees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244000" y="2669875"/>
            <a:ext cx="2215200" cy="11691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 txBox="1"/>
          <p:nvPr/>
        </p:nvSpPr>
        <p:spPr>
          <a:xfrm>
            <a:off x="1203425" y="2595475"/>
            <a:ext cx="8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Document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376100" y="2855025"/>
            <a:ext cx="1900500" cy="92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Ssn: "234234234",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name: { first: "", last: "" }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age: 22,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phones: [ "", "" ]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472600" y="2898475"/>
            <a:ext cx="2215200" cy="1169100"/>
          </a:xfrm>
          <a:prstGeom prst="rect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1432025" y="2824075"/>
            <a:ext cx="8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Document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604700" y="3083625"/>
            <a:ext cx="1900500" cy="92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user_id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"jmore",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name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"Joe Moore"</a:t>
            </a: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age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22,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</a:t>
            </a:r>
            <a:r>
              <a:rPr b="1" i="0" lang="en-GB" sz="900" u="none" cap="none" strike="noStrike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phones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: [ "120642342", "</a:t>
            </a:r>
            <a:r>
              <a:rPr b="0" i="0" lang="en-GB" sz="900" u="none" cap="none" strike="noStrike">
                <a:solidFill>
                  <a:schemeClr val="dk1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12062346</a:t>
            </a:r>
            <a:r>
              <a:rPr b="0" i="0" lang="en-GB" sz="900" u="none" cap="none" strike="noStrike">
                <a:solidFill>
                  <a:srgbClr val="000000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" ] </a:t>
            </a:r>
            <a:endParaRPr b="0" i="0" sz="900" u="none" cap="none" strike="noStrike">
              <a:solidFill>
                <a:srgbClr val="000000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GB" sz="900" u="none" cap="none" strike="noStrike">
                <a:solidFill>
                  <a:srgbClr val="274E13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b="1" i="0" sz="900" u="none" cap="none" strike="noStrike">
              <a:solidFill>
                <a:srgbClr val="274E13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87" name="Google Shape;87;p4"/>
          <p:cNvSpPr txBox="1"/>
          <p:nvPr>
            <p:ph idx="1" type="body"/>
          </p:nvPr>
        </p:nvSpPr>
        <p:spPr>
          <a:xfrm>
            <a:off x="311700" y="854850"/>
            <a:ext cx="8520600" cy="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Roboto"/>
              <a:buChar char="➢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MongoDB almacena los documentos en </a:t>
            </a:r>
            <a:r>
              <a:rPr b="1" lang="en-GB" sz="16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colecciones</a:t>
            </a:r>
            <a:endParaRPr b="1" sz="1600">
              <a:solidFill>
                <a:srgbClr val="6AA84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Roboto"/>
              <a:buChar char="➢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Una </a:t>
            </a:r>
            <a:r>
              <a:rPr b="1" lang="en-GB" sz="16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base de datos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almacena </a:t>
            </a:r>
            <a:r>
              <a:rPr lang="en-GB" sz="1600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una o más</a:t>
            </a: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 colecciones de documentos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88" name="Google Shape;88;p4"/>
          <p:cNvGraphicFramePr/>
          <p:nvPr/>
        </p:nvGraphicFramePr>
        <p:xfrm>
          <a:off x="4572000" y="17542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{F5BE5A6D-CEF7-4FE4-8D9B-2EDBEF2AF182}</a:tableStyleId>
              </a:tblPr>
              <a:tblGrid>
                <a:gridCol w="4127400"/>
              </a:tblGrid>
              <a:tr h="2902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use employees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switched to db employees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db.createCollection("employees")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db.employees.insertOne(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{"user_id": "jmore", "name": "Joe Moore", "age": 22}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…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db.employees.find()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{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_id: ObjectId("635098ad6ef3e1db925dbb3e"),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user_id: 'jmore',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name: 'Joe Moore',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4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age: 22</a:t>
                      </a:r>
                      <a:endParaRPr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b="1" lang="en-GB" sz="800" u="none" cap="none" strike="noStrike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b="1" sz="800" u="none" cap="none" strike="noStrike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800" u="none" cap="none" strike="noStrike">
                          <a:solidFill>
                            <a:schemeClr val="dk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endParaRPr b="1" sz="800" u="none" cap="none" strike="noStrike">
                        <a:solidFill>
                          <a:schemeClr val="dk2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>
                    <a:solidFill>
                      <a:srgbClr val="F9FB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Documentos BSON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10250" y="1976900"/>
            <a:ext cx="2988600" cy="210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" name="Google Shape;95;p5"/>
          <p:cNvSpPr txBox="1"/>
          <p:nvPr>
            <p:ph idx="1" type="body"/>
          </p:nvPr>
        </p:nvSpPr>
        <p:spPr>
          <a:xfrm>
            <a:off x="311700" y="1409475"/>
            <a:ext cx="4260300" cy="28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Documento BSON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</a:t>
            </a:r>
            <a:r>
              <a:rPr i="1" lang="en-GB" sz="8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 bios collection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    	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_id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ObjectId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("5099803df3f4948bd2f98391"),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{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first: "Alan",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last: "Turing"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},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birth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new 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('Jun 23, 1912'),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death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new 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Date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('Jun 07, 1954'),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contribs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[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"Turing machine",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"Turing test",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"Turingery"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],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</a:t>
            </a:r>
            <a:r>
              <a:rPr b="1" lang="en-GB" sz="800">
                <a:solidFill>
                  <a:srgbClr val="6AA84F"/>
                </a:solidFill>
                <a:latin typeface="Consolas"/>
                <a:ea typeface="Consolas"/>
                <a:cs typeface="Consolas"/>
                <a:sym typeface="Consolas"/>
              </a:rPr>
              <a:t>views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r>
              <a:rPr b="1" lang="en-GB" sz="800">
                <a:solidFill>
                  <a:srgbClr val="3C78D8"/>
                </a:solidFill>
                <a:latin typeface="Consolas"/>
                <a:ea typeface="Consolas"/>
                <a:cs typeface="Consolas"/>
                <a:sym typeface="Consolas"/>
              </a:rPr>
              <a:t>NumberLong</a:t>
            </a: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(1250000)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311700" y="854825"/>
            <a:ext cx="8520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4"/>
              </a:rPr>
              <a:t>BSON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es la representación binaria de documentos JSON aunque tiene </a:t>
            </a:r>
            <a:r>
              <a:rPr lang="en-GB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5"/>
              </a:rPr>
              <a:t>más tipos de datos</a:t>
            </a:r>
            <a:r>
              <a:rPr lang="en-GB">
                <a:latin typeface="Oswald"/>
                <a:ea typeface="Oswald"/>
                <a:cs typeface="Oswald"/>
                <a:sym typeface="Oswald"/>
              </a:rPr>
              <a:t> que JSON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4572000" y="1460425"/>
            <a:ext cx="4260300" cy="33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El campo _id</a:t>
            </a:r>
            <a:endParaRPr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Reservado y actúa como la 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clave primaria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 inmutable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Si al insertar el documento se omite el campo _id, se genera un </a:t>
            </a:r>
            <a:r>
              <a:rPr lang="en-GB" sz="1600">
                <a:solidFill>
                  <a:srgbClr val="3C78D8"/>
                </a:solidFill>
                <a:latin typeface="Oswald"/>
                <a:ea typeface="Oswald"/>
                <a:cs typeface="Oswald"/>
                <a:sym typeface="Oswald"/>
              </a:rPr>
              <a:t>ObjectId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para este campo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MongoDB Shell (mongosh y mongo)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4768750" y="5315975"/>
            <a:ext cx="4260300" cy="15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400">
                <a:latin typeface="Oswald"/>
                <a:ea typeface="Oswald"/>
                <a:cs typeface="Oswald"/>
                <a:sym typeface="Oswald"/>
              </a:rPr>
              <a:t>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311700" y="853200"/>
            <a:ext cx="7283400" cy="4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Comandos básicos</a:t>
            </a:r>
            <a:endParaRPr b="0" i="0" sz="18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show dbs</a:t>
            </a:r>
            <a:endParaRPr b="0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○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Lista todas las bases de datos en el servidor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use &lt;db&gt;</a:t>
            </a:r>
            <a:endParaRPr b="0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○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Cambia la base de datos actual a &lt;db&gt;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db</a:t>
            </a:r>
            <a:endParaRPr b="0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○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Variable que representa la base de datos actual luego de ejecutar el comando 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use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show collections</a:t>
            </a:r>
            <a:endParaRPr b="0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○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Lista todas las colecciones de la base de datos actual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db.createCollection(name, &lt;options&gt;)</a:t>
            </a:r>
            <a:endParaRPr b="0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○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Crea una nueva colección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db.&lt;collection&gt;.help()</a:t>
            </a:r>
            <a:endParaRPr b="0" i="0" sz="1600" u="none" cap="none" strike="noStrike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○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Muestra ayuda sobre los métodos de la colección</a:t>
            </a:r>
            <a:endParaRPr b="0" i="0" sz="18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 sz="4400">
                <a:latin typeface="Oswald"/>
                <a:ea typeface="Oswald"/>
                <a:cs typeface="Oswald"/>
                <a:sym typeface="Oswald"/>
              </a:rPr>
              <a:t>Operaciones CRUD</a:t>
            </a:r>
            <a:endParaRPr sz="44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Operaciones CRUD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5" name="Google Shape;115;p9"/>
          <p:cNvSpPr txBox="1"/>
          <p:nvPr>
            <p:ph idx="1" type="body"/>
          </p:nvPr>
        </p:nvSpPr>
        <p:spPr>
          <a:xfrm>
            <a:off x="311700" y="854825"/>
            <a:ext cx="8520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>
                <a:latin typeface="Oswald"/>
                <a:ea typeface="Oswald"/>
                <a:cs typeface="Oswald"/>
                <a:sym typeface="Oswald"/>
              </a:rPr>
              <a:t>Permiten crear (Create), leer (Read), actualizar (Update) y eliminar (Delete) documentos</a:t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6" name="Google Shape;116;p9"/>
          <p:cNvSpPr txBox="1"/>
          <p:nvPr/>
        </p:nvSpPr>
        <p:spPr>
          <a:xfrm>
            <a:off x="311700" y="1312025"/>
            <a:ext cx="7283400" cy="3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Operaciones CRUD usando MQL (MongoDB Query Language)</a:t>
            </a:r>
            <a:endParaRPr b="0" i="0" sz="18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insertOne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&lt;document&gt; 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insertMany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[ &lt;doc</a:t>
            </a:r>
            <a:r>
              <a:rPr b="0" baseline="-2500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1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&gt;, … , &lt;doc</a:t>
            </a:r>
            <a:r>
              <a:rPr b="0" baseline="-2500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N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&gt; ] 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findOne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&lt;query filter&gt;, &lt;projection&gt; 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find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&lt;query filter&gt;, &lt;projection&gt; 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updateOne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&lt;query filter&gt;, &lt;update&gt;, &lt;options&gt; 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updateMany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&lt;query filter&gt;, &lt;update&gt;, &lt;options&gt; 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deleteOne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&lt;query filter&gt;)</a:t>
            </a:r>
            <a:endParaRPr b="0" i="0" sz="1600" u="none" cap="none" strike="noStrike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db.&lt;collection&gt;.</a:t>
            </a:r>
            <a:r>
              <a:rPr b="0" i="0" lang="en-GB" sz="1600" u="none" cap="none" strike="noStrike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deleteMany</a:t>
            </a:r>
            <a:r>
              <a:rPr b="0" i="0" lang="en-GB" sz="16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rPr>
              <a:t>( &lt;query filter&gt; )</a:t>
            </a:r>
            <a:endParaRPr b="0" i="0" sz="1800" u="none" cap="none" strike="noStrike">
              <a:solidFill>
                <a:srgbClr val="595959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INSERT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2" name="Google Shape;122;p10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InsertOne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db.&lt;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collection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insertOne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&lt;document&gt;,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&lt;options&gt;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db.movies.insertOne(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{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		"title": "Star Trek II: The Wrath of Khan",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		"year": 1982,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		"type": "movie"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	    }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3" name="Google Shape;123;p10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InsertMany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db.&lt;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collection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insertMany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[ &lt;document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&gt;, … ,&lt;document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 ]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&lt;options&gt;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db.movies.insertMany([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		{"_id": "tt0796366", "title": "Star Trek", "year": 2009,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		"type": "movie"},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		{"_id": "tt1408101", "title": "Star Trek Into Darkness",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		"year": 2013, "type": "movie"},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		{"_id": "tt0117731", 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4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"title": "Star Trek: First Contact", "year": 1996}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lnSpc>
                <a:spcPct val="4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9" name="Google Shape;129;p11"/>
          <p:cNvSpPr txBox="1"/>
          <p:nvPr>
            <p:ph idx="1" type="body"/>
          </p:nvPr>
        </p:nvSpPr>
        <p:spPr>
          <a:xfrm>
            <a:off x="311700" y="853200"/>
            <a:ext cx="42603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4572000" y="853200"/>
            <a:ext cx="42603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query filter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especifica el filtro o criterio de selección mediante </a:t>
            </a: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operadores de selección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projection</a:t>
            </a:r>
            <a:r>
              <a:rPr lang="en-GB" sz="1679">
                <a:solidFill>
                  <a:srgbClr val="3D85C6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especifica los campos a devolver de los documentos que matchean con el filtro de selección.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find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 retorna los documentos que matchean con el criterio de selección (el resultado es un </a:t>
            </a: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cursor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{"status":  {"$eq": "A" }}, { "item": 1}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      =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{Azúcar sintáctico de $eq}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db.inventory.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{ "status":  "A" }, { "item": 1} )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1" name="Google Shape;131;p11"/>
          <p:cNvSpPr txBox="1"/>
          <p:nvPr>
            <p:ph idx="1" type="body"/>
          </p:nvPr>
        </p:nvSpPr>
        <p:spPr>
          <a:xfrm>
            <a:off x="313200" y="853200"/>
            <a:ext cx="42603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inventory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db.inventory.insertMany([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{ item: "journal", qty: 25, size: { h: 14, w: 21, uom: "cm" }, status: "A"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{ item: "notebook", qty: 50, size: { h: 8.5, w: 11, uom: "in" }, status: "A"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{ item: "paper", qty: 100, size: { h: 8.5, w: 11, uom: "in" }, status: "D"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{ item: "planner", qty: 75, size: { h: 22.85, w: 30, uom: "cm" }, status: "D" },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{ item: "postcard", qty: 45, size: { h: 10, w: 15.25, uom: "cm" }, status: "A" }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]);</a:t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Find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45720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db.&lt;</a:t>
            </a:r>
            <a:r>
              <a:rPr lang="en-GB" sz="1400">
                <a:solidFill>
                  <a:srgbClr val="3D85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collection</a:t>
            </a: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&gt;.</a:t>
            </a:r>
            <a:r>
              <a:rPr lang="en-GB" sz="14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</a:t>
            </a: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GB" sz="1400">
                <a:solidFill>
                  <a:srgbClr val="6AA84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400">
              <a:solidFill>
                <a:srgbClr val="6AA84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&lt;</a:t>
            </a:r>
            <a:r>
              <a:rPr lang="en-GB" sz="1400">
                <a:solidFill>
                  <a:srgbClr val="3D85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query filter</a:t>
            </a: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&gt;,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45720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&lt;</a:t>
            </a:r>
            <a:r>
              <a:rPr lang="en-GB" sz="1400">
                <a:solidFill>
                  <a:srgbClr val="3D85C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projection</a:t>
            </a: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&gt;</a:t>
            </a:r>
            <a:endParaRPr sz="1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457200" lvl="0" marL="0" rtl="0" algn="l">
              <a:lnSpc>
                <a:spcPct val="70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1400"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Projection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7" name="Google Shape;137;p12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El parámetro </a:t>
            </a: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projection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 opcional.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 &lt;field</a:t>
            </a:r>
            <a:r>
              <a:rPr baseline="-25000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&gt;: &lt;value&gt;, &lt;field</a:t>
            </a:r>
            <a:r>
              <a:rPr baseline="-25000"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&gt;: &lt;value&gt; ...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&lt;field&gt;: &lt;1 or true&gt;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→especifica inclusión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{}, { "item": 1, "qty": 1}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&lt;field&gt;: &lt;0 or false&gt; 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→especifica exclusión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{}, { "qty": 0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Por defecto se incluye el campo _id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{}, { "item": 1, "qty": 1, "_id": 0}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38" name="Google Shape;138;p12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Proyectar campos anidados con la notación 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"." ("field.nestedField")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db.bios.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{}, { "name.last": 1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O usando la forma anidada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db.bios.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{}, { "name": { "last": 1 }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3D85C6"/>
                </a:solidFill>
                <a:latin typeface="Oswald"/>
                <a:ea typeface="Oswald"/>
                <a:cs typeface="Oswald"/>
                <a:sym typeface="Oswald"/>
              </a:rPr>
              <a:t>&lt;field&gt;: &lt;aggregation expression&gt;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Con el uso de expresiones de agregación se pueden proyectar nuevos campos o proyectar existentes con nuevos valores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Operadores de Selección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4" name="Google Shape;144;p13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db.inventory.find(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lang="en-GB" sz="1600">
                <a:solidFill>
                  <a:srgbClr val="66666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qty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30 }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db.inventory.find(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"status" 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$in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["A", "D"] } }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3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Operadores de Comparación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db.&lt;collection&gt;.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{ &lt;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field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{ &lt;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operator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</a:t>
            </a:r>
            <a:r>
              <a:rPr lang="en-GB" sz="16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value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 }, ...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Operadores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$eq		$nq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		$gte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		$lte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$in		$nin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Operadores de Selección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latin typeface="Pragati Narrow"/>
                <a:ea typeface="Pragati Narrow"/>
                <a:cs typeface="Pragati Narrow"/>
                <a:sym typeface="Pragati Narrow"/>
              </a:rPr>
              <a:t>             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{"status":  "A"}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,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{"qty": {$lt: 30}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] }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= 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{Azúcar sintáctico de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db.inventory.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 {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"status":  "A"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,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{ "qty": { $lt: 30 } }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}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db.inventory.find(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$or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 { status: "A"}, { qty: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30 } } ]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db.inventory.find(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status: "A",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$or: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[ { qty: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30 } }, { item: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/^p/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} ] 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} )</a:t>
            </a:r>
            <a:endParaRPr sz="14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Operadores Logicos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db.&lt;collection&gt;.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{ &lt;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operator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[ { clause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}, { clause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}, … ]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db.&lt;collection&gt;.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{ &lt;</a:t>
            </a:r>
            <a:r>
              <a:rPr b="1"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operator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{ clause }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Operadores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$and		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$or		$nor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$not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Consulta en documentos anidados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Matchear un documento anidado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size: { h: 8.5, w: 11, uom: "in" } }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Especificar condiciones sobre campos anidados usando la notación 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"."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"size.w":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16 } }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Consulta en arreglo 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4572000" y="853200"/>
            <a:ext cx="42603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Operadores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Oswald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$all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matchea si el campo arreglo contiene todos los elementos especificados en value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Pragati Narrow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$elemMatch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matchea si al menos un elemento en el campo arreglo cumple todas las condiciones especificadas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Pragati Narrow"/>
              <a:buChar char="○"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$size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matchea si el campo arreglo es del largo especificado</a:t>
            </a:r>
            <a:endParaRPr sz="1600">
              <a:solidFill>
                <a:srgbClr val="6AA84F"/>
              </a:solidFill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Ejemplos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db.food.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fruits: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$all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["apple", "banana"] }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db.food.find( 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por_sizes: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$elemMatch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2,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$lte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4 } }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db.food.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por_sizes: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$size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3 } 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313200" y="853200"/>
            <a:ext cx="42603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food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db.food.insertMany([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1, fruits: ["apple", "banana", "mango"], por_sizes: [2, 3, 5]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2, fruits: ["apple", "lemon", "orange"], por_sizes: [1, 5]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{ _id: 3, fruits: ["cherry", "banana"], por_sizes: [1, 2]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])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Matchear un arreglo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db.food.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{"fruits":  ["cherry", "banana" ] }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Operadores de consulta de arreglos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db.&lt;collection&gt;.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            { &lt;array field&gt;: { &lt;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operator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&lt;value&gt; }, ...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Consulta en arreglo de documentos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1" name="Google Shape;171;p17"/>
          <p:cNvSpPr txBox="1"/>
          <p:nvPr>
            <p:ph idx="1" type="body"/>
          </p:nvPr>
        </p:nvSpPr>
        <p:spPr>
          <a:xfrm>
            <a:off x="313200" y="853200"/>
            <a:ext cx="8294700" cy="39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survey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	db.survey.insertMany([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		{ _id: 1, results: [ { product: "abc", score: 10 }, { product: "xyz", score: 5 } 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		{ _id: 2, results: [ { product: "abc", score: 8 }, { product: "xyz", score: 7 } ]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		{ _id: 3, results: [ { product: "abc", score: 7 }, { product: "xyz", score: 8 } ] }	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Ejemplos: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db.survey.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“results.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product”: "xyz", 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"results.score":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7 }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 db.survey.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results: {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$elemMatch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{ product: "xyz", score: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$gt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7 }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}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} 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Consulta por nulos o campos ausentes 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7" name="Google Shape;177;p18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Colección inventory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marR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db.inventory.insertMany([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	{ _id: 1, item: null},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	{ _id: 2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3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])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Matchear por null o campo ausente 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item: null }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Matchear por tipo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item: {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$type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: 10} } 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78" name="Google Shape;178;p18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Matchear por existencia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{ item: { 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$exists: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false } }  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FIND - Métodos del cursor - SORT SKIP LIMIT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4" name="Google Shape;184;p19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Ejemplo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//Listar los 3 items con mayor cantidad dentro de los inventarios con estado "A". Listar en orden alfabético si los items tiene la misma cantidad.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	db.inventory.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"status":  "A" },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		{ "item": 1, "qty": 1}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).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sort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		{ qty: -1, item: 1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).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skip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0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).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limit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(3)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6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85" name="Google Shape;185;p19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Sort, Skip, y Limit 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db.&lt;collection&gt;.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find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 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&lt;query filter&gt;,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		&lt;projection&gt;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sort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{ &lt;field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1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&lt;1 or -1&gt;, &lt;field</a:t>
            </a:r>
            <a:r>
              <a:rPr baseline="-25000" lang="en-GB" sz="1600">
                <a:latin typeface="Pragati Narrow"/>
                <a:ea typeface="Pragati Narrow"/>
                <a:cs typeface="Pragati Narrow"/>
                <a:sym typeface="Pragati Narrow"/>
              </a:rPr>
              <a:t>2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&gt;: &lt;1 or -1&gt; ... }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skip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&lt;offset&gt;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          ).</a:t>
            </a:r>
            <a:r>
              <a:rPr lang="en-GB" sz="16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limit</a:t>
            </a:r>
            <a:r>
              <a:rPr lang="en-GB" sz="1600">
                <a:latin typeface="Pragati Narrow"/>
                <a:ea typeface="Pragati Narrow"/>
                <a:cs typeface="Pragati Narrow"/>
                <a:sym typeface="Pragati Narrow"/>
              </a:rPr>
              <a:t>(&lt;number&gt;)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➢"/>
            </a:pPr>
            <a:r>
              <a:rPr lang="en-GB" sz="16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Más métodos del cursor</a:t>
            </a:r>
            <a:endParaRPr sz="1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CRUD - UPDATE - DELETE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1" name="Google Shape;191;p20"/>
          <p:cNvSpPr txBox="1"/>
          <p:nvPr>
            <p:ph idx="1" type="body"/>
          </p:nvPr>
        </p:nvSpPr>
        <p:spPr>
          <a:xfrm>
            <a:off x="45789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Upsert (Up</a:t>
            </a:r>
            <a:r>
              <a:rPr lang="en-GB" sz="1600">
                <a:latin typeface="Oswald"/>
                <a:ea typeface="Oswald"/>
                <a:cs typeface="Oswald"/>
                <a:sym typeface="Oswald"/>
              </a:rPr>
              <a:t>date + In</a:t>
            </a:r>
            <a:r>
              <a:rPr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sert)</a:t>
            </a:r>
            <a:endParaRPr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db.analytics.updateOne(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   { url: "/blog"},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  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$inc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pageviews : 1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upsert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true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Delete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db.inventory.deleteMany( { status: "A" }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  <p:sp>
        <p:nvSpPr>
          <p:cNvPr id="192" name="Google Shape;192;p20"/>
          <p:cNvSpPr txBox="1"/>
          <p:nvPr>
            <p:ph idx="1" type="body"/>
          </p:nvPr>
        </p:nvSpPr>
        <p:spPr>
          <a:xfrm>
            <a:off x="311700" y="853200"/>
            <a:ext cx="42603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600"/>
              <a:buFont typeface="Oswald"/>
              <a:buChar char="➢"/>
            </a:pPr>
            <a:r>
              <a:rPr b="1" lang="en-GB" sz="1600">
                <a:solidFill>
                  <a:srgbClr val="6AA84F"/>
                </a:solidFill>
                <a:latin typeface="Oswald"/>
                <a:ea typeface="Oswald"/>
                <a:cs typeface="Oswald"/>
                <a:sym typeface="Oswald"/>
              </a:rPr>
              <a:t>Update y Operadores de Actualización</a:t>
            </a:r>
            <a:endParaRPr b="1" sz="1600">
              <a:solidFill>
                <a:srgbClr val="6AA84F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db.inventory.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updateOne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   { item: "paper"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  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rgbClr val="9900F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$set: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{ "size.uom": "cm", status: "P"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	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$currentDate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lastModified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</a:t>
            </a:r>
            <a:r>
              <a:rPr lang="en-GB" sz="1400">
                <a:solidFill>
                  <a:srgbClr val="3D85C6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true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db.food.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updateMany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(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   { _id: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$in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[1, 3] } },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	   { 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$addToSet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{ fruits: { </a:t>
            </a:r>
            <a:r>
              <a:rPr lang="en-GB" sz="1400">
                <a:solidFill>
                  <a:srgbClr val="6AA84F"/>
                </a:solidFill>
                <a:latin typeface="Pragati Narrow"/>
                <a:ea typeface="Pragati Narrow"/>
                <a:cs typeface="Pragati Narrow"/>
                <a:sym typeface="Pragati Narrow"/>
              </a:rPr>
              <a:t>$each</a:t>
            </a: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: ["cherry", "pear"] } }</a:t>
            </a:r>
            <a:r>
              <a:rPr lang="en-GB" sz="1200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}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sz="1400">
                <a:latin typeface="Pragati Narrow"/>
                <a:ea typeface="Pragati Narrow"/>
                <a:cs typeface="Pragati Narrow"/>
                <a:sym typeface="Pragati Narrow"/>
              </a:rPr>
              <a:t>            )</a:t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swald"/>
              <a:buChar char="➢"/>
            </a:pPr>
            <a:r>
              <a:rPr lang="en-GB" sz="1600" u="sng">
                <a:solidFill>
                  <a:schemeClr val="hlink"/>
                </a:solidFill>
                <a:latin typeface="Oswald"/>
                <a:ea typeface="Oswald"/>
                <a:cs typeface="Oswald"/>
                <a:sym typeface="Oswald"/>
                <a:hlinkClick r:id="rId3"/>
              </a:rPr>
              <a:t>Más operadores de actualización</a:t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Oswald"/>
                <a:ea typeface="Oswald"/>
                <a:cs typeface="Oswald"/>
                <a:sym typeface="Oswald"/>
              </a:rPr>
              <a:t>Temas a estudiar</a:t>
            </a:r>
            <a:endParaRPr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311700" y="853200"/>
            <a:ext cx="8331600" cy="38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Próxima clase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Pipeline de agregación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○"/>
            </a:pPr>
            <a:r>
              <a:rPr lang="en-GB" sz="1600">
                <a:latin typeface="Roboto"/>
                <a:ea typeface="Roboto"/>
                <a:cs typeface="Roboto"/>
                <a:sym typeface="Roboto"/>
              </a:rPr>
              <a:t>Vistas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Roboto"/>
              <a:buChar char="➢"/>
            </a:pPr>
            <a:r>
              <a:rPr lang="en-GB">
                <a:latin typeface="Roboto"/>
                <a:ea typeface="Roboto"/>
                <a:cs typeface="Roboto"/>
                <a:sym typeface="Roboto"/>
              </a:rPr>
              <a:t>Referencias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-GB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Operaciones CRUD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latin typeface="Pragati Narrow"/>
              <a:ea typeface="Pragati Narrow"/>
              <a:cs typeface="Pragati Narrow"/>
              <a:sym typeface="Pragati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