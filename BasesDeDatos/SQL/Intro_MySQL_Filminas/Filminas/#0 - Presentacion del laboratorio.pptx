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YiA+Jx+2D6KfhpCaPf3EC0M/0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HelveticaNeue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3a689b6c2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63a689b6c2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3a689b6c2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63a689b6c2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3a689b6c2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63a689b6c2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942287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d942287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Oswald"/>
              <a:buNone/>
              <a:defRPr b="1" sz="5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Font typeface="Oswald"/>
              <a:buNone/>
              <a:defRPr sz="2800">
                <a:solidFill>
                  <a:srgbClr val="F1C23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" type="body"/>
          </p:nvPr>
        </p:nvSpPr>
        <p:spPr>
          <a:xfrm>
            <a:off x="311700" y="863550"/>
            <a:ext cx="85206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swald"/>
              <a:buNone/>
              <a:def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311700" y="863550"/>
            <a:ext cx="3999900" cy="34164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12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BD-2018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13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BD-2018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swald"/>
              <a:buNone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7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BD-2018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11700" y="863550"/>
            <a:ext cx="85206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swald"/>
              <a:buChar char="■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Oswald"/>
              <a:buNone/>
              <a:defRPr b="1" sz="5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" name="Google Shape;66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Font typeface="Oswald"/>
              <a:buNone/>
              <a:defRPr sz="2800">
                <a:solidFill>
                  <a:srgbClr val="F1C23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2800"/>
              <a:buNone/>
              <a:defRPr sz="2800">
                <a:solidFill>
                  <a:srgbClr val="F1C232"/>
                </a:solidFill>
              </a:defRPr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swald"/>
              <a:buNone/>
              <a:def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" type="body"/>
          </p:nvPr>
        </p:nvSpPr>
        <p:spPr>
          <a:xfrm>
            <a:off x="311700" y="863550"/>
            <a:ext cx="3999900" cy="34164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4" name="Google Shape;74;p22"/>
          <p:cNvSpPr txBox="1"/>
          <p:nvPr>
            <p:ph idx="2" type="body"/>
          </p:nvPr>
        </p:nvSpPr>
        <p:spPr>
          <a:xfrm>
            <a:off x="4832400" y="847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●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swald"/>
              <a:buChar char="○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Oswald"/>
              <a:buChar char="■"/>
              <a:defRPr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22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b="1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23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swald"/>
              <a:buNone/>
              <a:defRPr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96" name="Google Shape;9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7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BD-2018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" name="Google Shape;100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"/>
          <p:cNvSpPr txBox="1"/>
          <p:nvPr>
            <p:ph type="title"/>
          </p:nvPr>
        </p:nvSpPr>
        <p:spPr>
          <a:xfrm>
            <a:off x="768350" y="88106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6" name="Google Shape;106;p30"/>
          <p:cNvSpPr txBox="1"/>
          <p:nvPr>
            <p:ph idx="1" type="body"/>
          </p:nvPr>
        </p:nvSpPr>
        <p:spPr>
          <a:xfrm>
            <a:off x="814387" y="820340"/>
            <a:ext cx="7661400" cy="3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algn="l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 b="0" i="0" sz="1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D966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●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6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BD-2019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b="1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Oswald"/>
              <a:buChar char="●"/>
              <a:defRPr b="0" i="0" sz="18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D966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Oswald"/>
              <a:buChar char="●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●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Char char="○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swald"/>
              <a:buChar char="■"/>
              <a:defRPr b="0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311700" y="4764475"/>
            <a:ext cx="8265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BD-2019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amaf.zulipchat.com/#narrow/channel/519489-BD2025" TargetMode="External"/><Relationship Id="rId4" Type="http://schemas.openxmlformats.org/officeDocument/2006/relationships/hyperlink" Target="https://famaf.aulavirtual.unc.edu.ar/course/view.php?id=34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LABORATORIO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2" name="Google Shape;112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Base de Datos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LOS “PROFES”</a:t>
            </a:r>
            <a:endParaRPr/>
          </a:p>
        </p:txBody>
      </p:sp>
      <p:grpSp>
        <p:nvGrpSpPr>
          <p:cNvPr id="118" name="Google Shape;118;p2"/>
          <p:cNvGrpSpPr/>
          <p:nvPr/>
        </p:nvGrpSpPr>
        <p:grpSpPr>
          <a:xfrm>
            <a:off x="280950" y="1927844"/>
            <a:ext cx="1317750" cy="1706550"/>
            <a:chOff x="450550" y="1718475"/>
            <a:chExt cx="1317750" cy="1706550"/>
          </a:xfrm>
        </p:grpSpPr>
        <p:pic>
          <p:nvPicPr>
            <p:cNvPr id="119" name="Google Shape;1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0550" y="1718475"/>
              <a:ext cx="1317750" cy="13177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</p:pic>
        <p:sp>
          <p:nvSpPr>
            <p:cNvPr id="120" name="Google Shape;120;p2"/>
            <p:cNvSpPr txBox="1"/>
            <p:nvPr/>
          </p:nvSpPr>
          <p:spPr>
            <a:xfrm>
              <a:off x="450625" y="3036225"/>
              <a:ext cx="1317600" cy="3888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Ramiro Demasi</a:t>
              </a:r>
              <a:endParaRPr b="1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614931" y="3245594"/>
            <a:ext cx="1317600" cy="3888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Nicolás Cagliero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3164928" y="3245594"/>
            <a:ext cx="1317600" cy="3888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57150" rotWithShape="0" algn="bl" dir="264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Diego Gimenez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1715048" y="1927844"/>
            <a:ext cx="1333533" cy="1706550"/>
            <a:chOff x="2842392" y="1905825"/>
            <a:chExt cx="1333533" cy="1706550"/>
          </a:xfrm>
        </p:grpSpPr>
        <p:sp>
          <p:nvSpPr>
            <p:cNvPr id="125" name="Google Shape;125;p2"/>
            <p:cNvSpPr txBox="1"/>
            <p:nvPr/>
          </p:nvSpPr>
          <p:spPr>
            <a:xfrm>
              <a:off x="2842392" y="3223575"/>
              <a:ext cx="1317600" cy="3888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>
                  <a:latin typeface="Oswald"/>
                  <a:ea typeface="Oswald"/>
                  <a:cs typeface="Oswald"/>
                  <a:sym typeface="Oswald"/>
                </a:rPr>
                <a:t>Guido Ivetta</a:t>
              </a:r>
              <a:endParaRPr b="1" i="0" sz="1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pic>
          <p:nvPicPr>
            <p:cNvPr id="126" name="Google Shape;126;p2"/>
            <p:cNvPicPr preferRelativeResize="0"/>
            <p:nvPr/>
          </p:nvPicPr>
          <p:blipFill rotWithShape="1">
            <a:blip r:embed="rId4">
              <a:alphaModFix/>
            </a:blip>
            <a:srcRect b="17298" l="20131" r="20131" t="17298"/>
            <a:stretch/>
          </p:blipFill>
          <p:spPr>
            <a:xfrm>
              <a:off x="2842400" y="1905825"/>
              <a:ext cx="1333525" cy="1317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2"/>
          <p:cNvSpPr txBox="1"/>
          <p:nvPr/>
        </p:nvSpPr>
        <p:spPr>
          <a:xfrm>
            <a:off x="7514688" y="3253481"/>
            <a:ext cx="1317600" cy="3888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Oswald"/>
                <a:ea typeface="Oswald"/>
                <a:cs typeface="Oswald"/>
                <a:sym typeface="Oswald"/>
              </a:rPr>
              <a:t>Tomás Maraschio</a:t>
            </a:r>
            <a:endParaRPr b="1" i="0" sz="1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8" name="Google Shape;128;p2" title="zo.jpeg"/>
          <p:cNvPicPr preferRelativeResize="0"/>
          <p:nvPr/>
        </p:nvPicPr>
        <p:blipFill rotWithShape="1">
          <a:blip r:embed="rId5">
            <a:alphaModFix/>
          </a:blip>
          <a:srcRect b="10592" l="0" r="0" t="10592"/>
          <a:stretch/>
        </p:blipFill>
        <p:spPr>
          <a:xfrm>
            <a:off x="7498750" y="1904975"/>
            <a:ext cx="1333526" cy="1333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2"/>
          <p:cNvGrpSpPr/>
          <p:nvPr/>
        </p:nvGrpSpPr>
        <p:grpSpPr>
          <a:xfrm>
            <a:off x="6056779" y="1935725"/>
            <a:ext cx="1317750" cy="1706550"/>
            <a:chOff x="2087675" y="1718475"/>
            <a:chExt cx="1317750" cy="1706550"/>
          </a:xfrm>
        </p:grpSpPr>
        <p:pic>
          <p:nvPicPr>
            <p:cNvPr id="130" name="Google Shape;13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087675" y="1718475"/>
              <a:ext cx="1317750" cy="13177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sp>
          <p:nvSpPr>
            <p:cNvPr id="131" name="Google Shape;131;p2"/>
            <p:cNvSpPr txBox="1"/>
            <p:nvPr/>
          </p:nvSpPr>
          <p:spPr>
            <a:xfrm>
              <a:off x="2087675" y="3036225"/>
              <a:ext cx="1317600" cy="3888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Oswald"/>
                  <a:ea typeface="Oswald"/>
                  <a:cs typeface="Oswald"/>
                  <a:sym typeface="Oswald"/>
                </a:rPr>
                <a:t>Sergio Canchi</a:t>
              </a:r>
              <a:endParaRPr b="1"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pic>
        <p:nvPicPr>
          <p:cNvPr id="132" name="Google Shape;132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64918" y="1904981"/>
            <a:ext cx="1333525" cy="13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8">
            <a:alphaModFix/>
          </a:blip>
          <a:srcRect b="0" l="534" r="534" t="24902"/>
          <a:stretch/>
        </p:blipFill>
        <p:spPr>
          <a:xfrm>
            <a:off x="4614800" y="1904975"/>
            <a:ext cx="1317600" cy="133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>
            <p:ph idx="1" type="body"/>
          </p:nvPr>
        </p:nvSpPr>
        <p:spPr>
          <a:xfrm>
            <a:off x="311700" y="916800"/>
            <a:ext cx="69426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Cuando?</a:t>
            </a:r>
            <a:r>
              <a:rPr lang="en" sz="2400"/>
              <a:t> Viernes de 14hs a 18hs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>
                <a:solidFill>
                  <a:schemeClr val="dk1"/>
                </a:solidFill>
              </a:rPr>
              <a:t>Dónde?</a:t>
            </a:r>
            <a:r>
              <a:rPr lang="en" sz="2400">
                <a:solidFill>
                  <a:schemeClr val="dk1"/>
                </a:solidFill>
              </a:rPr>
              <a:t> Presencial </a:t>
            </a:r>
            <a:endParaRPr sz="24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Clases presenciales en el laboratorio 28 y 30.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Se da acceso a clases grabadas con la teoría de años anteriores.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Se requiere asistir a los parciales.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Como?</a:t>
            </a:r>
            <a:r>
              <a:rPr lang="en" sz="2400"/>
              <a:t> ~2 hs de teórico + ~2 hs de laboratorio.</a:t>
            </a:r>
            <a:endParaRPr sz="1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" sz="2400"/>
              <a:t>Canales Oficiales de Comunicación</a:t>
            </a:r>
            <a:r>
              <a:rPr lang="en" sz="2400"/>
              <a:t>:</a:t>
            </a:r>
            <a:endParaRPr sz="24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Zulip: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#BD2025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Moodle: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BD2024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LOGISTICA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EVALUACIÓN </a:t>
            </a:r>
            <a:endParaRPr/>
          </a:p>
        </p:txBody>
      </p:sp>
      <p:sp>
        <p:nvSpPr>
          <p:cNvPr id="146" name="Google Shape;146;p4"/>
          <p:cNvSpPr txBox="1"/>
          <p:nvPr>
            <p:ph idx="1" type="body"/>
          </p:nvPr>
        </p:nvSpPr>
        <p:spPr>
          <a:xfrm>
            <a:off x="311700" y="863550"/>
            <a:ext cx="85206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-"/>
            </a:pPr>
            <a:r>
              <a:rPr b="1" lang="en" sz="3100"/>
              <a:t>Dos Parciales:</a:t>
            </a:r>
            <a:endParaRPr b="1" sz="3100"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b="1" lang="en" sz="2500"/>
              <a:t>1er Parcial: </a:t>
            </a:r>
            <a:r>
              <a:rPr lang="en" sz="2500"/>
              <a:t>03</a:t>
            </a:r>
            <a:r>
              <a:rPr lang="en" sz="2500"/>
              <a:t> de Octubre</a:t>
            </a:r>
            <a:endParaRPr sz="2500"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b="1" lang="en" sz="2500"/>
              <a:t>2do Parcial:</a:t>
            </a:r>
            <a:r>
              <a:rPr lang="en" sz="2500"/>
              <a:t> 31 de Octubre</a:t>
            </a:r>
            <a:endParaRPr sz="2500"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b="1" lang="en" sz="2500"/>
              <a:t>Recuperatorio:</a:t>
            </a:r>
            <a:r>
              <a:rPr lang="en" sz="2500"/>
              <a:t> 14 de Noviembre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Los parciales son en la computadora, individuales y a "libro abierto".</a:t>
            </a:r>
            <a:endParaRPr sz="2500"/>
          </a:p>
        </p:txBody>
      </p:sp>
      <p:sp>
        <p:nvSpPr>
          <p:cNvPr id="147" name="Google Shape;147;p4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3a689b6c2_3_2"/>
          <p:cNvSpPr txBox="1"/>
          <p:nvPr>
            <p:ph idx="1" type="body"/>
          </p:nvPr>
        </p:nvSpPr>
        <p:spPr>
          <a:xfrm>
            <a:off x="311700" y="863550"/>
            <a:ext cx="8520600" cy="41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-"/>
            </a:pPr>
            <a:r>
              <a:rPr b="1" lang="en" sz="3400"/>
              <a:t>Regularizar</a:t>
            </a:r>
            <a:endParaRPr b="1"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regularizar el laboratorio, el estudiante debe obtener una nota igual o superior a 4 (cuatro) en ambos parciales.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caso de no alcanzar esa calificación, se podrá rendir recuperatorio.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nota del recuperatorio reemplaza (pisa) la del parcial correspondiente, sin conservar la nota anterior.</a:t>
            </a:r>
            <a:endParaRPr b="1" sz="2000"/>
          </a:p>
        </p:txBody>
      </p:sp>
      <p:sp>
        <p:nvSpPr>
          <p:cNvPr id="153" name="Google Shape;153;g363a689b6c2_3_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EVALUACIÓN </a:t>
            </a:r>
            <a:endParaRPr/>
          </a:p>
        </p:txBody>
      </p:sp>
      <p:sp>
        <p:nvSpPr>
          <p:cNvPr id="154" name="Google Shape;154;g363a689b6c2_3_2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3a689b6c2_3_18"/>
          <p:cNvSpPr txBox="1"/>
          <p:nvPr>
            <p:ph idx="1" type="body"/>
          </p:nvPr>
        </p:nvSpPr>
        <p:spPr>
          <a:xfrm>
            <a:off x="311700" y="863550"/>
            <a:ext cx="8558700" cy="3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-"/>
            </a:pPr>
            <a:r>
              <a:rPr b="1" lang="en" sz="3400"/>
              <a:t>Promocionar</a:t>
            </a:r>
            <a:endParaRPr b="1"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promocionar el laboratorio, se requiere obtener una nota igual o superior a 7 (siete) en ambos parciales.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no se alcanza dicha nota, se podrá rendir recuperatorio, bajo las mismas condiciones: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nota obtenida en el recuperatorio reemplaza (pisa) la del parcial recuperado, sin conservar la nota anterior.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63a689b6c2_3_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EVALUACIÓN </a:t>
            </a:r>
            <a:endParaRPr/>
          </a:p>
        </p:txBody>
      </p:sp>
      <p:sp>
        <p:nvSpPr>
          <p:cNvPr id="161" name="Google Shape;161;g363a689b6c2_3_18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63a689b6c2_3_18"/>
          <p:cNvSpPr txBox="1"/>
          <p:nvPr/>
        </p:nvSpPr>
        <p:spPr>
          <a:xfrm>
            <a:off x="2017950" y="3985325"/>
            <a:ext cx="510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  <a:latin typeface="Oswald"/>
                <a:ea typeface="Oswald"/>
                <a:cs typeface="Oswald"/>
                <a:sym typeface="Oswald"/>
              </a:rPr>
              <a:t>SE GUARDAN PROMOCIONES HASTA SIGUIENTE DICTADO</a:t>
            </a:r>
            <a:endParaRPr sz="1800">
              <a:solidFill>
                <a:srgbClr val="98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3a689b6c2_3_26"/>
          <p:cNvSpPr txBox="1"/>
          <p:nvPr>
            <p:ph idx="1" type="body"/>
          </p:nvPr>
        </p:nvSpPr>
        <p:spPr>
          <a:xfrm>
            <a:off x="311700" y="863475"/>
            <a:ext cx="8520600" cy="3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-"/>
            </a:pPr>
            <a:r>
              <a:rPr b="1" lang="en" sz="3400"/>
              <a:t>Recuperar</a:t>
            </a:r>
            <a:endParaRPr b="1"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dispone de una única instancia de recuperación de hasta 4 (cuatro) horas de duración total.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se deben recuperar ambos parciales, ambos deberán resolverse dentro de ese mismo período de 4 horas.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recuperatorios pueden rendirse tanto para regularizar como para promocionar, dependiendo de la nota obtenida.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63a689b6c2_3_2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EVALUACIÓN </a:t>
            </a:r>
            <a:endParaRPr/>
          </a:p>
        </p:txBody>
      </p:sp>
      <p:sp>
        <p:nvSpPr>
          <p:cNvPr id="169" name="Google Shape;169;g363a689b6c2_3_26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idx="1" type="body"/>
          </p:nvPr>
        </p:nvSpPr>
        <p:spPr>
          <a:xfrm>
            <a:off x="311700" y="844150"/>
            <a:ext cx="85206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Estudiar las bases de datos desde una perspectiva práctica.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En el teórico van a estudiar los fundamentos teóricos.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Conocer distintos tipos de bases de datos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Relacionales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Orientadas a Documentos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Conocer las herramientas disponibles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Clientes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Editores SQL / NoSQL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Aprender SQL  y NoSQL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-"/>
            </a:pPr>
            <a:r>
              <a:rPr b="1" lang="en">
                <a:solidFill>
                  <a:srgbClr val="CC0000"/>
                </a:solidFill>
              </a:rPr>
              <a:t>Hacer muuuuuuuchas queries.</a:t>
            </a:r>
            <a:endParaRPr b="1">
              <a:solidFill>
                <a:srgbClr val="CC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C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CC0000"/>
                </a:solidFill>
              </a:rPr>
              <a:t>	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OBJETIVOS DEL LAB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942287e1a_0_0"/>
          <p:cNvSpPr txBox="1"/>
          <p:nvPr>
            <p:ph idx="1" type="body"/>
          </p:nvPr>
        </p:nvSpPr>
        <p:spPr>
          <a:xfrm>
            <a:off x="311700" y="863550"/>
            <a:ext cx="85206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 estan promocionados, aun </a:t>
            </a:r>
            <a:r>
              <a:rPr lang="en"/>
              <a:t>así</a:t>
            </a:r>
            <a:r>
              <a:rPr lang="en"/>
              <a:t> tienen que anotarse a rendir.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Avisen si se anotaron como promocionados y no fueron.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 examen es SU responsabilidad, los docentes ya nos recibimos.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 no se inscriben y rinden sin avisar la nota NO se guarda.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C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CC0000"/>
                </a:solidFill>
              </a:rPr>
              <a:t>	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2" name="Google Shape;182;g2d942287e1a_0_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Algunas notas</a:t>
            </a:r>
            <a:endParaRPr/>
          </a:p>
        </p:txBody>
      </p:sp>
      <p:sp>
        <p:nvSpPr>
          <p:cNvPr id="183" name="Google Shape;183;g2d942287e1a_0_0"/>
          <p:cNvSpPr txBox="1"/>
          <p:nvPr/>
        </p:nvSpPr>
        <p:spPr>
          <a:xfrm>
            <a:off x="280950" y="4725675"/>
            <a:ext cx="9510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BD-202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