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Pragati Narrow"/>
      <p:regular r:id="rId25"/>
      <p:bold r:id="rId26"/>
    </p:embeddedFont>
    <p:embeddedFont>
      <p:font typeface="Oswal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jRLLWJ0+lDFssq7FEx/SZeRZ1D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F18F73-562D-4B8B-AAC4-75EC62E1A8E1}">
  <a:tblStyle styleId="{A8F18F73-562D-4B8B-AAC4-75EC62E1A8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ragatiNarrow-bold.fntdata"/><Relationship Id="rId25" Type="http://schemas.openxmlformats.org/officeDocument/2006/relationships/font" Target="fonts/PragatiNarrow-regular.fntdata"/><Relationship Id="rId28" Type="http://schemas.openxmlformats.org/officeDocument/2006/relationships/font" Target="fonts/Oswald-bold.fntdata"/><Relationship Id="rId27" Type="http://schemas.openxmlformats.org/officeDocument/2006/relationships/font" Target="fonts/Oswa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10f7a579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10f7a579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10f7a5796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10f7a5796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10f7a5796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10f7a5796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10f7a5796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10f7a5796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redis.io/docs/data-types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assandra.apache.org/_/quickstart.html" TargetMode="External"/><Relationship Id="rId4" Type="http://schemas.openxmlformats.org/officeDocument/2006/relationships/hyperlink" Target="https://cassandra.apache.org/doc/latest/cassandra/cql/types.ht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neo4j.com/docs/cypher-manual/current/syntax/values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mongodb.com/docs/manual/reference/bson-types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b-engines.com/en/ranking" TargetMode="External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4400">
                <a:latin typeface="Oswald"/>
                <a:ea typeface="Oswald"/>
                <a:cs typeface="Oswald"/>
                <a:sym typeface="Oswald"/>
              </a:rPr>
              <a:t>Introducción a Bases de Datos NoSQL</a:t>
            </a:r>
            <a:endParaRPr sz="44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Bases de Datos 2023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Base de Datos NoSQL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854825"/>
            <a:ext cx="8520600" cy="3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Las Bases de datos NoSQL son </a:t>
            </a:r>
            <a:r>
              <a:rPr b="1" lang="en-GB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bases de datos no relacionales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Proveen </a:t>
            </a: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modelos de datos diferentes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 al modelo relacional (tablas)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○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Modelo de Documentos, Grafos, ...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Proveen </a:t>
            </a: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lenguajes de consultas distintos 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a SQL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○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MQL, Cipher, CQL, …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Emergen a fines de la década de 2000 como respuesta a nuevas necesidades de las empresas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Necesidad de almacenar, acceder y procesar grandes cantidades de conjuntos de datos 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Limitaciones de la bases de datos relacionales tradicionales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Características de NoSQL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7" name="Google Shape;67;p3"/>
          <p:cNvSpPr txBox="1"/>
          <p:nvPr>
            <p:ph idx="1" type="body"/>
          </p:nvPr>
        </p:nvSpPr>
        <p:spPr>
          <a:xfrm>
            <a:off x="311700" y="854825"/>
            <a:ext cx="4260300" cy="3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Esquemas Flexibles</a:t>
            </a:r>
            <a:endParaRPr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No imponen un esquema predefinido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○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Datos semiestructurados o no estructurados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Estructuras de datos polimórficas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Alta disponibilidad</a:t>
            </a:r>
            <a:endParaRPr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Réplica de los datos en varios nodos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8" name="Google Shape;68;p3"/>
          <p:cNvSpPr txBox="1"/>
          <p:nvPr>
            <p:ph idx="1" type="body"/>
          </p:nvPr>
        </p:nvSpPr>
        <p:spPr>
          <a:xfrm>
            <a:off x="4572000" y="854825"/>
            <a:ext cx="4260300" cy="3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Escalabilidad horizontal</a:t>
            </a:r>
            <a:endParaRPr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Partición de los datos (sharding)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69" name="Google Shape;6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250" y="3187150"/>
            <a:ext cx="1981303" cy="162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84400" y="2057600"/>
            <a:ext cx="4647901" cy="212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Características de NoSQL 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6" name="Google Shape;76;p4"/>
          <p:cNvSpPr txBox="1"/>
          <p:nvPr>
            <p:ph idx="1" type="body"/>
          </p:nvPr>
        </p:nvSpPr>
        <p:spPr>
          <a:xfrm>
            <a:off x="311700" y="854825"/>
            <a:ext cx="4260300" cy="3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Integridad Referencial</a:t>
            </a:r>
            <a:endParaRPr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Usualmente no proveen FKs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Delegan la responsabilidad al desarrollador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JOINs</a:t>
            </a:r>
            <a:endParaRPr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Usualmente no proveen JOINs o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Recomendado sólo para consultas de análisis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Desnormalización</a:t>
            </a:r>
            <a:endParaRPr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Es una práctica usual tener duplicados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7" name="Google Shape;77;p4"/>
          <p:cNvSpPr txBox="1"/>
          <p:nvPr>
            <p:ph idx="1" type="body"/>
          </p:nvPr>
        </p:nvSpPr>
        <p:spPr>
          <a:xfrm>
            <a:off x="4572000" y="854825"/>
            <a:ext cx="4260300" cy="3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Modelado de datos Query-driven</a:t>
            </a:r>
            <a:endParaRPr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Las </a:t>
            </a: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consultas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 son requeridas para diseñar modelos de datos optimizados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Los </a:t>
            </a: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requisitos no funcionales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 (NFRs) de la aplicación son necesarios para el diseño 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Los NFRs son considerados para la selección de la BD más adecuada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Tipos de BD NoSQL:  Base de datos Clave-Valor 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3" name="Google Shape;83;p5"/>
          <p:cNvSpPr txBox="1"/>
          <p:nvPr>
            <p:ph idx="1" type="body"/>
          </p:nvPr>
        </p:nvSpPr>
        <p:spPr>
          <a:xfrm>
            <a:off x="311700" y="854825"/>
            <a:ext cx="4260300" cy="16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Modelo de datos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4" name="Google Shape;84;p5"/>
          <p:cNvSpPr txBox="1"/>
          <p:nvPr>
            <p:ph idx="1" type="body"/>
          </p:nvPr>
        </p:nvSpPr>
        <p:spPr>
          <a:xfrm>
            <a:off x="4572000" y="854825"/>
            <a:ext cx="42603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Caracteristicas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Esquema de datos super flexibles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In-memory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Tipos de datos</a:t>
            </a: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endParaRPr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○"/>
            </a:pP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Memcached</a:t>
            </a:r>
            <a:r>
              <a:rPr lang="en-GB">
                <a:latin typeface="Oswald"/>
                <a:ea typeface="Oswald"/>
                <a:cs typeface="Oswald"/>
                <a:sym typeface="Oswald"/>
              </a:rPr>
              <a:t>: Strings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○"/>
            </a:pPr>
            <a:r>
              <a:rPr lang="en-GB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3"/>
              </a:rPr>
              <a:t>Redis</a:t>
            </a: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: </a:t>
            </a:r>
            <a:r>
              <a:rPr lang="en-GB">
                <a:latin typeface="Oswald"/>
                <a:ea typeface="Oswald"/>
                <a:cs typeface="Oswald"/>
                <a:sym typeface="Oswald"/>
              </a:rPr>
              <a:t>Strings, Hashes, Lists, Sets, Sorted Sets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384225" y="1562325"/>
            <a:ext cx="541200" cy="216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0" baseline="-2500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2202575" y="1562325"/>
            <a:ext cx="696600" cy="216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b="0" baseline="-2500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p5"/>
          <p:cNvCxnSpPr>
            <a:stCxn id="85" idx="3"/>
            <a:endCxn id="86" idx="1"/>
          </p:cNvCxnSpPr>
          <p:nvPr/>
        </p:nvCxnSpPr>
        <p:spPr>
          <a:xfrm>
            <a:off x="1925425" y="1670625"/>
            <a:ext cx="27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" name="Google Shape;88;p5"/>
          <p:cNvSpPr/>
          <p:nvPr/>
        </p:nvSpPr>
        <p:spPr>
          <a:xfrm>
            <a:off x="1384225" y="1912675"/>
            <a:ext cx="541200" cy="216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0" baseline="-2500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2202575" y="1912675"/>
            <a:ext cx="696600" cy="216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b="0" baseline="-2500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5"/>
          <p:cNvCxnSpPr>
            <a:stCxn id="88" idx="3"/>
            <a:endCxn id="89" idx="1"/>
          </p:cNvCxnSpPr>
          <p:nvPr/>
        </p:nvCxnSpPr>
        <p:spPr>
          <a:xfrm>
            <a:off x="1925425" y="2020975"/>
            <a:ext cx="27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1" name="Google Shape;91;p5"/>
          <p:cNvSpPr/>
          <p:nvPr/>
        </p:nvSpPr>
        <p:spPr>
          <a:xfrm>
            <a:off x="1384225" y="2369875"/>
            <a:ext cx="541200" cy="216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0" baseline="-2500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2202575" y="2369875"/>
            <a:ext cx="696600" cy="216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b="0" baseline="-2500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baseline="-2500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" name="Google Shape;93;p5"/>
          <p:cNvCxnSpPr>
            <a:stCxn id="91" idx="3"/>
            <a:endCxn id="92" idx="1"/>
          </p:cNvCxnSpPr>
          <p:nvPr/>
        </p:nvCxnSpPr>
        <p:spPr>
          <a:xfrm>
            <a:off x="1925425" y="2478175"/>
            <a:ext cx="27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4" name="Google Shape;94;p5"/>
          <p:cNvSpPr txBox="1"/>
          <p:nvPr/>
        </p:nvSpPr>
        <p:spPr>
          <a:xfrm>
            <a:off x="1478875" y="2066400"/>
            <a:ext cx="35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2374925" y="2066400"/>
            <a:ext cx="35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4572000" y="2980800"/>
            <a:ext cx="4260300" cy="18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Casos de usos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Almacenar datos en </a:t>
            </a: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cache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 (caching)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Gestión de </a:t>
            </a: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sesiones</a:t>
            </a:r>
            <a:endParaRPr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Deduplicate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7" name="Google Shape;97;p5"/>
          <p:cNvSpPr txBox="1"/>
          <p:nvPr>
            <p:ph idx="1" type="body"/>
          </p:nvPr>
        </p:nvSpPr>
        <p:spPr>
          <a:xfrm>
            <a:off x="311700" y="2979125"/>
            <a:ext cx="4260300" cy="18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Lenguaje de consulta: Redis </a:t>
            </a:r>
            <a:endParaRPr i="1">
              <a:solidFill>
                <a:srgbClr val="A0AEC0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GB" sz="1050">
                <a:solidFill>
                  <a:srgbClr val="3C78D8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&gt; sadd </a:t>
            </a:r>
            <a:r>
              <a:rPr b="1" lang="en-GB" sz="1050">
                <a:solidFill>
                  <a:srgbClr val="66666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venues</a:t>
            </a:r>
            <a:r>
              <a:rPr b="1" lang="en-GB" sz="1050">
                <a:solidFill>
                  <a:srgbClr val="3C78D8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</a:t>
            </a:r>
            <a:r>
              <a:rPr b="1" lang="en-GB" sz="105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"Olympic Stadium" "Nippon Budokan" "Tokyo Stadium"</a:t>
            </a:r>
            <a:endParaRPr b="1" sz="1050">
              <a:solidFill>
                <a:srgbClr val="6AA84F"/>
              </a:solidFill>
              <a:highlight>
                <a:srgbClr val="F7FAFC"/>
              </a:highlight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GB" sz="105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&gt; sscan </a:t>
            </a:r>
            <a:r>
              <a:rPr b="1" lang="en-GB" sz="1050">
                <a:latin typeface="Pragati Narrow"/>
                <a:ea typeface="Pragati Narrow"/>
                <a:cs typeface="Pragati Narrow"/>
                <a:sym typeface="Pragati Narrow"/>
              </a:rPr>
              <a:t>venues</a:t>
            </a:r>
            <a:r>
              <a:rPr b="1" lang="en-GB" sz="105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0</a:t>
            </a:r>
            <a:r>
              <a:rPr b="1" lang="en-GB" sz="105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match *</a:t>
            </a:r>
            <a:endParaRPr sz="1200">
              <a:solidFill>
                <a:srgbClr val="2D3133"/>
              </a:solidFill>
              <a:highlight>
                <a:srgbClr val="F8F9FA"/>
              </a:highlight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76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en-GB" sz="105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&gt; sismember </a:t>
            </a:r>
            <a:r>
              <a:rPr b="1" lang="en-GB" sz="1050">
                <a:latin typeface="Pragati Narrow"/>
                <a:ea typeface="Pragati Narrow"/>
                <a:cs typeface="Pragati Narrow"/>
                <a:sym typeface="Pragati Narrow"/>
              </a:rPr>
              <a:t>venues</a:t>
            </a:r>
            <a:r>
              <a:rPr b="1" lang="en-GB" sz="105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</a:t>
            </a:r>
            <a:r>
              <a:rPr b="1" lang="en-GB" sz="105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“Eiffel Tower”</a:t>
            </a:r>
            <a:endParaRPr b="1" sz="1050">
              <a:solidFill>
                <a:srgbClr val="6AA84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Tipos de BD NoSQL:  Base de datos Wide-column 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3" name="Google Shape;103;p6"/>
          <p:cNvSpPr txBox="1"/>
          <p:nvPr>
            <p:ph idx="1" type="body"/>
          </p:nvPr>
        </p:nvSpPr>
        <p:spPr>
          <a:xfrm>
            <a:off x="311700" y="854825"/>
            <a:ext cx="4260300" cy="20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Modelo de datos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4" name="Google Shape;104;p6"/>
          <p:cNvSpPr txBox="1"/>
          <p:nvPr>
            <p:ph idx="1" type="body"/>
          </p:nvPr>
        </p:nvSpPr>
        <p:spPr>
          <a:xfrm>
            <a:off x="4572000" y="854825"/>
            <a:ext cx="42603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Caracteristicas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Agregar columnas con zero downtime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Tipos de datos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○"/>
            </a:pPr>
            <a:r>
              <a:rPr lang="en-GB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3"/>
              </a:rPr>
              <a:t>Cassandra</a:t>
            </a:r>
            <a:r>
              <a:rPr lang="en-GB">
                <a:latin typeface="Oswald"/>
                <a:ea typeface="Oswald"/>
                <a:cs typeface="Oswald"/>
                <a:sym typeface="Oswald"/>
              </a:rPr>
              <a:t>: incluye native types, </a:t>
            </a:r>
            <a:r>
              <a:rPr lang="en-GB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4"/>
              </a:rPr>
              <a:t>collection types</a:t>
            </a:r>
            <a:r>
              <a:rPr lang="en-GB">
                <a:latin typeface="Oswald"/>
                <a:ea typeface="Oswald"/>
                <a:cs typeface="Oswald"/>
                <a:sym typeface="Oswald"/>
              </a:rPr>
              <a:t>, user-defined types, tuple types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5" name="Google Shape;105;p6"/>
          <p:cNvSpPr txBox="1"/>
          <p:nvPr>
            <p:ph idx="1" type="body"/>
          </p:nvPr>
        </p:nvSpPr>
        <p:spPr>
          <a:xfrm>
            <a:off x="311700" y="3057125"/>
            <a:ext cx="4260300" cy="17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00475" y="1315250"/>
            <a:ext cx="3483000" cy="1566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52875" y="1466375"/>
            <a:ext cx="3181800" cy="6069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777775" y="1722050"/>
            <a:ext cx="649200" cy="16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Primary key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1606500" y="1529975"/>
            <a:ext cx="564600" cy="16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Column1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606500" y="1834775"/>
            <a:ext cx="564600" cy="16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Value1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cxnSp>
        <p:nvCxnSpPr>
          <p:cNvPr id="111" name="Google Shape;111;p6"/>
          <p:cNvCxnSpPr>
            <a:stCxn id="109" idx="2"/>
            <a:endCxn id="110" idx="0"/>
          </p:cNvCxnSpPr>
          <p:nvPr/>
        </p:nvCxnSpPr>
        <p:spPr>
          <a:xfrm>
            <a:off x="1888800" y="1699175"/>
            <a:ext cx="0" cy="13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2" name="Google Shape;112;p6"/>
          <p:cNvSpPr/>
          <p:nvPr/>
        </p:nvSpPr>
        <p:spPr>
          <a:xfrm>
            <a:off x="2368500" y="1529975"/>
            <a:ext cx="564600" cy="16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Column2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2368500" y="1834775"/>
            <a:ext cx="564600" cy="16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Value2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cxnSp>
        <p:nvCxnSpPr>
          <p:cNvPr id="114" name="Google Shape;114;p6"/>
          <p:cNvCxnSpPr>
            <a:stCxn id="112" idx="2"/>
            <a:endCxn id="113" idx="0"/>
          </p:cNvCxnSpPr>
          <p:nvPr/>
        </p:nvCxnSpPr>
        <p:spPr>
          <a:xfrm>
            <a:off x="2650800" y="1699175"/>
            <a:ext cx="0" cy="13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" name="Google Shape;115;p6"/>
          <p:cNvSpPr/>
          <p:nvPr/>
        </p:nvSpPr>
        <p:spPr>
          <a:xfrm>
            <a:off x="3130500" y="1529975"/>
            <a:ext cx="564600" cy="16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Column3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3130500" y="1834775"/>
            <a:ext cx="564600" cy="16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Value3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cxnSp>
        <p:nvCxnSpPr>
          <p:cNvPr id="117" name="Google Shape;117;p6"/>
          <p:cNvCxnSpPr>
            <a:stCxn id="115" idx="2"/>
            <a:endCxn id="116" idx="0"/>
          </p:cNvCxnSpPr>
          <p:nvPr/>
        </p:nvCxnSpPr>
        <p:spPr>
          <a:xfrm>
            <a:off x="3412800" y="1699175"/>
            <a:ext cx="0" cy="13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" name="Google Shape;118;p6"/>
          <p:cNvSpPr/>
          <p:nvPr/>
        </p:nvSpPr>
        <p:spPr>
          <a:xfrm>
            <a:off x="652875" y="2152175"/>
            <a:ext cx="3181800" cy="6069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777775" y="2407850"/>
            <a:ext cx="649200" cy="16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Primary key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1606500" y="2215775"/>
            <a:ext cx="564600" cy="16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Column1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606500" y="2520575"/>
            <a:ext cx="564600" cy="16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Value1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cxnSp>
        <p:nvCxnSpPr>
          <p:cNvPr id="122" name="Google Shape;122;p6"/>
          <p:cNvCxnSpPr>
            <a:stCxn id="120" idx="2"/>
            <a:endCxn id="121" idx="0"/>
          </p:cNvCxnSpPr>
          <p:nvPr/>
        </p:nvCxnSpPr>
        <p:spPr>
          <a:xfrm>
            <a:off x="1888800" y="2384975"/>
            <a:ext cx="0" cy="13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3" name="Google Shape;123;p6"/>
          <p:cNvSpPr/>
          <p:nvPr/>
        </p:nvSpPr>
        <p:spPr>
          <a:xfrm>
            <a:off x="2368500" y="2215775"/>
            <a:ext cx="564600" cy="16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Column5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2368500" y="2520575"/>
            <a:ext cx="564600" cy="16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Value5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cxnSp>
        <p:nvCxnSpPr>
          <p:cNvPr id="125" name="Google Shape;125;p6"/>
          <p:cNvCxnSpPr>
            <a:stCxn id="123" idx="2"/>
            <a:endCxn id="124" idx="0"/>
          </p:cNvCxnSpPr>
          <p:nvPr/>
        </p:nvCxnSpPr>
        <p:spPr>
          <a:xfrm>
            <a:off x="2650800" y="2384975"/>
            <a:ext cx="0" cy="13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6" name="Google Shape;126;p6"/>
          <p:cNvSpPr txBox="1"/>
          <p:nvPr/>
        </p:nvSpPr>
        <p:spPr>
          <a:xfrm>
            <a:off x="452700" y="1234075"/>
            <a:ext cx="446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Table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605100" y="1386475"/>
            <a:ext cx="446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Row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605100" y="2072275"/>
            <a:ext cx="446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Row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29" name="Google Shape;129;p6"/>
          <p:cNvSpPr txBox="1"/>
          <p:nvPr>
            <p:ph idx="1" type="body"/>
          </p:nvPr>
        </p:nvSpPr>
        <p:spPr>
          <a:xfrm>
            <a:off x="4572000" y="2980800"/>
            <a:ext cx="4260300" cy="18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Casos de usos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Las </a:t>
            </a: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escrituras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 superan a las lecturas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Logs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 de transacciones</a:t>
            </a:r>
            <a:endParaRPr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IoT</a:t>
            </a:r>
            <a:endParaRPr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0" name="Google Shape;130;p6"/>
          <p:cNvSpPr txBox="1"/>
          <p:nvPr>
            <p:ph idx="1" type="body"/>
          </p:nvPr>
        </p:nvSpPr>
        <p:spPr>
          <a:xfrm>
            <a:off x="311700" y="2979125"/>
            <a:ext cx="4260300" cy="18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Lenguaje de consulta: CQL </a:t>
            </a:r>
            <a:endParaRPr i="1">
              <a:solidFill>
                <a:srgbClr val="A0AEC0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GB" sz="1050">
                <a:solidFill>
                  <a:srgbClr val="3C78D8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ALTER TABLE</a:t>
            </a:r>
            <a:r>
              <a:rPr b="1" lang="en-GB" sz="105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users </a:t>
            </a:r>
            <a:r>
              <a:rPr b="1" lang="en-GB" sz="105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ADD</a:t>
            </a:r>
            <a:r>
              <a:rPr b="1" lang="en-GB" sz="105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todo map&lt;timestamp, text&gt;;</a:t>
            </a:r>
            <a:endParaRPr b="1" sz="1050">
              <a:solidFill>
                <a:srgbClr val="6AA84F"/>
              </a:solidFill>
              <a:highlight>
                <a:srgbClr val="F7FAFC"/>
              </a:highlight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GB" sz="105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UPDATE</a:t>
            </a:r>
            <a:r>
              <a:rPr b="1" lang="en-GB" sz="105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users SET todo =   { '2012-9-24' : 'enter mordor',   </a:t>
            </a:r>
            <a:endParaRPr b="1" sz="105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GB" sz="105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'2014-10-2 12:00' : 'throw ring into mount doom' }</a:t>
            </a:r>
            <a:endParaRPr b="1" sz="105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GB" sz="105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WHERE</a:t>
            </a:r>
            <a:r>
              <a:rPr b="1" lang="en-GB" sz="105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user_id = 'frodo';</a:t>
            </a:r>
            <a:endParaRPr sz="1200">
              <a:solidFill>
                <a:srgbClr val="2D3133"/>
              </a:solidFill>
              <a:highlight>
                <a:srgbClr val="F8F9FA"/>
              </a:highlight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76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en-GB" sz="105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SELECT</a:t>
            </a:r>
            <a:r>
              <a:rPr b="1" lang="en-GB" sz="105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user_id, todo </a:t>
            </a:r>
            <a:r>
              <a:rPr b="1" lang="en-GB" sz="105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FROM</a:t>
            </a:r>
            <a:r>
              <a:rPr b="1" lang="en-GB" sz="105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users </a:t>
            </a:r>
            <a:r>
              <a:rPr b="1" lang="en-GB" sz="105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WHERE</a:t>
            </a:r>
            <a:r>
              <a:rPr b="1" lang="en-GB" sz="105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user_id = 'frodo';</a:t>
            </a:r>
            <a:endParaRPr b="1" sz="1050">
              <a:solidFill>
                <a:srgbClr val="6AA84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Tipos de BD NoSQL:  Base de datos de Grafos 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6" name="Google Shape;136;p7"/>
          <p:cNvSpPr txBox="1"/>
          <p:nvPr>
            <p:ph idx="1" type="body"/>
          </p:nvPr>
        </p:nvSpPr>
        <p:spPr>
          <a:xfrm>
            <a:off x="311700" y="854825"/>
            <a:ext cx="4260300" cy="20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Modelo de datos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7" name="Google Shape;137;p7"/>
          <p:cNvSpPr txBox="1"/>
          <p:nvPr>
            <p:ph idx="1" type="body"/>
          </p:nvPr>
        </p:nvSpPr>
        <p:spPr>
          <a:xfrm>
            <a:off x="4572000" y="854825"/>
            <a:ext cx="42603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Caracteristicas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Estructuras de grafos: vértices y aristas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Tipos de datos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swald"/>
              <a:buChar char="○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Neo4j: </a:t>
            </a:r>
            <a:r>
              <a:rPr lang="en-GB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3"/>
              </a:rPr>
              <a:t>incluye</a:t>
            </a:r>
            <a:r>
              <a:rPr lang="en-GB">
                <a:latin typeface="Oswald"/>
                <a:ea typeface="Oswald"/>
                <a:cs typeface="Oswald"/>
                <a:sym typeface="Oswald"/>
              </a:rPr>
              <a:t> property types, composite types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791300" y="1227275"/>
            <a:ext cx="771000" cy="723600"/>
          </a:xfrm>
          <a:prstGeom prst="ellipse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860750" y="1151075"/>
            <a:ext cx="62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:Person</a:t>
            </a:r>
            <a:endParaRPr b="0" i="0" sz="12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791300" y="1455875"/>
            <a:ext cx="77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name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Jhon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age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21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2620100" y="1227275"/>
            <a:ext cx="771000" cy="723600"/>
          </a:xfrm>
          <a:prstGeom prst="ellipse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2689550" y="1151075"/>
            <a:ext cx="62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:Person</a:t>
            </a:r>
            <a:endParaRPr b="0" i="0" sz="12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2620100" y="1455875"/>
            <a:ext cx="77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name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Sally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age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22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629500" y="2217875"/>
            <a:ext cx="771000" cy="723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1698950" y="2141675"/>
            <a:ext cx="62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:Book</a:t>
            </a:r>
            <a:endParaRPr b="0" i="0" sz="12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1562300" y="2446475"/>
            <a:ext cx="933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title</a:t>
            </a:r>
            <a:r>
              <a:rPr b="0" i="0" lang="en-GB" sz="8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Databases</a:t>
            </a:r>
            <a:endParaRPr b="0" i="0" sz="8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authors</a:t>
            </a:r>
            <a:r>
              <a:rPr b="0" i="0" lang="en-GB" sz="8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</a:t>
            </a:r>
            <a:endParaRPr b="0" i="0" sz="8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cxnSp>
        <p:nvCxnSpPr>
          <p:cNvPr id="147" name="Google Shape;147;p7"/>
          <p:cNvCxnSpPr/>
          <p:nvPr/>
        </p:nvCxnSpPr>
        <p:spPr>
          <a:xfrm>
            <a:off x="1562300" y="1610525"/>
            <a:ext cx="105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8" name="Google Shape;148;p7"/>
          <p:cNvCxnSpPr/>
          <p:nvPr/>
        </p:nvCxnSpPr>
        <p:spPr>
          <a:xfrm flipH="1">
            <a:off x="2400500" y="1945925"/>
            <a:ext cx="541500" cy="73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" name="Google Shape;149;p7"/>
          <p:cNvCxnSpPr/>
          <p:nvPr/>
        </p:nvCxnSpPr>
        <p:spPr>
          <a:xfrm>
            <a:off x="1153100" y="1981475"/>
            <a:ext cx="469800" cy="6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0" name="Google Shape;150;p7"/>
          <p:cNvSpPr txBox="1"/>
          <p:nvPr/>
        </p:nvSpPr>
        <p:spPr>
          <a:xfrm>
            <a:off x="1486100" y="1227275"/>
            <a:ext cx="1217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IS_FRIENDS_WITH</a:t>
            </a:r>
            <a:endParaRPr b="0" i="0" sz="10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since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01/09/2021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2629100" y="2065475"/>
            <a:ext cx="121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HAS_READ</a:t>
            </a:r>
            <a:endParaRPr b="0" i="0" sz="10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on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04/09/2021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rated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4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266900" y="2065475"/>
            <a:ext cx="121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HAS_READ</a:t>
            </a:r>
            <a:endParaRPr b="0" i="0" sz="10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on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02/09/2021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rated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5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53" name="Google Shape;153;p7"/>
          <p:cNvSpPr txBox="1"/>
          <p:nvPr>
            <p:ph idx="1" type="body"/>
          </p:nvPr>
        </p:nvSpPr>
        <p:spPr>
          <a:xfrm>
            <a:off x="4572000" y="2980800"/>
            <a:ext cx="4260300" cy="18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Casos de usos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Redes sociales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Análisis y detección de fraudes</a:t>
            </a:r>
            <a:endParaRPr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Sistema de recomendaciones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4" name="Google Shape;154;p7"/>
          <p:cNvSpPr txBox="1"/>
          <p:nvPr>
            <p:ph idx="1" type="body"/>
          </p:nvPr>
        </p:nvSpPr>
        <p:spPr>
          <a:xfrm>
            <a:off x="311700" y="2979125"/>
            <a:ext cx="4260300" cy="18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981"/>
              <a:buNone/>
            </a:pPr>
            <a:r>
              <a:rPr lang="en-GB" sz="2300">
                <a:latin typeface="Oswald"/>
                <a:ea typeface="Oswald"/>
                <a:cs typeface="Oswald"/>
                <a:sym typeface="Oswald"/>
              </a:rPr>
              <a:t>Lenguaje de consulta: Cipher </a:t>
            </a:r>
            <a:endParaRPr i="1" sz="2300">
              <a:solidFill>
                <a:srgbClr val="A0AEC0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21198"/>
              <a:buNone/>
            </a:pPr>
            <a:r>
              <a:rPr i="1" lang="en-GB" sz="1050">
                <a:latin typeface="Consolas"/>
                <a:ea typeface="Consolas"/>
                <a:cs typeface="Consolas"/>
                <a:sym typeface="Consolas"/>
              </a:rPr>
              <a:t>//find the top 3 people who have the most friends</a:t>
            </a:r>
            <a:endParaRPr sz="1050">
              <a:highlight>
                <a:srgbClr val="F7FAF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21198"/>
              <a:buNone/>
            </a:pPr>
            <a:r>
              <a:rPr b="1" lang="en-GB" sz="105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MATCH</a:t>
            </a:r>
            <a:r>
              <a:rPr b="1" lang="en-GB" sz="1050">
                <a:solidFill>
                  <a:srgbClr val="6AA84F"/>
                </a:solidFill>
                <a:highlight>
                  <a:srgbClr val="F7FAFC"/>
                </a:highlight>
                <a:latin typeface="Consolas"/>
                <a:ea typeface="Consolas"/>
                <a:cs typeface="Consolas"/>
                <a:sym typeface="Consolas"/>
              </a:rPr>
              <a:t> (p:</a:t>
            </a:r>
            <a:r>
              <a:rPr b="1" lang="en-GB" sz="105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b="1" lang="en-GB" sz="1050">
                <a:solidFill>
                  <a:srgbClr val="6AA84F"/>
                </a:solidFill>
                <a:highlight>
                  <a:srgbClr val="F7FAFC"/>
                </a:highlight>
                <a:latin typeface="Consolas"/>
                <a:ea typeface="Consolas"/>
                <a:cs typeface="Consolas"/>
                <a:sym typeface="Consolas"/>
              </a:rPr>
              <a:t>)-[r:</a:t>
            </a:r>
            <a:r>
              <a:rPr b="1" lang="en-GB" sz="105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IS_FRIENDS_WITH</a:t>
            </a:r>
            <a:r>
              <a:rPr b="1" lang="en-GB" sz="1050">
                <a:solidFill>
                  <a:srgbClr val="6AA84F"/>
                </a:solidFill>
                <a:highlight>
                  <a:srgbClr val="F7FAFC"/>
                </a:highlight>
                <a:latin typeface="Consolas"/>
                <a:ea typeface="Consolas"/>
                <a:cs typeface="Consolas"/>
                <a:sym typeface="Consolas"/>
              </a:rPr>
              <a:t>]-(other:</a:t>
            </a:r>
            <a:r>
              <a:rPr b="1" lang="en-GB" sz="105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b="1" lang="en-GB" sz="1050">
                <a:solidFill>
                  <a:srgbClr val="6AA84F"/>
                </a:solidFill>
                <a:highlight>
                  <a:srgbClr val="F7FAFC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050">
              <a:solidFill>
                <a:srgbClr val="6AA84F"/>
              </a:solidFill>
              <a:highlight>
                <a:srgbClr val="F7FAF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21198"/>
              <a:buNone/>
            </a:pPr>
            <a:r>
              <a:rPr b="1" lang="en-GB" sz="105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-GB" sz="1050">
                <a:solidFill>
                  <a:srgbClr val="6AA84F"/>
                </a:solidFill>
                <a:highlight>
                  <a:srgbClr val="F7FAFC"/>
                </a:highlight>
                <a:latin typeface="Consolas"/>
                <a:ea typeface="Consolas"/>
                <a:cs typeface="Consolas"/>
                <a:sym typeface="Consolas"/>
              </a:rPr>
              <a:t> p.name,</a:t>
            </a:r>
            <a:r>
              <a:rPr b="1" lang="en-GB" sz="105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 count(other.name)</a:t>
            </a:r>
            <a:r>
              <a:rPr b="1" lang="en-GB" sz="1050">
                <a:solidFill>
                  <a:srgbClr val="6AA84F"/>
                </a:solidFill>
                <a:highlight>
                  <a:srgbClr val="F7FAFC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GB" sz="105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1" lang="en-GB" sz="1050">
                <a:solidFill>
                  <a:srgbClr val="6AA84F"/>
                </a:solidFill>
                <a:highlight>
                  <a:srgbClr val="F7FAFC"/>
                </a:highlight>
                <a:latin typeface="Consolas"/>
                <a:ea typeface="Consolas"/>
                <a:cs typeface="Consolas"/>
                <a:sym typeface="Consolas"/>
              </a:rPr>
              <a:t> numberOfFriends</a:t>
            </a:r>
            <a:endParaRPr b="1" sz="1050">
              <a:solidFill>
                <a:srgbClr val="6AA84F"/>
              </a:solidFill>
              <a:highlight>
                <a:srgbClr val="F7FAF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21198"/>
              <a:buNone/>
            </a:pPr>
            <a:r>
              <a:rPr b="1" lang="en-GB" sz="105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ORDER</a:t>
            </a:r>
            <a:r>
              <a:rPr b="1" lang="en-GB" sz="1050">
                <a:solidFill>
                  <a:srgbClr val="3C78D8"/>
                </a:solidFill>
                <a:highlight>
                  <a:srgbClr val="F7FAFC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GB" sz="105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BY</a:t>
            </a:r>
            <a:r>
              <a:rPr b="1" lang="en-GB" sz="1050">
                <a:solidFill>
                  <a:srgbClr val="6AA84F"/>
                </a:solidFill>
                <a:highlight>
                  <a:srgbClr val="F7FAFC"/>
                </a:highlight>
                <a:latin typeface="Consolas"/>
                <a:ea typeface="Consolas"/>
                <a:cs typeface="Consolas"/>
                <a:sym typeface="Consolas"/>
              </a:rPr>
              <a:t> numberOfFriends </a:t>
            </a:r>
            <a:r>
              <a:rPr b="1" lang="en-GB" sz="105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DESC</a:t>
            </a:r>
            <a:endParaRPr b="1" sz="1050">
              <a:solidFill>
                <a:srgbClr val="6AA84F"/>
              </a:solidFill>
              <a:highlight>
                <a:srgbClr val="F7FAF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221198"/>
              <a:buNone/>
            </a:pPr>
            <a:r>
              <a:rPr b="1" lang="en-GB" sz="105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LIMIT</a:t>
            </a:r>
            <a:r>
              <a:rPr b="1" lang="en-GB" sz="1050">
                <a:solidFill>
                  <a:srgbClr val="6AA84F"/>
                </a:solidFill>
                <a:highlight>
                  <a:srgbClr val="F7FAFC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GB" sz="105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1" sz="1050">
              <a:solidFill>
                <a:srgbClr val="6AA84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Tipos de BD NoSQL:  Base de datos de Documentos 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0" name="Google Shape;160;p8"/>
          <p:cNvSpPr txBox="1"/>
          <p:nvPr>
            <p:ph idx="1" type="body"/>
          </p:nvPr>
        </p:nvSpPr>
        <p:spPr>
          <a:xfrm>
            <a:off x="311700" y="854825"/>
            <a:ext cx="42603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Modelo de datos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1" name="Google Shape;161;p8"/>
          <p:cNvSpPr txBox="1"/>
          <p:nvPr>
            <p:ph idx="1" type="body"/>
          </p:nvPr>
        </p:nvSpPr>
        <p:spPr>
          <a:xfrm>
            <a:off x="4572000" y="854825"/>
            <a:ext cx="42603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Caracteristicas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Estructuras de datos similares a JSON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Relaciones obvias usando arrays y documentos anidados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Tipos de datos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swald"/>
              <a:buChar char="○"/>
            </a:pPr>
            <a:r>
              <a:rPr lang="en-GB" sz="1200">
                <a:latin typeface="Oswald"/>
                <a:ea typeface="Oswald"/>
                <a:cs typeface="Oswald"/>
                <a:sym typeface="Oswald"/>
              </a:rPr>
              <a:t>MongoDB: </a:t>
            </a:r>
            <a:r>
              <a:rPr lang="en-GB" sz="12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3"/>
              </a:rPr>
              <a:t>incluye</a:t>
            </a:r>
            <a:r>
              <a:rPr lang="en-GB" sz="1200">
                <a:latin typeface="Oswald"/>
                <a:ea typeface="Oswald"/>
                <a:cs typeface="Oswald"/>
                <a:sym typeface="Oswald"/>
              </a:rPr>
              <a:t> numbers, strings, date, arrays, objects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8"/>
          <p:cNvSpPr txBox="1"/>
          <p:nvPr>
            <p:ph idx="1" type="body"/>
          </p:nvPr>
        </p:nvSpPr>
        <p:spPr>
          <a:xfrm>
            <a:off x="4572000" y="2980800"/>
            <a:ext cx="4260300" cy="18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Casos de usos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De proposito general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Catalogos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IoT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Gestión de contenidos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558175" y="1298950"/>
            <a:ext cx="2803200" cy="1681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517175" y="1248175"/>
            <a:ext cx="1356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Collection: employees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721875" y="1523550"/>
            <a:ext cx="2215200" cy="11691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681300" y="1449150"/>
            <a:ext cx="80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Document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853975" y="1708700"/>
            <a:ext cx="1900500" cy="92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{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Ssn: "234234234", 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name: { first: "", last: "" } 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age: 22,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phones: [ "", "" ] 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}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950475" y="1752150"/>
            <a:ext cx="2215200" cy="11691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909900" y="1677750"/>
            <a:ext cx="80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Document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082575" y="1937300"/>
            <a:ext cx="1900500" cy="92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74E13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{</a:t>
            </a:r>
            <a:endParaRPr b="1" i="0" sz="900" u="none" cap="none" strike="noStrike">
              <a:solidFill>
                <a:srgbClr val="274E13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ssn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"153499", 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name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</a:t>
            </a:r>
            <a:r>
              <a:rPr b="1" i="0" lang="en-GB" sz="900" u="none" cap="none" strike="noStrike">
                <a:solidFill>
                  <a:srgbClr val="274E13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{ 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first: "Joe", last: Moore"" </a:t>
            </a:r>
            <a:r>
              <a:rPr b="1" i="0" lang="en-GB" sz="900" u="none" cap="none" strike="noStrike">
                <a:solidFill>
                  <a:srgbClr val="274E13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} </a:t>
            </a:r>
            <a:endParaRPr b="1" i="0" sz="900" u="none" cap="none" strike="noStrike">
              <a:solidFill>
                <a:srgbClr val="274E13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age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22,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phones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[ "120642342", "</a:t>
            </a:r>
            <a:r>
              <a:rPr b="0" i="0" lang="en-GB" sz="900" u="none" cap="none" strike="noStrike">
                <a:solidFill>
                  <a:schemeClr val="dk1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12062346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" ] 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74E13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}</a:t>
            </a:r>
            <a:endParaRPr b="1" i="0" sz="900" u="none" cap="none" strike="noStrike">
              <a:solidFill>
                <a:srgbClr val="274E13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3380925" y="1926000"/>
            <a:ext cx="1191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274E13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dk1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field</a:t>
            </a:r>
            <a:r>
              <a:rPr b="0" i="0" lang="en-GB" sz="900" u="none" cap="none" strike="noStrike">
                <a:solidFill>
                  <a:schemeClr val="dk1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value </a:t>
            </a:r>
            <a:endParaRPr b="0" i="0" sz="900" u="none" cap="none" strike="noStrike">
              <a:solidFill>
                <a:schemeClr val="dk1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dk1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Embedded</a:t>
            </a:r>
            <a:r>
              <a:rPr b="0" i="0" lang="en-GB" sz="900" u="none" cap="none" strike="noStrike">
                <a:solidFill>
                  <a:schemeClr val="dk1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document</a:t>
            </a:r>
            <a:endParaRPr b="1" i="0" sz="900" u="none" cap="none" strike="noStrike">
              <a:solidFill>
                <a:srgbClr val="274E13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dk1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field</a:t>
            </a:r>
            <a:r>
              <a:rPr b="0" i="0" lang="en-GB" sz="900" u="none" cap="none" strike="noStrike">
                <a:solidFill>
                  <a:schemeClr val="dk1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value</a:t>
            </a:r>
            <a:endParaRPr b="0" i="0" sz="900" u="none" cap="none" strike="noStrike">
              <a:solidFill>
                <a:schemeClr val="dk1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dk1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field</a:t>
            </a:r>
            <a:r>
              <a:rPr b="0" i="0" lang="en-GB" sz="900" u="none" cap="none" strike="noStrike">
                <a:solidFill>
                  <a:schemeClr val="dk1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value</a:t>
            </a:r>
            <a:endParaRPr b="1" i="0" sz="900" u="none" cap="none" strike="noStrike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cxnSp>
        <p:nvCxnSpPr>
          <p:cNvPr id="172" name="Google Shape;172;p8"/>
          <p:cNvCxnSpPr/>
          <p:nvPr/>
        </p:nvCxnSpPr>
        <p:spPr>
          <a:xfrm rot="10800000">
            <a:off x="2754475" y="2634500"/>
            <a:ext cx="76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3" name="Google Shape;173;p8"/>
          <p:cNvCxnSpPr/>
          <p:nvPr/>
        </p:nvCxnSpPr>
        <p:spPr>
          <a:xfrm rot="10800000">
            <a:off x="2754475" y="2235500"/>
            <a:ext cx="76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4" name="Google Shape;174;p8"/>
          <p:cNvCxnSpPr/>
          <p:nvPr/>
        </p:nvCxnSpPr>
        <p:spPr>
          <a:xfrm rot="10800000">
            <a:off x="2754475" y="2364600"/>
            <a:ext cx="76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5" name="Google Shape;175;p8"/>
          <p:cNvCxnSpPr/>
          <p:nvPr/>
        </p:nvCxnSpPr>
        <p:spPr>
          <a:xfrm rot="10800000">
            <a:off x="2754475" y="2509075"/>
            <a:ext cx="76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6" name="Google Shape;176;p8"/>
          <p:cNvSpPr txBox="1"/>
          <p:nvPr>
            <p:ph idx="1" type="body"/>
          </p:nvPr>
        </p:nvSpPr>
        <p:spPr>
          <a:xfrm>
            <a:off x="311700" y="2979125"/>
            <a:ext cx="4260300" cy="18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750">
                <a:latin typeface="Oswald"/>
                <a:ea typeface="Oswald"/>
                <a:cs typeface="Oswald"/>
                <a:sym typeface="Oswald"/>
              </a:rPr>
              <a:t>Lenguaje de consulta: MQL</a:t>
            </a:r>
            <a:endParaRPr i="1" sz="1750">
              <a:solidFill>
                <a:srgbClr val="A0AEC0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800">
                <a:latin typeface="Consolas"/>
                <a:ea typeface="Consolas"/>
                <a:cs typeface="Consolas"/>
                <a:sym typeface="Consolas"/>
              </a:rPr>
              <a:t>//find the employees whose last name starts with letter ‘M’</a:t>
            </a:r>
            <a:endParaRPr sz="800">
              <a:highlight>
                <a:srgbClr val="F7FAF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latin typeface="Consolas"/>
                <a:ea typeface="Consolas"/>
                <a:cs typeface="Consolas"/>
                <a:sym typeface="Consolas"/>
              </a:rPr>
              <a:t>db.</a:t>
            </a:r>
            <a:r>
              <a:rPr b="1" lang="en-GB" sz="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employees</a:t>
            </a:r>
            <a:r>
              <a:rPr lang="en-GB" sz="8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-GB" sz="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find</a:t>
            </a:r>
            <a:r>
              <a:rPr b="1" lang="en-GB" sz="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1" sz="800">
              <a:solidFill>
                <a:srgbClr val="6AA84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      { name.last: /^M/},                </a:t>
            </a:r>
            <a:r>
              <a:rPr i="1" lang="en-GB" sz="800">
                <a:latin typeface="Consolas"/>
                <a:ea typeface="Consolas"/>
                <a:cs typeface="Consolas"/>
                <a:sym typeface="Consolas"/>
              </a:rPr>
              <a:t>//Query filter</a:t>
            </a:r>
            <a:endParaRPr b="1" sz="800">
              <a:solidFill>
                <a:srgbClr val="6AA84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      { ssn: 1, name: 1, age: 1 }        </a:t>
            </a:r>
            <a:r>
              <a:rPr i="1" lang="en-GB" sz="800">
                <a:latin typeface="Consolas"/>
                <a:ea typeface="Consolas"/>
                <a:cs typeface="Consolas"/>
                <a:sym typeface="Consolas"/>
              </a:rPr>
              <a:t>//Project fields</a:t>
            </a:r>
            <a:endParaRPr b="1" sz="800">
              <a:solidFill>
                <a:srgbClr val="6AA84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GB" sz="800"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-GB" sz="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sort</a:t>
            </a:r>
            <a:r>
              <a:rPr b="1" lang="en-GB" sz="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( { age: -1 } )</a:t>
            </a:r>
            <a:r>
              <a:rPr lang="en-GB" sz="800"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-GB" sz="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limit</a:t>
            </a:r>
            <a:r>
              <a:rPr b="1" lang="en-GB" sz="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( 10 )</a:t>
            </a:r>
            <a:endParaRPr i="1" sz="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DB-Engines Ranking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2" name="Google Shape;182;p9"/>
          <p:cNvSpPr txBox="1"/>
          <p:nvPr>
            <p:ph idx="1" type="body"/>
          </p:nvPr>
        </p:nvSpPr>
        <p:spPr>
          <a:xfrm>
            <a:off x="311700" y="854825"/>
            <a:ext cx="8520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Oswald"/>
              <a:buChar char="➢"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423</a:t>
            </a:r>
            <a:r>
              <a:rPr lang="en-GB">
                <a:latin typeface="Oswald"/>
                <a:ea typeface="Oswald"/>
                <a:cs typeface="Oswald"/>
                <a:sym typeface="Oswald"/>
              </a:rPr>
              <a:t> bases de datos en el </a:t>
            </a:r>
            <a:r>
              <a:rPr lang="en-GB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3"/>
              </a:rPr>
              <a:t>ranking</a:t>
            </a:r>
            <a:r>
              <a:rPr lang="en-GB">
                <a:latin typeface="Oswald"/>
                <a:ea typeface="Oswald"/>
                <a:cs typeface="Oswald"/>
                <a:sym typeface="Oswald"/>
              </a:rPr>
              <a:t> 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83" name="Google Shape;183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2000" y="1359425"/>
            <a:ext cx="6053536" cy="347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¿Cómo elegir la base de datos adecuada?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89" name="Google Shape;18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7600" y="923300"/>
            <a:ext cx="5748800" cy="344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0"/>
          <p:cNvSpPr txBox="1"/>
          <p:nvPr>
            <p:ph idx="1" type="body"/>
          </p:nvPr>
        </p:nvSpPr>
        <p:spPr>
          <a:xfrm>
            <a:off x="250850" y="4743725"/>
            <a:ext cx="85206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358"/>
              <a:buNone/>
            </a:pPr>
            <a:r>
              <a:rPr lang="en-GB" sz="785">
                <a:latin typeface="Roboto"/>
                <a:ea typeface="Roboto"/>
                <a:cs typeface="Roboto"/>
                <a:sym typeface="Roboto"/>
              </a:rPr>
              <a:t>https://towardsdatascience.com/how-to-choose-the-right-database-afcf95541741</a:t>
            </a:r>
            <a:endParaRPr sz="785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10f7a5796d_0_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ACID vs BASE 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6" name="Google Shape;196;g310f7a5796d_0_0"/>
          <p:cNvSpPr txBox="1"/>
          <p:nvPr>
            <p:ph idx="1" type="body"/>
          </p:nvPr>
        </p:nvSpPr>
        <p:spPr>
          <a:xfrm>
            <a:off x="311700" y="854825"/>
            <a:ext cx="8520600" cy="3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Diferencia entre una base de datos ACID y otra BASE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ACID y BASE son modelos de transacciones de bases de datos que determinan cómo una base de datos organiza y manipula los datos.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Una transacción debe completarse en su totalidad para que la base de datos mantenga su consistencia. 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Las bases de datos ACID dan prioridad a la consistencia sobre la disponibilidad.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Oswald"/>
              <a:buChar char="○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toda la transacción falla si se produce un error en cualquier paso de la transacción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L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as bases de datos BASE priorizan la disponibilidad sobre la consistencia. 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Oswald"/>
              <a:buChar char="○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En lugar de fallar la transacción, los usuarios pueden acceder temporalmente a datos inconsistentes.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Oswald"/>
              <a:buChar char="○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La consistencia de los datos se consigue, pero no inmediatamente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10f7a5796d_0_12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¿Por qué son importantes ACID y BASE?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2" name="Google Shape;202;g310f7a5796d_0_12"/>
          <p:cNvSpPr txBox="1"/>
          <p:nvPr>
            <p:ph idx="1" type="body"/>
          </p:nvPr>
        </p:nvSpPr>
        <p:spPr>
          <a:xfrm>
            <a:off x="311700" y="778625"/>
            <a:ext cx="8520600" cy="20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Las </a:t>
            </a:r>
            <a:r>
              <a:rPr b="1" lang="en-GB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bases de datos NoSQL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 son bases de datos distribuidas que replican los datos en varios nodos conectados por una red.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Los usuarios esperan que los datos sigan siendo consistentes en todos los nodos al final de la transacción.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El </a:t>
            </a: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teorema CAP</a:t>
            </a:r>
            <a:r>
              <a:rPr lang="en-GB">
                <a:latin typeface="Oswald"/>
                <a:ea typeface="Oswald"/>
                <a:cs typeface="Oswald"/>
                <a:sym typeface="Oswald"/>
              </a:rPr>
              <a:t> afirma que cualquier base de datos distribuida sólo puede ofrecer dos de las tres propiedades siguientes: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3" name="Google Shape;203;g310f7a5796d_0_12"/>
          <p:cNvSpPr txBox="1"/>
          <p:nvPr>
            <p:ph idx="1" type="body"/>
          </p:nvPr>
        </p:nvSpPr>
        <p:spPr>
          <a:xfrm>
            <a:off x="310925" y="2745850"/>
            <a:ext cx="5832600" cy="23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Consistencia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: cada operación de lectura recibe los datos actualizados más recientemente o un error. 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Disponibilidad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: cada operaci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ón de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lectura 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contiene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 datos, pero es posible que no sean los más recientes.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.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Tolerancia a la partición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: el sistema sigue funcionando a pesar de mensajes caídos o retrasados entre los nodos distribuidos.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04" name="Google Shape;204;g310f7a5796d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3675" y="2571750"/>
            <a:ext cx="2159574" cy="215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10f7a5796d_0_31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BASE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0" name="Google Shape;210;g310f7a5796d_0_31"/>
          <p:cNvSpPr txBox="1"/>
          <p:nvPr>
            <p:ph idx="1" type="body"/>
          </p:nvPr>
        </p:nvSpPr>
        <p:spPr>
          <a:xfrm>
            <a:off x="311700" y="778625"/>
            <a:ext cx="8520600" cy="41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BASE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 es el acronimo de </a:t>
            </a:r>
            <a:r>
              <a:rPr b="1" lang="en-GB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asically </a:t>
            </a:r>
            <a:r>
              <a:rPr b="1" lang="en-GB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vailable, </a:t>
            </a:r>
            <a:r>
              <a:rPr b="1" lang="en-GB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oft state, and </a:t>
            </a:r>
            <a:r>
              <a:rPr b="1" lang="en-GB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ventually consistent.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Basically Available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: es la accesibilidad concurrente de la base de datos por parte de los usuarios en todo momento. Un usuario no necesita esperar a que otros terminen la transacción para actualizar el registro.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Soft state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: permite que los datos sean inconsistente y delega el diseño de las inconsistencia a los desarrolladores de las aplicaciones.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Eventually consistent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: significa que el registro alcanzará la consistencia cuando se hayan completado todas las actualizaciones concurrentes. En ese momento, las aplicaciones que consulten el registro verán el mismo valor.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10f7a5796d_0_4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Comparación entre ACID y BASE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graphicFrame>
        <p:nvGraphicFramePr>
          <p:cNvPr id="216" name="Google Shape;216;g310f7a5796d_0_45"/>
          <p:cNvGraphicFramePr/>
          <p:nvPr/>
        </p:nvGraphicFramePr>
        <p:xfrm>
          <a:off x="672600" y="131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{A8F18F73-562D-4B8B-AAC4-75EC62E1A8E1}</a:tableStyleId>
              </a:tblPr>
              <a:tblGrid>
                <a:gridCol w="1536600"/>
                <a:gridCol w="2876475"/>
                <a:gridCol w="3224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6AA84F"/>
                          </a:solidFill>
                        </a:rPr>
                        <a:t>ACID</a:t>
                      </a:r>
                      <a:endParaRPr b="1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6AA84F"/>
                          </a:solidFill>
                        </a:rPr>
                        <a:t>BASE</a:t>
                      </a:r>
                      <a:endParaRPr b="1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6AA84F"/>
                          </a:solidFill>
                        </a:rPr>
                        <a:t>Escalabilidad</a:t>
                      </a:r>
                      <a:endParaRPr b="1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Vertical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Horizontal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6AA84F"/>
                          </a:solidFill>
                        </a:rPr>
                        <a:t>Flexibilidad</a:t>
                      </a:r>
                      <a:endParaRPr b="1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Menos flexible. Bloquea registros específicos de otras aplicaciones al procesarlos.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Más flexible. Permite que varias aplicaciones actualicen el mismo registro simultáneamente.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rgbClr val="6AA84F"/>
                          </a:solidFill>
                        </a:rPr>
                        <a:t>Performance</a:t>
                      </a:r>
                      <a:endParaRPr b="1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El rendimiento disminuye al procesar grandes volúmenes de datos.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Capaz de manejar grandes volúmenes de datos no estructurados con un alto rendimiento.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