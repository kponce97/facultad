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Helvetica Neue"/>
      <p:regular r:id="rId25"/>
      <p:bold r:id="rId26"/>
      <p:italic r:id="rId27"/>
      <p:boldItalic r:id="rId28"/>
    </p:embeddedFont>
    <p:embeddedFont>
      <p:font typeface="Oswa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jwfT+SG8gDrienlXdH10wkzn9/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80A145-302A-42A1-B3CF-6931055A3759}">
  <a:tblStyle styleId="{2480A145-302A-42A1-B3CF-6931055A375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swald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font" Target="fonts/Oswald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Oswald"/>
              <a:buNone/>
              <a:defRPr b="1" sz="5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Font typeface="Oswald"/>
              <a:buNone/>
              <a:defRPr sz="2800">
                <a:solidFill>
                  <a:srgbClr val="F1C23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swald"/>
              <a:buNone/>
              <a:defRPr b="1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311700" y="863550"/>
            <a:ext cx="8520600" cy="3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○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■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■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swald"/>
              <a:buChar char="■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311700" y="863550"/>
            <a:ext cx="3999900" cy="34164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4" name="Google Shape;24;p22"/>
          <p:cNvSpPr txBox="1"/>
          <p:nvPr>
            <p:ph idx="2" type="body"/>
          </p:nvPr>
        </p:nvSpPr>
        <p:spPr>
          <a:xfrm>
            <a:off x="4832400" y="847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swald"/>
              <a:buNone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27"/>
          <p:cNvSpPr txBox="1"/>
          <p:nvPr/>
        </p:nvSpPr>
        <p:spPr>
          <a:xfrm>
            <a:off x="311700" y="4764475"/>
            <a:ext cx="826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BD-2018</a:t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/>
          <p:nvPr>
            <p:ph type="title"/>
          </p:nvPr>
        </p:nvSpPr>
        <p:spPr>
          <a:xfrm>
            <a:off x="768350" y="88106"/>
            <a:ext cx="807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4" name="Google Shape;54;p30"/>
          <p:cNvSpPr txBox="1"/>
          <p:nvPr>
            <p:ph idx="1" type="body"/>
          </p:nvPr>
        </p:nvSpPr>
        <p:spPr>
          <a:xfrm>
            <a:off x="814387" y="820340"/>
            <a:ext cx="7661400" cy="36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" name="Google Shape;61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847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Font typeface="Oswald"/>
              <a:buChar char="●"/>
              <a:defRPr b="0" i="0" sz="1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○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D966"/>
              </a:buClr>
              <a:buSzPts val="1400"/>
              <a:buFont typeface="Oswald"/>
              <a:buChar char="■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●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■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●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swald"/>
              <a:buChar char="■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8"/>
          <p:cNvSpPr txBox="1"/>
          <p:nvPr/>
        </p:nvSpPr>
        <p:spPr>
          <a:xfrm>
            <a:off x="311700" y="4764475"/>
            <a:ext cx="826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BD-2019</a:t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ev.mysql.com/doc/refman/8.0/en/join.html" TargetMode="External"/><Relationship Id="rId4" Type="http://schemas.openxmlformats.org/officeDocument/2006/relationships/image" Target="../media/image18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4.jpg"/><Relationship Id="rId5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4.jpg"/><Relationship Id="rId5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.mysql.com/doc/refman/8.0/en/outer-join-optimization.html" TargetMode="External"/><Relationship Id="rId4" Type="http://schemas.openxmlformats.org/officeDocument/2006/relationships/hyperlink" Target="https://dev.mysql.com/doc/refman/8.0/en/outer-join-simplification.html" TargetMode="External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14.jpg"/><Relationship Id="rId5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14.jpg"/><Relationship Id="rId5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400"/>
              <a:t>SQL II</a:t>
            </a:r>
            <a:endParaRPr sz="4400"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Base de Datos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Join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JOINS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311700" y="863550"/>
            <a:ext cx="8520600" cy="3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Char char="-"/>
            </a:pPr>
            <a:r>
              <a:rPr lang="en"/>
              <a:t>Las operaciones de JOIN permiten combinar dos tablas y retornan otra tabla.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1C232"/>
              </a:buClr>
              <a:buSzPts val="1800"/>
              <a:buChar char="-"/>
            </a:pPr>
            <a:r>
              <a:rPr lang="en"/>
              <a:t>Son “productos cartesianos” que requieren que las filas en ambas tablas satisfagan ciertas condiciones.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1C232"/>
              </a:buClr>
              <a:buSzPts val="1800"/>
              <a:buChar char="-"/>
            </a:pPr>
            <a:r>
              <a:rPr lang="en"/>
              <a:t>Existen 4 tipos basicos de JOIN: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INNER JOIN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LEFT OUTER JOIN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RIGHT OUTER JOIN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FULL JOIN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Existen otros tipos de joins: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MySQL Joins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5525" y="2230050"/>
            <a:ext cx="45720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INNER JOIN</a:t>
            </a:r>
            <a:endParaRPr/>
          </a:p>
        </p:txBody>
      </p:sp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311700" y="2571750"/>
            <a:ext cx="3999900" cy="1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join_condition</a:t>
            </a:r>
            <a:r>
              <a:rPr lang="en"/>
              <a:t> es un predicado sobre las columnas de A y B</a:t>
            </a:r>
            <a:endParaRPr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A.id = B.id</a:t>
            </a:r>
            <a:endParaRPr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A.x  &gt;= B.y	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ON </a:t>
            </a:r>
            <a:r>
              <a:rPr b="1" lang="en">
                <a:solidFill>
                  <a:schemeClr val="dk1"/>
                </a:solidFill>
              </a:rPr>
              <a:t>join_condition</a:t>
            </a:r>
            <a:r>
              <a:rPr lang="en">
                <a:solidFill>
                  <a:schemeClr val="dk1"/>
                </a:solidFill>
              </a:rPr>
              <a:t> se puede reemplazar con </a:t>
            </a:r>
            <a:r>
              <a:rPr b="1" lang="en">
                <a:solidFill>
                  <a:schemeClr val="dk1"/>
                </a:solidFill>
              </a:rPr>
              <a:t>USING(columns)</a:t>
            </a:r>
            <a:endParaRPr b="1"/>
          </a:p>
        </p:txBody>
      </p:sp>
      <p:sp>
        <p:nvSpPr>
          <p:cNvPr id="125" name="Google Shape;125;p4"/>
          <p:cNvSpPr txBox="1"/>
          <p:nvPr>
            <p:ph idx="2" type="body"/>
          </p:nvPr>
        </p:nvSpPr>
        <p:spPr>
          <a:xfrm>
            <a:off x="4832400" y="847675"/>
            <a:ext cx="3999900" cy="1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Interpretacion</a:t>
            </a:r>
            <a:r>
              <a:rPr lang="en"/>
              <a:t>: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Selecciona todas las filas de las tablas A y B donde la condición del join se satisface.</a:t>
            </a:r>
            <a:endParaRPr/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7200" y="2555871"/>
            <a:ext cx="3174575" cy="2469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" name="Google Shape;127;p4"/>
          <p:cNvGraphicFramePr/>
          <p:nvPr/>
        </p:nvGraphicFramePr>
        <p:xfrm>
          <a:off x="311700" y="89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{2480A145-302A-42A1-B3CF-6931055A3759}</a:tableStyleId>
              </a:tblPr>
              <a:tblGrid>
                <a:gridCol w="4062825"/>
              </a:tblGrid>
              <a:tr h="116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b="1" baseline="-25000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r>
                        <a:rPr b="1" baseline="-25000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b="1" baseline="-25000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b="1" baseline="-25000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INNER JOIN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 </a:t>
                      </a: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ON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join_condition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p4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CONSULTAS EN SQL - INNER JOIN</a:t>
            </a:r>
            <a:endParaRPr/>
          </a:p>
        </p:txBody>
      </p:sp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537" y="1140909"/>
            <a:ext cx="1949052" cy="1039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25" y="1140900"/>
            <a:ext cx="3246834" cy="89892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 txBox="1"/>
          <p:nvPr/>
        </p:nvSpPr>
        <p:spPr>
          <a:xfrm>
            <a:off x="1759149" y="902100"/>
            <a:ext cx="1366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course</a:t>
            </a:r>
            <a:endParaRPr b="1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6068287" y="902100"/>
            <a:ext cx="1366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prereq</a:t>
            </a:r>
            <a:endParaRPr b="1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2213000" y="2465675"/>
            <a:ext cx="53418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SELECT course.*, prereq.*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FROM course 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INNER JOIN prereq ON course.course_id = prereq.course_id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9787" y="3530428"/>
            <a:ext cx="4848225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LEFT JOIN</a:t>
            </a:r>
            <a:endParaRPr/>
          </a:p>
        </p:txBody>
      </p:sp>
      <p:sp>
        <p:nvSpPr>
          <p:cNvPr id="146" name="Google Shape;146;p6"/>
          <p:cNvSpPr txBox="1"/>
          <p:nvPr>
            <p:ph idx="1" type="body"/>
          </p:nvPr>
        </p:nvSpPr>
        <p:spPr>
          <a:xfrm>
            <a:off x="311700" y="2571750"/>
            <a:ext cx="3999900" cy="17082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-"/>
            </a:pPr>
            <a:r>
              <a:rPr lang="en"/>
              <a:t>El término </a:t>
            </a:r>
            <a:r>
              <a:rPr b="1" lang="en"/>
              <a:t>OUTER</a:t>
            </a:r>
            <a:r>
              <a:rPr lang="en"/>
              <a:t> es opcional y no tiene efecto.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 txBox="1"/>
          <p:nvPr>
            <p:ph idx="2" type="body"/>
          </p:nvPr>
        </p:nvSpPr>
        <p:spPr>
          <a:xfrm>
            <a:off x="4908600" y="847675"/>
            <a:ext cx="3999900" cy="1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Interpretacion: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Selecciona todas las filas de las tablas A y aquellas de la tabla B donde la condición del join se satisface.</a:t>
            </a:r>
            <a:endParaRPr/>
          </a:p>
        </p:txBody>
      </p:sp>
      <p:graphicFrame>
        <p:nvGraphicFramePr>
          <p:cNvPr id="148" name="Google Shape;148;p6"/>
          <p:cNvGraphicFramePr/>
          <p:nvPr/>
        </p:nvGraphicFramePr>
        <p:xfrm>
          <a:off x="311700" y="89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{2480A145-302A-42A1-B3CF-6931055A3759}</a:tableStyleId>
              </a:tblPr>
              <a:tblGrid>
                <a:gridCol w="4636875"/>
              </a:tblGrid>
              <a:tr h="116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b="1" baseline="-25000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r>
                        <a:rPr b="1" baseline="-25000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b="1" baseline="-25000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b="1" baseline="-25000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LEFT JOIN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 </a:t>
                      </a: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ON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join_condition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pic>
        <p:nvPicPr>
          <p:cNvPr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2062" y="2555875"/>
            <a:ext cx="3172968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LEFT JOIN</a:t>
            </a:r>
            <a:endParaRPr/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537" y="1140909"/>
            <a:ext cx="1949052" cy="1039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25" y="1140900"/>
            <a:ext cx="3246834" cy="89892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/>
          <p:nvPr/>
        </p:nvSpPr>
        <p:spPr>
          <a:xfrm>
            <a:off x="1759149" y="902100"/>
            <a:ext cx="1366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course</a:t>
            </a:r>
            <a:endParaRPr b="1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6068287" y="902100"/>
            <a:ext cx="1366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prereq</a:t>
            </a:r>
            <a:endParaRPr b="1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2213000" y="2237075"/>
            <a:ext cx="53418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SELECT course.*, prereq.prereq_id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FROM course 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LEFT JOIN prereq ON course.course_id = prereq.course_id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13012" y="3416246"/>
            <a:ext cx="4467225" cy="101084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RIGHT JOIN</a:t>
            </a:r>
            <a:endParaRPr/>
          </a:p>
        </p:txBody>
      </p:sp>
      <p:sp>
        <p:nvSpPr>
          <p:cNvPr id="168" name="Google Shape;168;p8"/>
          <p:cNvSpPr txBox="1"/>
          <p:nvPr>
            <p:ph idx="1" type="body"/>
          </p:nvPr>
        </p:nvSpPr>
        <p:spPr>
          <a:xfrm>
            <a:off x="311700" y="2571750"/>
            <a:ext cx="3999900" cy="1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MySQL suele optimizar estos joins transformándolos en LEFT JOINS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Outer Join Optimization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Outer Join Simplification</a:t>
            </a:r>
            <a:endParaRPr/>
          </a:p>
        </p:txBody>
      </p:sp>
      <p:sp>
        <p:nvSpPr>
          <p:cNvPr id="169" name="Google Shape;169;p8"/>
          <p:cNvSpPr txBox="1"/>
          <p:nvPr>
            <p:ph idx="2" type="body"/>
          </p:nvPr>
        </p:nvSpPr>
        <p:spPr>
          <a:xfrm>
            <a:off x="4908600" y="847675"/>
            <a:ext cx="3999900" cy="1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Interpretacion: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Selecciona todas las filas de las tablas B y aquellas de la tabla A donde la condición del join se satisface.</a:t>
            </a:r>
            <a:endParaRPr/>
          </a:p>
        </p:txBody>
      </p:sp>
      <p:graphicFrame>
        <p:nvGraphicFramePr>
          <p:cNvPr id="170" name="Google Shape;170;p8"/>
          <p:cNvGraphicFramePr/>
          <p:nvPr/>
        </p:nvGraphicFramePr>
        <p:xfrm>
          <a:off x="311700" y="89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{2480A145-302A-42A1-B3CF-6931055A3759}</a:tableStyleId>
              </a:tblPr>
              <a:tblGrid>
                <a:gridCol w="4636875"/>
              </a:tblGrid>
              <a:tr h="116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b="1" baseline="-25000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r>
                        <a:rPr b="1" baseline="-25000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b="1" baseline="-25000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b="1" baseline="-25000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RIGHT JOIN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 </a:t>
                      </a: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ON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join_condition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pic>
        <p:nvPicPr>
          <p:cNvPr id="171" name="Google Shape;17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22062" y="2571750"/>
            <a:ext cx="3172968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RIGHT JOIN</a:t>
            </a:r>
            <a:endParaRPr/>
          </a:p>
        </p:txBody>
      </p:sp>
      <p:pic>
        <p:nvPicPr>
          <p:cNvPr id="178" name="Google Shape;1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537" y="1140909"/>
            <a:ext cx="1949052" cy="1039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25" y="1140900"/>
            <a:ext cx="3246834" cy="89892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 txBox="1"/>
          <p:nvPr/>
        </p:nvSpPr>
        <p:spPr>
          <a:xfrm>
            <a:off x="1759149" y="902100"/>
            <a:ext cx="1366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course</a:t>
            </a:r>
            <a:endParaRPr b="1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6068287" y="902100"/>
            <a:ext cx="1366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prereq</a:t>
            </a:r>
            <a:endParaRPr b="1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2213000" y="2237075"/>
            <a:ext cx="57693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SELECT p.course_id, c.title, c.dept_name, 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c.credits,  p.prereq_id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FROM course AS c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RIGHT JOIN prereq AS p ON c.course_id = p.course_id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5275" y="3473675"/>
            <a:ext cx="4693443" cy="1062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FULL JOIN</a:t>
            </a:r>
            <a:endParaRPr/>
          </a:p>
        </p:txBody>
      </p:sp>
      <p:sp>
        <p:nvSpPr>
          <p:cNvPr id="190" name="Google Shape;190;p10"/>
          <p:cNvSpPr txBox="1"/>
          <p:nvPr>
            <p:ph idx="1" type="body"/>
          </p:nvPr>
        </p:nvSpPr>
        <p:spPr>
          <a:xfrm>
            <a:off x="311700" y="2571750"/>
            <a:ext cx="3999900" cy="17082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 es </a:t>
            </a:r>
            <a:r>
              <a:rPr b="1" lang="en"/>
              <a:t>EL</a:t>
            </a:r>
            <a:r>
              <a:rPr lang="en"/>
              <a:t> producto cartesiano.</a:t>
            </a:r>
            <a:endParaRPr/>
          </a:p>
        </p:txBody>
      </p:sp>
      <p:sp>
        <p:nvSpPr>
          <p:cNvPr id="191" name="Google Shape;191;p10"/>
          <p:cNvSpPr txBox="1"/>
          <p:nvPr>
            <p:ph idx="2" type="body"/>
          </p:nvPr>
        </p:nvSpPr>
        <p:spPr>
          <a:xfrm>
            <a:off x="4908600" y="847675"/>
            <a:ext cx="3999900" cy="1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Interpretación: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Selecciona todas las filas de las tablas A y B independientemente de si la condición del join se satisface.</a:t>
            </a:r>
            <a:endParaRPr/>
          </a:p>
        </p:txBody>
      </p:sp>
      <p:graphicFrame>
        <p:nvGraphicFramePr>
          <p:cNvPr id="192" name="Google Shape;192;p10"/>
          <p:cNvGraphicFramePr/>
          <p:nvPr/>
        </p:nvGraphicFramePr>
        <p:xfrm>
          <a:off x="311700" y="89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{2480A145-302A-42A1-B3CF-6931055A3759}</a:tableStyleId>
              </a:tblPr>
              <a:tblGrid>
                <a:gridCol w="4636875"/>
              </a:tblGrid>
              <a:tr h="116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b="1" baseline="-25000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r>
                        <a:rPr b="1" baseline="-25000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b="1" baseline="-25000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b="1" baseline="-25000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FULL JOIN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 </a:t>
                      </a:r>
                      <a:r>
                        <a:rPr b="1"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ON</a:t>
                      </a: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join_condition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pic>
        <p:nvPicPr>
          <p:cNvPr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2062" y="2571750"/>
            <a:ext cx="3172968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0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FULL JOIN</a:t>
            </a:r>
            <a:endParaRPr/>
          </a:p>
        </p:txBody>
      </p:sp>
      <p:pic>
        <p:nvPicPr>
          <p:cNvPr id="200" name="Google Shape;2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537" y="1140909"/>
            <a:ext cx="1949052" cy="1039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25" y="1140900"/>
            <a:ext cx="3246834" cy="89892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1"/>
          <p:cNvSpPr txBox="1"/>
          <p:nvPr/>
        </p:nvSpPr>
        <p:spPr>
          <a:xfrm>
            <a:off x="1759149" y="902100"/>
            <a:ext cx="1366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course</a:t>
            </a:r>
            <a:endParaRPr b="1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6068287" y="902100"/>
            <a:ext cx="1366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prereq</a:t>
            </a:r>
            <a:endParaRPr b="1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2213000" y="2237075"/>
            <a:ext cx="57693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SELECT *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FROM course </a:t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FULL JOIN prereq </a:t>
            </a:r>
            <a:r>
              <a:rPr b="1" i="0" lang="en" sz="1600" u="none" cap="none" strike="noStrike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USING(course_id)</a:t>
            </a:r>
            <a:endParaRPr b="1" i="0" sz="1600" u="none" cap="none" strike="noStrike">
              <a:solidFill>
                <a:srgbClr val="CC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05" name="Google Shape;20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2275" y="3636375"/>
            <a:ext cx="5317438" cy="10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JOINS CHEATSHEET</a:t>
            </a:r>
            <a:endParaRPr/>
          </a:p>
        </p:txBody>
      </p:sp>
      <p:pic>
        <p:nvPicPr>
          <p:cNvPr id="212" name="Google Shape;2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5425" y="962350"/>
            <a:ext cx="2800825" cy="38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2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Operaciones de Conjuntos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/>
          <p:nvPr>
            <p:ph idx="2" type="body"/>
          </p:nvPr>
        </p:nvSpPr>
        <p:spPr>
          <a:xfrm>
            <a:off x="4832400" y="847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SQL provee las siguientes operaciones de conjunto: </a:t>
            </a:r>
            <a:r>
              <a:rPr b="1" lang="en"/>
              <a:t>union, intersect y except.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Todas: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Operan sobre tablas.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Eliminan automaticamente los duplicados.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Para retener duplicados hay que usar </a:t>
            </a:r>
            <a:r>
              <a:rPr b="1" lang="en"/>
              <a:t>ALL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24" name="Google Shape;224;p1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OPERACIONES DE CONJUNTO</a:t>
            </a:r>
            <a:endParaRPr/>
          </a:p>
        </p:txBody>
      </p:sp>
      <p:graphicFrame>
        <p:nvGraphicFramePr>
          <p:cNvPr id="225" name="Google Shape;225;p14"/>
          <p:cNvGraphicFramePr/>
          <p:nvPr/>
        </p:nvGraphicFramePr>
        <p:xfrm>
          <a:off x="456925" y="99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{2480A145-302A-42A1-B3CF-6931055A3759}</a:tableStyleId>
              </a:tblPr>
              <a:tblGrid>
                <a:gridCol w="4200450"/>
              </a:tblGrid>
              <a:tr h="290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UNION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[ALL] 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INTERSECT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[ALL] 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b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EXCEPT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[ALL] </a:t>
                      </a:r>
                      <a:endParaRPr sz="18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CC28C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</a:t>
                      </a: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...</a:t>
                      </a:r>
                      <a:endParaRPr b="1" sz="1800" u="none" cap="none" strike="noStrike">
                        <a:solidFill>
                          <a:srgbClr val="FCC28C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14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 txBox="1"/>
          <p:nvPr>
            <p:ph idx="2" type="body"/>
          </p:nvPr>
        </p:nvSpPr>
        <p:spPr>
          <a:xfrm>
            <a:off x="212941" y="2542320"/>
            <a:ext cx="3999900" cy="13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(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SELECT course_id 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FROM section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WHERE semester = ’Spring’ AND year= 2010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)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2" name="Google Shape;232;p1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UNION</a:t>
            </a:r>
            <a:endParaRPr/>
          </a:p>
        </p:txBody>
      </p:sp>
      <p:pic>
        <p:nvPicPr>
          <p:cNvPr id="233" name="Google Shape;2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2850" y="712925"/>
            <a:ext cx="1369550" cy="146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2850" y="2584675"/>
            <a:ext cx="1369550" cy="2515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3688" y="1103438"/>
            <a:ext cx="1369550" cy="293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5"/>
          <p:cNvSpPr txBox="1"/>
          <p:nvPr>
            <p:ph idx="2" type="body"/>
          </p:nvPr>
        </p:nvSpPr>
        <p:spPr>
          <a:xfrm>
            <a:off x="236075" y="847675"/>
            <a:ext cx="3999900" cy="13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(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SELECT course_id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FROM section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WHERE semester = ’Fall’ AND year= 2009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)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7" name="Google Shape;237;p15"/>
          <p:cNvSpPr txBox="1"/>
          <p:nvPr>
            <p:ph idx="2" type="body"/>
          </p:nvPr>
        </p:nvSpPr>
        <p:spPr>
          <a:xfrm>
            <a:off x="236075" y="2206975"/>
            <a:ext cx="39999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UNION 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 txBox="1"/>
          <p:nvPr>
            <p:ph idx="2" type="body"/>
          </p:nvPr>
        </p:nvSpPr>
        <p:spPr>
          <a:xfrm>
            <a:off x="212941" y="2542320"/>
            <a:ext cx="3999900" cy="13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(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SELECT course_id 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FROM section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WHERE semester = ’Spring’ AND year= 2010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)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44" name="Google Shape;244;p1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INTERSECT</a:t>
            </a:r>
            <a:endParaRPr/>
          </a:p>
        </p:txBody>
      </p:sp>
      <p:pic>
        <p:nvPicPr>
          <p:cNvPr id="245" name="Google Shape;2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2850" y="712925"/>
            <a:ext cx="1369550" cy="146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2850" y="2584675"/>
            <a:ext cx="1369550" cy="251520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6"/>
          <p:cNvSpPr txBox="1"/>
          <p:nvPr>
            <p:ph idx="2" type="body"/>
          </p:nvPr>
        </p:nvSpPr>
        <p:spPr>
          <a:xfrm>
            <a:off x="236075" y="847675"/>
            <a:ext cx="3999900" cy="13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(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SELECT course_id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FROM section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WHERE semester = ’Fall’ AND year= 2009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)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48" name="Google Shape;248;p16"/>
          <p:cNvSpPr txBox="1"/>
          <p:nvPr>
            <p:ph idx="2" type="body"/>
          </p:nvPr>
        </p:nvSpPr>
        <p:spPr>
          <a:xfrm>
            <a:off x="236075" y="2206975"/>
            <a:ext cx="39999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INTERSECT 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49" name="Google Shape;2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3875" y="1974425"/>
            <a:ext cx="1369550" cy="8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6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"/>
          <p:cNvSpPr txBox="1"/>
          <p:nvPr>
            <p:ph idx="2" type="body"/>
          </p:nvPr>
        </p:nvSpPr>
        <p:spPr>
          <a:xfrm>
            <a:off x="212941" y="2542320"/>
            <a:ext cx="3999900" cy="13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(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SELECT course_id 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FROM section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WHERE semester = ’Spring’ AND year= 2010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)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56" name="Google Shape;256;p1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CONSULTAS EN SQL - EXCEPT</a:t>
            </a:r>
            <a:endParaRPr/>
          </a:p>
        </p:txBody>
      </p:sp>
      <p:pic>
        <p:nvPicPr>
          <p:cNvPr id="257" name="Google Shape;2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2850" y="712925"/>
            <a:ext cx="1369550" cy="146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2850" y="2584675"/>
            <a:ext cx="1369550" cy="251520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7"/>
          <p:cNvSpPr txBox="1"/>
          <p:nvPr>
            <p:ph idx="2" type="body"/>
          </p:nvPr>
        </p:nvSpPr>
        <p:spPr>
          <a:xfrm>
            <a:off x="236075" y="847675"/>
            <a:ext cx="3999900" cy="13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(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SELECT course_id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FROM section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 WHERE semester = ’Fall’ AND year= 2009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)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60" name="Google Shape;260;p17"/>
          <p:cNvSpPr txBox="1"/>
          <p:nvPr>
            <p:ph idx="2" type="body"/>
          </p:nvPr>
        </p:nvSpPr>
        <p:spPr>
          <a:xfrm>
            <a:off x="236075" y="2206975"/>
            <a:ext cx="39999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 EXCEPT </a:t>
            </a:r>
            <a:endParaRPr b="1" sz="16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61" name="Google Shape;2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3375" y="1816400"/>
            <a:ext cx="1369550" cy="11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7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