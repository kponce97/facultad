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Roboto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h1xGUijhKYfifmJPuSq7fn4aXx/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.fntdata"/><Relationship Id="rId25" Type="http://schemas.openxmlformats.org/officeDocument/2006/relationships/font" Target="fonts/RobotoMono-regular.fntdata"/><Relationship Id="rId28" Type="http://schemas.openxmlformats.org/officeDocument/2006/relationships/font" Target="fonts/RobotoMono-boldItalic.fntdata"/><Relationship Id="rId27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>
    <mc:Choice Requires="p14">
      <p:transition spd="slow" p14:dur="1000">
        <p14:prism dir="l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0" y="530475"/>
            <a:ext cx="8520600" cy="25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s"/>
              <a:t>Seguridad en las Bases de Datos</a:t>
            </a:r>
            <a:endParaRPr b="1"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360195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Bases de Datos 2025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6" name="Google Shape;5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">
                <a:solidFill>
                  <a:srgbClr val="FF0000"/>
                </a:solidFill>
              </a:rPr>
              <a:t>Motivación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2" name="Google Shape;62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Hasta el momento, solo hemos </a:t>
            </a:r>
            <a:r>
              <a:rPr i="1" lang="es">
                <a:solidFill>
                  <a:srgbClr val="000000"/>
                </a:solidFill>
              </a:rPr>
              <a:t>jugado</a:t>
            </a:r>
            <a:r>
              <a:rPr lang="es">
                <a:solidFill>
                  <a:srgbClr val="000000"/>
                </a:solidFill>
              </a:rPr>
              <a:t> con bases de datos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En una situación real, se maneja información sensible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s">
                <a:solidFill>
                  <a:srgbClr val="000000"/>
                </a:solidFill>
              </a:rPr>
              <a:t>Ejemplos: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Contraseñas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Números de tarjetas de crédito o débito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Pedidos realizados por un cliente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Historia clínica de una persona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s">
                <a:solidFill>
                  <a:srgbClr val="000000"/>
                </a:solidFill>
              </a:rPr>
              <a:t>Hay que proteger esos datos del acceso y/o de la modificación malintencionados.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63" name="Google Shape;6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">
                <a:solidFill>
                  <a:srgbClr val="FF0000"/>
                </a:solidFill>
              </a:rPr>
              <a:t>Seguridad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9" name="Google Shape;6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70" name="Google Shape;70;p3"/>
          <p:cNvSpPr txBox="1"/>
          <p:nvPr/>
        </p:nvSpPr>
        <p:spPr>
          <a:xfrm>
            <a:off x="383850" y="1097925"/>
            <a:ext cx="8376300" cy="16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Protección contra: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Revelación no autorizada (Confidencialidad)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Alteración no autorizada (Integridad)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Destrucción intencional o involuntaria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 txBox="1"/>
          <p:nvPr/>
        </p:nvSpPr>
        <p:spPr>
          <a:xfrm>
            <a:off x="456000" y="3079125"/>
            <a:ext cx="8376300" cy="15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Protección dirigida a dos tipos de usuarios: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que no tienen derecho de acceso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que tienen derecho limitado a ciertas acciones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">
                <a:solidFill>
                  <a:srgbClr val="FF0000"/>
                </a:solidFill>
              </a:rPr>
              <a:t>Sistema de Seguridad del DBMS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77" name="Google Shape;7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78" name="Google Shape;78;p4"/>
          <p:cNvSpPr txBox="1"/>
          <p:nvPr/>
        </p:nvSpPr>
        <p:spPr>
          <a:xfrm>
            <a:off x="383850" y="1097925"/>
            <a:ext cx="8376300" cy="38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Objetivos: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800"/>
              <a:buFont typeface="Arial"/>
              <a:buChar char="●"/>
            </a:pPr>
            <a:r>
              <a:rPr b="1" i="0" lang="es" sz="18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Integridad</a:t>
            </a:r>
            <a:endParaRPr b="1" i="0" sz="1800" u="none" cap="none" strike="noStrike"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Sólo los usuarios autorizados deberían tener acceso para modificar datos.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800"/>
              <a:buFont typeface="Arial"/>
              <a:buChar char="●"/>
            </a:pPr>
            <a:r>
              <a:rPr b="1" i="0" lang="es" sz="18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Disponibilidad</a:t>
            </a:r>
            <a:endParaRPr b="1" i="0" sz="1800" u="none" cap="none" strike="noStrike"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datos deben estar disponibles para usuarios y programas de actualización autorizados.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800"/>
              <a:buFont typeface="Arial"/>
              <a:buChar char="●"/>
            </a:pPr>
            <a:r>
              <a:rPr b="1" i="0" lang="es" sz="18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Confidencialidad</a:t>
            </a:r>
            <a:endParaRPr b="1" i="0" sz="1800" u="none" cap="none" strike="noStrike"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Protección de los datos de su revelación no autorizada.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">
                <a:solidFill>
                  <a:srgbClr val="FF0000"/>
                </a:solidFill>
              </a:rPr>
              <a:t>Elementos que pueden ser protegidos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84" name="Google Shape;8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85" name="Google Shape;85;p5"/>
          <p:cNvSpPr txBox="1"/>
          <p:nvPr/>
        </p:nvSpPr>
        <p:spPr>
          <a:xfrm>
            <a:off x="383850" y="1097925"/>
            <a:ext cx="8376300" cy="27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Granularidad: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 atributo de una tupla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 conjunto de columnas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 tupla individual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 conjunto de tuplas de una relación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 relación en particular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 conjunto de relaciones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base de datos completa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">
                <a:solidFill>
                  <a:srgbClr val="FF0000"/>
                </a:solidFill>
              </a:rPr>
              <a:t>Métodos para el Control de Accesos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91" name="Google Shape;9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92" name="Google Shape;92;p6"/>
          <p:cNvSpPr txBox="1"/>
          <p:nvPr/>
        </p:nvSpPr>
        <p:spPr>
          <a:xfrm>
            <a:off x="383850" y="1555125"/>
            <a:ext cx="8376300" cy="16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 de Acceso Discrecional: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Garantiza privilegios a usuarios, incluyendo la capacidad para acceder archivos de datos específicos, registros o campos para operar de una manera determinada (select, insert, delete, o update).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">
                <a:solidFill>
                  <a:srgbClr val="FF0000"/>
                </a:solidFill>
              </a:rPr>
              <a:t>Seguridad a cargo del DBMS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98" name="Google Shape;9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99" name="Google Shape;99;p7"/>
          <p:cNvSpPr txBox="1"/>
          <p:nvPr/>
        </p:nvSpPr>
        <p:spPr>
          <a:xfrm>
            <a:off x="383850" y="1326525"/>
            <a:ext cx="8376300" cy="10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Encriptado de Datos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datos son ilegibles a menos que se tenga conocimiento del código.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7"/>
          <p:cNvSpPr txBox="1"/>
          <p:nvPr/>
        </p:nvSpPr>
        <p:spPr>
          <a:xfrm>
            <a:off x="383850" y="2774325"/>
            <a:ext cx="83763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Seguimiento del ‘rastro’ (Audit Trail)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 alguien entra a la base de datos, entonces la idea es poder saber a qué datos accedió y que hizo con ellos.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"/>
          <p:cNvSpPr txBox="1"/>
          <p:nvPr>
            <p:ph type="title"/>
          </p:nvPr>
        </p:nvSpPr>
        <p:spPr>
          <a:xfrm>
            <a:off x="311700" y="445025"/>
            <a:ext cx="8520600" cy="10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">
                <a:solidFill>
                  <a:srgbClr val="FF0000"/>
                </a:solidFill>
              </a:rPr>
              <a:t>Ataque por Inyección en SQL 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">
                <a:solidFill>
                  <a:srgbClr val="FF0000"/>
                </a:solidFill>
              </a:rPr>
              <a:t>(SQL Injection Attack)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06" name="Google Shape;10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07" name="Google Shape;107;p8"/>
          <p:cNvSpPr txBox="1"/>
          <p:nvPr/>
        </p:nvSpPr>
        <p:spPr>
          <a:xfrm>
            <a:off x="383850" y="1812975"/>
            <a:ext cx="8376300" cy="21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Ocurre cuando algunos datos del usuario están destinados a modificar una sentencia SQL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input de un usuario que puede modificar una sentencia SQL debe ser cuidadosamente editado para asegurar que sólo se reciben inputs válidos y que no se ha ingresado código adicional.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"/>
          <p:cNvSpPr txBox="1"/>
          <p:nvPr>
            <p:ph type="title"/>
          </p:nvPr>
        </p:nvSpPr>
        <p:spPr>
          <a:xfrm>
            <a:off x="311700" y="445025"/>
            <a:ext cx="8520600" cy="10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">
                <a:solidFill>
                  <a:srgbClr val="FF0000"/>
                </a:solidFill>
              </a:rPr>
              <a:t>Ataque por Inyección en SQL 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">
                <a:solidFill>
                  <a:srgbClr val="FF0000"/>
                </a:solidFill>
              </a:rPr>
              <a:t>(SQL Injection Attack)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13" name="Google Shape;11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14" name="Google Shape;114;p9"/>
          <p:cNvSpPr txBox="1"/>
          <p:nvPr/>
        </p:nvSpPr>
        <p:spPr>
          <a:xfrm>
            <a:off x="383850" y="1812975"/>
            <a:ext cx="83763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Ejemplo: en un campo de texto de un formulario en la WEB se requiere a los usuarios que ingresen su nombre.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9"/>
          <p:cNvSpPr txBox="1"/>
          <p:nvPr/>
        </p:nvSpPr>
        <p:spPr>
          <a:xfrm>
            <a:off x="383850" y="2651175"/>
            <a:ext cx="83763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usuario ingresa: </a:t>
            </a:r>
            <a:r>
              <a:rPr b="0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‘Juan Durán’ OR TRUE</a:t>
            </a:r>
            <a:endParaRPr b="0" i="0" sz="18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6" name="Google Shape;116;p9"/>
          <p:cNvSpPr txBox="1"/>
          <p:nvPr/>
        </p:nvSpPr>
        <p:spPr>
          <a:xfrm>
            <a:off x="1330500" y="3155100"/>
            <a:ext cx="64830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select * from </a:t>
            </a:r>
            <a:r>
              <a:rPr b="0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instructor</a:t>
            </a:r>
            <a:endParaRPr b="0" i="0" sz="18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where </a:t>
            </a:r>
            <a:r>
              <a:rPr b="0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name = ‘Juan Durán’ OR TRUE;</a:t>
            </a:r>
            <a:endParaRPr b="0" i="0" sz="18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7" name="Google Shape;117;p9"/>
          <p:cNvSpPr txBox="1"/>
          <p:nvPr/>
        </p:nvSpPr>
        <p:spPr>
          <a:xfrm>
            <a:off x="383850" y="4160700"/>
            <a:ext cx="83763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●"/>
            </a:pPr>
            <a:r>
              <a:rPr b="1" i="0" lang="e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Resultado: 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puede llegar a obtener toda la tabla instructor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"/>
          <p:cNvSpPr txBox="1"/>
          <p:nvPr>
            <p:ph type="title"/>
          </p:nvPr>
        </p:nvSpPr>
        <p:spPr>
          <a:xfrm>
            <a:off x="311700" y="445025"/>
            <a:ext cx="8520600" cy="10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">
                <a:solidFill>
                  <a:srgbClr val="FF0000"/>
                </a:solidFill>
              </a:rPr>
              <a:t>Ataque por Inyección en SQL 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">
                <a:solidFill>
                  <a:srgbClr val="FF0000"/>
                </a:solidFill>
              </a:rPr>
              <a:t>(SQL Injection Attack)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23" name="Google Shape;12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24" name="Google Shape;124;p10"/>
          <p:cNvSpPr txBox="1"/>
          <p:nvPr/>
        </p:nvSpPr>
        <p:spPr>
          <a:xfrm>
            <a:off x="1609075" y="1897813"/>
            <a:ext cx="56238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select * from </a:t>
            </a:r>
            <a:r>
              <a:rPr b="0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instructor</a:t>
            </a:r>
            <a:endParaRPr b="0" i="0" sz="18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where </a:t>
            </a:r>
            <a:r>
              <a:rPr b="0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name = ‘</a:t>
            </a:r>
            <a:r>
              <a:rPr b="1" i="0" lang="es" sz="1800" u="none" cap="none" strike="noStrike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b="0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’;</a:t>
            </a:r>
            <a:endParaRPr b="0" i="0" sz="18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5" name="Google Shape;125;p10"/>
          <p:cNvSpPr txBox="1"/>
          <p:nvPr/>
        </p:nvSpPr>
        <p:spPr>
          <a:xfrm>
            <a:off x="383850" y="2915550"/>
            <a:ext cx="83763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usuario ingresa en lugar de </a:t>
            </a:r>
            <a:r>
              <a:rPr b="1" i="0" lang="es" sz="1800" u="none" cap="none" strike="noStrike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b="0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a’; drop table instructor;-- </a:t>
            </a: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0"/>
          <p:cNvSpPr txBox="1"/>
          <p:nvPr/>
        </p:nvSpPr>
        <p:spPr>
          <a:xfrm>
            <a:off x="383850" y="1492063"/>
            <a:ext cx="7097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Otro Ejemplo: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0"/>
          <p:cNvSpPr txBox="1"/>
          <p:nvPr/>
        </p:nvSpPr>
        <p:spPr>
          <a:xfrm>
            <a:off x="919525" y="3723425"/>
            <a:ext cx="70029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select * from </a:t>
            </a:r>
            <a:r>
              <a:rPr b="0" i="0" lang="es" sz="1800" u="none" cap="none" strike="noStrike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instructor</a:t>
            </a:r>
            <a:endParaRPr b="0" i="0" sz="1800" u="none" cap="none" strike="noStrike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where </a:t>
            </a:r>
            <a:r>
              <a:rPr b="0" i="0" lang="es" sz="1800" u="none" cap="none" strike="noStrike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name = ‘a’;</a:t>
            </a:r>
            <a:r>
              <a:rPr b="0" i="0" lang="es" sz="18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s" sz="1800" u="none" cap="none" strike="noStrike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drop table instructor;</a:t>
            </a:r>
            <a:r>
              <a:rPr b="0" i="0" lang="es" sz="1800" u="none" cap="none" strike="noStrike">
                <a:solidFill>
                  <a:srgbClr val="B7B7B7"/>
                </a:solidFill>
                <a:latin typeface="Roboto Mono"/>
                <a:ea typeface="Roboto Mono"/>
                <a:cs typeface="Roboto Mono"/>
                <a:sym typeface="Roboto Mono"/>
              </a:rPr>
              <a:t>--’;</a:t>
            </a:r>
            <a:endParaRPr b="0" i="0" sz="1800" u="none" cap="none" strike="noStrike">
              <a:solidFill>
                <a:srgbClr val="B7B7B7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8" name="Google Shape;128;p10"/>
          <p:cNvSpPr txBox="1"/>
          <p:nvPr/>
        </p:nvSpPr>
        <p:spPr>
          <a:xfrm>
            <a:off x="311700" y="4454463"/>
            <a:ext cx="7097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tabla </a:t>
            </a:r>
            <a:r>
              <a:rPr b="0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instructor</a:t>
            </a:r>
            <a:r>
              <a:rPr b="1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 eliminada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"/>
          <p:cNvSpPr txBox="1"/>
          <p:nvPr>
            <p:ph type="title"/>
          </p:nvPr>
        </p:nvSpPr>
        <p:spPr>
          <a:xfrm>
            <a:off x="311700" y="445025"/>
            <a:ext cx="8520600" cy="10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">
                <a:solidFill>
                  <a:srgbClr val="FF0000"/>
                </a:solidFill>
              </a:rPr>
              <a:t>Ataque por Inyección en SQL 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">
                <a:solidFill>
                  <a:srgbClr val="FF0000"/>
                </a:solidFill>
              </a:rPr>
              <a:t>(SQL Injection Attack)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34" name="Google Shape;13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35" name="Google Shape;13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175" y="1595438"/>
            <a:ext cx="6343650" cy="195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">
                <a:solidFill>
                  <a:srgbClr val="FF0000"/>
                </a:solidFill>
              </a:rPr>
              <a:t>Seguridad a Nivel de Usuario en SQL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41" name="Google Shape;14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42" name="Google Shape;142;p12"/>
          <p:cNvSpPr txBox="1"/>
          <p:nvPr/>
        </p:nvSpPr>
        <p:spPr>
          <a:xfrm>
            <a:off x="383850" y="1097925"/>
            <a:ext cx="8376300" cy="35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Cada usuario tiene ciertos derechos sobre ciertos objetos.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Distintos usuarios pueden tener los mismos o distintos derechos sobre los mismos objetos.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controlar la granularidad de los derechos de acceso, los usuarios pueden tener derechos (autorización / privilegios) sobre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Tabla </a:t>
            </a:r>
            <a:endParaRPr b="1" i="0" sz="1800" u="none" cap="none" strike="noStrike"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Vista  </a:t>
            </a:r>
            <a:endParaRPr b="1" i="0" sz="1800" u="none" cap="none" strike="noStrike"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">
                <a:solidFill>
                  <a:srgbClr val="FF0000"/>
                </a:solidFill>
              </a:rPr>
              <a:t>Control de Acceso Discrecional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48" name="Google Shape;14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49" name="Google Shape;149;p13"/>
          <p:cNvSpPr txBox="1"/>
          <p:nvPr/>
        </p:nvSpPr>
        <p:spPr>
          <a:xfrm>
            <a:off x="383850" y="1097925"/>
            <a:ext cx="83763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SQL standard se incluyen los privilegios </a:t>
            </a: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INSERT</a:t>
            </a: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UPDATE</a:t>
            </a: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y </a:t>
            </a: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DELETE</a:t>
            </a: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el lenguaje de definición de SQL se incluyen los comandos </a:t>
            </a: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GRANT</a:t>
            </a: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REVOKE</a:t>
            </a: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administrar privilegios.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3"/>
          <p:cNvSpPr txBox="1"/>
          <p:nvPr/>
        </p:nvSpPr>
        <p:spPr>
          <a:xfrm>
            <a:off x="1587750" y="3657625"/>
            <a:ext cx="59685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grant </a:t>
            </a:r>
            <a:r>
              <a:rPr b="0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&lt;privilege list&gt;</a:t>
            </a:r>
            <a:br>
              <a:rPr b="0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on </a:t>
            </a:r>
            <a:r>
              <a:rPr b="0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&lt;relation name or view name&gt;</a:t>
            </a:r>
            <a:b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to </a:t>
            </a:r>
            <a:r>
              <a:rPr b="0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&lt;user/role list&gt;</a:t>
            </a: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 </a:t>
            </a:r>
            <a:endParaRPr b="1" i="0" sz="18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1" name="Google Shape;151;p13"/>
          <p:cNvSpPr txBox="1"/>
          <p:nvPr/>
        </p:nvSpPr>
        <p:spPr>
          <a:xfrm>
            <a:off x="460050" y="2581925"/>
            <a:ext cx="8376300" cy="8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comando </a:t>
            </a: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GRANT</a:t>
            </a: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 usado para conceder autorización. La forma básica de esta sentencia es la siguiente: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">
                <a:solidFill>
                  <a:srgbClr val="FF0000"/>
                </a:solidFill>
              </a:rPr>
              <a:t>GRANT - Ejemplo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57" name="Google Shape;1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58" name="Google Shape;158;p14"/>
          <p:cNvSpPr txBox="1"/>
          <p:nvPr/>
        </p:nvSpPr>
        <p:spPr>
          <a:xfrm>
            <a:off x="2003125" y="1496850"/>
            <a:ext cx="41160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grant select</a:t>
            </a:r>
            <a:endParaRPr b="1" i="0" sz="18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on </a:t>
            </a:r>
            <a:r>
              <a:rPr b="0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department</a:t>
            </a:r>
            <a:endParaRPr b="1" i="0" sz="18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to </a:t>
            </a:r>
            <a:r>
              <a:rPr b="0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Mafalda, Guille</a:t>
            </a: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 </a:t>
            </a:r>
            <a:endParaRPr b="1" i="0" sz="18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9" name="Google Shape;159;p14"/>
          <p:cNvSpPr txBox="1"/>
          <p:nvPr/>
        </p:nvSpPr>
        <p:spPr>
          <a:xfrm>
            <a:off x="2003125" y="3415625"/>
            <a:ext cx="41160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grant update</a:t>
            </a:r>
            <a:r>
              <a:rPr b="0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(budget)</a:t>
            </a:r>
            <a:endParaRPr b="0" i="0" sz="18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on </a:t>
            </a:r>
            <a:r>
              <a:rPr b="0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department</a:t>
            </a:r>
            <a:endParaRPr b="1" i="0" sz="18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to </a:t>
            </a:r>
            <a:r>
              <a:rPr b="0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Mafalda, Guille</a:t>
            </a: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 </a:t>
            </a:r>
            <a:endParaRPr b="1" i="0" sz="18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">
                <a:solidFill>
                  <a:srgbClr val="FF0000"/>
                </a:solidFill>
              </a:rPr>
              <a:t>Revoke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65" name="Google Shape;1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383850" y="1097925"/>
            <a:ext cx="8376300" cy="8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anular una autorización, se use la sentencia </a:t>
            </a: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REVOKE</a:t>
            </a: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La estructura es muy similar a </a:t>
            </a: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GRANT</a:t>
            </a: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1808850" y="2694050"/>
            <a:ext cx="55263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revoke </a:t>
            </a:r>
            <a:r>
              <a:rPr b="0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&lt;privilege list&gt;</a:t>
            </a:r>
            <a:endParaRPr b="0" i="0" sz="18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on </a:t>
            </a:r>
            <a:r>
              <a:rPr b="0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&lt;relation name or view name&gt;</a:t>
            </a: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b="1" i="0" sz="18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from </a:t>
            </a:r>
            <a:r>
              <a:rPr b="0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&lt;user/role list&gt;</a:t>
            </a: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 </a:t>
            </a:r>
            <a:endParaRPr b="1" i="0" sz="18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">
                <a:solidFill>
                  <a:srgbClr val="FF0000"/>
                </a:solidFill>
              </a:rPr>
              <a:t>Revoke - Ejemplo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73" name="Google Shape;17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2193125" y="1566150"/>
            <a:ext cx="41160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revoke select</a:t>
            </a:r>
            <a:r>
              <a:rPr b="0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b="0" i="0" sz="18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on </a:t>
            </a:r>
            <a:r>
              <a:rPr b="0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department</a:t>
            </a: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b="1" i="0" sz="18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from </a:t>
            </a:r>
            <a:r>
              <a:rPr b="0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Mafalda, Guille</a:t>
            </a: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 </a:t>
            </a:r>
            <a:endParaRPr b="1" i="0" sz="18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5" name="Google Shape;175;p16"/>
          <p:cNvSpPr txBox="1"/>
          <p:nvPr/>
        </p:nvSpPr>
        <p:spPr>
          <a:xfrm>
            <a:off x="2193125" y="3249000"/>
            <a:ext cx="41160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revoke update </a:t>
            </a:r>
            <a:r>
              <a:rPr b="0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(budget) </a:t>
            </a:r>
            <a:endParaRPr b="0" i="0" sz="18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on </a:t>
            </a:r>
            <a:r>
              <a:rPr b="0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department</a:t>
            </a: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b="1" i="0" sz="18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from </a:t>
            </a:r>
            <a:r>
              <a:rPr b="0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Mafalda, Guille</a:t>
            </a: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; </a:t>
            </a:r>
            <a:endParaRPr b="1" i="0" sz="18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">
                <a:solidFill>
                  <a:srgbClr val="FF0000"/>
                </a:solidFill>
              </a:rPr>
              <a:t>Roles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81" name="Google Shape;18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383850" y="1097925"/>
            <a:ext cx="8376300" cy="13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Problema: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 hay muchos usuarios con muchos privilegios diferentes, resultará difícil adicionar nuevos privilegios a cada individuo.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383850" y="2773925"/>
            <a:ext cx="8376300" cy="16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Surge la idea de </a:t>
            </a:r>
            <a:r>
              <a:rPr b="1" i="0" lang="es" sz="18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Roles</a:t>
            </a:r>
            <a:r>
              <a:rPr b="1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Grupos de privilegios relacionados que se otorgan a usuarios.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 se cambian los privilegios encapsulados en un rol, los privilegios de todos los usuarios que tienen ese rol también cambian.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">
                <a:solidFill>
                  <a:srgbClr val="FF0000"/>
                </a:solidFill>
              </a:rPr>
              <a:t>Roles en SQL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89" name="Google Shape;18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2726525" y="1337550"/>
            <a:ext cx="411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create role </a:t>
            </a:r>
            <a:r>
              <a:rPr b="0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instructor;</a:t>
            </a:r>
            <a:endParaRPr b="0" i="0" sz="18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311700" y="960675"/>
            <a:ext cx="251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Ejemplo de creación: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8"/>
          <p:cNvSpPr txBox="1"/>
          <p:nvPr/>
        </p:nvSpPr>
        <p:spPr>
          <a:xfrm>
            <a:off x="311700" y="1951275"/>
            <a:ext cx="6202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Ejemplo de asignación de privilegios a roles: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2726525" y="2480550"/>
            <a:ext cx="4116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grant select on </a:t>
            </a:r>
            <a:r>
              <a:rPr b="0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takes</a:t>
            </a: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b="1" i="0" sz="18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to </a:t>
            </a:r>
            <a:r>
              <a:rPr b="0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instructor;</a:t>
            </a:r>
            <a:endParaRPr b="0" i="0" sz="18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311700" y="3399075"/>
            <a:ext cx="816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Ejemplo de asignación de privilegios de roles a roles y a usuarios: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8"/>
          <p:cNvSpPr txBox="1"/>
          <p:nvPr/>
        </p:nvSpPr>
        <p:spPr>
          <a:xfrm>
            <a:off x="2726525" y="3971775"/>
            <a:ext cx="41160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create role </a:t>
            </a:r>
            <a:r>
              <a:rPr b="0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dean;</a:t>
            </a:r>
            <a:endParaRPr b="0" i="0" sz="18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grant </a:t>
            </a:r>
            <a:r>
              <a:rPr b="0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instructor</a:t>
            </a: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to </a:t>
            </a:r>
            <a:r>
              <a:rPr b="0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dean;</a:t>
            </a: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b="1" i="0" sz="18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grant </a:t>
            </a:r>
            <a:r>
              <a:rPr b="0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dean </a:t>
            </a:r>
            <a:r>
              <a:rPr b="1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to </a:t>
            </a:r>
            <a:r>
              <a:rPr b="0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Mafalda;</a:t>
            </a:r>
            <a:endParaRPr b="0" i="0" sz="18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">
                <a:solidFill>
                  <a:srgbClr val="FF0000"/>
                </a:solidFill>
              </a:rPr>
              <a:t>Algunos consejos de seguridad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01" name="Google Shape;20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383850" y="1097925"/>
            <a:ext cx="8376300" cy="35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usuario </a:t>
            </a:r>
            <a:r>
              <a:rPr b="1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root</a:t>
            </a: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debe estar protegido con una contraseña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Únicamente el usuario </a:t>
            </a:r>
            <a:r>
              <a:rPr b="1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root</a:t>
            </a: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debe tener acceso a la tabla </a:t>
            </a:r>
            <a:r>
              <a:rPr b="0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mysql.user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dar más privilegios que los necesarios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dar permisos a todos los hosts (comodín </a:t>
            </a:r>
            <a:r>
              <a:rPr b="0" i="0" lang="es" sz="18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‘%’</a:t>
            </a: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almacenar contraseñas (como datos) en texto plano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