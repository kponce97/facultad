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Pragati Narrow"/>
      <p:regular r:id="rId23"/>
      <p:bold r:id="rId24"/>
    </p:embeddedFont>
    <p:embeddedFont>
      <p:font typeface="Oswa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+c1KQIWHeCXJN9q9X2BTK83VT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ragatiNarrow-bold.fntdata"/><Relationship Id="rId23" Type="http://schemas.openxmlformats.org/officeDocument/2006/relationships/font" Target="fonts/PragatiNarrow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bold.fntdata"/><Relationship Id="rId25" Type="http://schemas.openxmlformats.org/officeDocument/2006/relationships/font" Target="fonts/Oswald-regular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1034f7d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11034f7d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mongodb.com/docs/manual/applications/data-models-relationship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400">
                <a:latin typeface="Oswald"/>
                <a:ea typeface="Oswald"/>
                <a:cs typeface="Oswald"/>
                <a:sym typeface="Oswald"/>
              </a:rPr>
              <a:t>Modelado de Datos</a:t>
            </a:r>
            <a:endParaRPr sz="4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Bases de Datos 2024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Estrategias de modelado de datos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854850"/>
            <a:ext cx="85206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Decisión clave para el modelado de relaciones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Anidar (</a:t>
            </a: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embed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) datos VS. usar Referencias (</a:t>
            </a: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references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)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313200" y="2059650"/>
            <a:ext cx="42588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Modelo de datos Anidado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4529275" y="2059650"/>
            <a:ext cx="4258800" cy="21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Modelo de datos usando Referencias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849200" y="2577650"/>
            <a:ext cx="2109300" cy="15798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806800" y="2480100"/>
            <a:ext cx="845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Person</a:t>
            </a:r>
            <a:endParaRPr b="1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911075" y="2758900"/>
            <a:ext cx="1986300" cy="13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_id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"153499",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name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</a:t>
            </a: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first: "Joe", last: 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Moore" </a:t>
            </a: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 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22,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pets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[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{ name: "Bark", type: "Dog", w: 10 },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{ name: "Fluffy", type: "Cat", w: 5 }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]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4520225" y="2626425"/>
            <a:ext cx="1924500" cy="13899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4477825" y="2528875"/>
            <a:ext cx="845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Product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4582100" y="2807675"/>
            <a:ext cx="1794000" cy="11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_id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"1",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name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"Super Widget"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desc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"This is the most useful item …"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,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price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119.99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6571200" y="2626425"/>
            <a:ext cx="2075100" cy="13899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6528800" y="2528875"/>
            <a:ext cx="845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Review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6633075" y="2807675"/>
            <a:ext cx="1924500" cy="11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review_id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"678",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product_id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</a:t>
            </a: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1, 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author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"Nicole",</a:t>
            </a:r>
            <a:endParaRPr b="0" i="0" sz="900" u="none" cap="none" strike="noStrike">
              <a:solidFill>
                <a:schemeClr val="dk1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text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"This is indeed an amazing widget.",</a:t>
            </a:r>
            <a:endParaRPr b="0" i="0" sz="900" u="none" cap="none" strike="noStrike">
              <a:solidFill>
                <a:schemeClr val="dk1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published_date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ISODate("2019-02-18")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73" name="Google Shape;73;p13"/>
          <p:cNvCxnSpPr>
            <a:stCxn id="74" idx="1"/>
          </p:cNvCxnSpPr>
          <p:nvPr/>
        </p:nvCxnSpPr>
        <p:spPr>
          <a:xfrm rot="10800000">
            <a:off x="2622775" y="3614200"/>
            <a:ext cx="515400" cy="6900"/>
          </a:xfrm>
          <a:prstGeom prst="straightConnector1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" name="Google Shape;74;p13"/>
          <p:cNvSpPr txBox="1"/>
          <p:nvPr/>
        </p:nvSpPr>
        <p:spPr>
          <a:xfrm>
            <a:off x="3138175" y="3405550"/>
            <a:ext cx="61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Embeded document</a:t>
            </a:r>
            <a:endParaRPr b="1" i="0" sz="8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75" name="Google Shape;75;p13"/>
          <p:cNvCxnSpPr/>
          <p:nvPr/>
        </p:nvCxnSpPr>
        <p:spPr>
          <a:xfrm rot="10800000">
            <a:off x="5146650" y="3103450"/>
            <a:ext cx="1630200" cy="148800"/>
          </a:xfrm>
          <a:prstGeom prst="straightConnector1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" name="Google Shape;76;p13"/>
          <p:cNvCxnSpPr/>
          <p:nvPr/>
        </p:nvCxnSpPr>
        <p:spPr>
          <a:xfrm flipH="1">
            <a:off x="2654275" y="3621100"/>
            <a:ext cx="483900" cy="105300"/>
          </a:xfrm>
          <a:prstGeom prst="straightConnector1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Modelado de Relaciones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311700" y="854850"/>
            <a:ext cx="8520600" cy="3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Relaciones One-to-One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Modelado con Documentos Anidados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Modelado con Referencias de Documentos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Relaciones One-to-Many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Modelado con Documentos Anidados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Modelado con Referencias de Documentos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Principio General in MongoDB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Datos que se accede juntos deben ser almacenado juntos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Modelado de Relaciones - One-To-One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4605825" y="853200"/>
            <a:ext cx="42249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Modelado con Documentos Anidados </a:t>
            </a:r>
            <a:endParaRPr b="0" i="0" sz="16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db.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student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4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	  {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"_id": "jmoore",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"name": "James Moore",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"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address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 : {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	              "street": "123 Sesame St",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	  	  "city": "Anytown",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	  	  "zip": "12345"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	        }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	  }	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b="0" i="0" sz="12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11700" y="853200"/>
            <a:ext cx="42588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Modelado con Referencias de Documentos</a:t>
            </a:r>
            <a:endParaRPr b="0" i="0" sz="16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db.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student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4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	  {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"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_id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": "jmoore",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"name": "James Moore"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}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)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address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4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	  {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_id": "a1" 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student_id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": "jmoore"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"street": "123 Sesame St", 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"city": "Anytown", 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"zip": "12345"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}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)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Modelado de Relaciones - One-To-Many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4605825" y="853200"/>
            <a:ext cx="42249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Modelado con Documentos Anidados </a:t>
            </a:r>
            <a:endParaRPr b="0" i="0" sz="16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db.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student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4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	  {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"_id": "jmoore",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"name": "James Moore",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"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address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 : [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	                  "street": "123 Sesame St",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	  	      "city": "Anytown",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	  	      "zip": "12345"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	            },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	      "street": "321 Some Other Street ",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           "city": "Boston",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           "zip": "45678"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	            }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  ]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	  }	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b="0" i="0" sz="12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853200"/>
            <a:ext cx="42588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Modelado con Referencias de Documentos</a:t>
            </a:r>
            <a:endParaRPr b="0" i="0" sz="16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db.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student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4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{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"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_id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": "jmoore",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"name": "James Moore"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} )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address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4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{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_id": "a1" 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student_id</a:t>
            </a: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": "jmoore"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"street": "123 Sesame St", 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"city": "Anytown", 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"zip": "12345"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} )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db.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address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4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{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	        _id": "a2"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student_id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": "jmoore"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"street": "321 Some Other Street ",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"city": "Boston", 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       "zip": "45678"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} )</a:t>
            </a:r>
            <a:endParaRPr b="0" i="0" sz="140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Modelado de Relaciones - One-To-Many - Referencias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11700" y="853200"/>
            <a:ext cx="42588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Modelado con arreglo de Referencias	</a:t>
            </a:r>
            <a:endParaRPr b="0" i="0" sz="16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lang="en-GB" sz="12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products</a:t>
            </a:r>
            <a:r>
              <a:rPr lang="en-GB" sz="1250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lang="en-GB" sz="12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lang="en-GB" sz="1250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{ </a:t>
            </a:r>
            <a:endParaRPr sz="1250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		"_id": "product1", </a:t>
            </a:r>
            <a:endParaRPr sz="1250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		name: "left-handed smoke shifter", </a:t>
            </a:r>
            <a:endParaRPr sz="1250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		manufacturer: "Acme Corp", </a:t>
            </a:r>
            <a:endParaRPr sz="1250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		catalog_number: 1234, </a:t>
            </a:r>
            <a:endParaRPr sz="1250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		</a:t>
            </a:r>
            <a:r>
              <a:rPr lang="en-GB" sz="12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parts</a:t>
            </a:r>
            <a:r>
              <a:rPr lang="en-GB" sz="1250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[ "part1", "partN"]</a:t>
            </a:r>
            <a:endParaRPr sz="1250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 )</a:t>
            </a:r>
            <a:endParaRPr sz="1250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b="0" i="0" lang="en-GB" sz="125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parts</a:t>
            </a: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25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insertMany</a:t>
            </a: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[ {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</a:t>
            </a:r>
            <a:r>
              <a:rPr b="0" i="0" lang="en-GB" sz="125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_id</a:t>
            </a: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": "part1", 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partno: "123-aff-456", 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name: "#4 grommet", 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qty: 94, 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price: 3.99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	      }, {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		"_id": "partN", 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partno: "123-aff-678", 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name: "#5 grommet", 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qty: 94, 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price: 3.29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	} ] )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605825" y="853200"/>
            <a:ext cx="42249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Modelado con Referencias de Documentos</a:t>
            </a:r>
            <a:endParaRPr b="0" i="0" sz="16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hosts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4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{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_id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: "host1",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name : "goofy.example.com",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ipaddr : "127.66.66.66"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 )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logmsg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4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insertMany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[	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	_id: 1000001,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time : ISODate("2014-03-28T09:42:41"),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message : "cpu is on fire!",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id_host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"host1"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},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	_id: 1000002,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time : ISODate("2014-03-28T09:49:41"),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message : "cpu is iddle!",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	</a:t>
            </a:r>
            <a:r>
              <a:rPr b="0" i="0" lang="en-GB" sz="140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id_host</a:t>
            </a: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"host1"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b="0" i="0" sz="1400" u="none" cap="none" strike="noStrike">
              <a:solidFill>
                <a:schemeClr val="dk2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1034f7d78_0_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Embedding VS Referencing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9" name="Google Shape;109;g311034f7d78_0_0"/>
          <p:cNvSpPr txBox="1"/>
          <p:nvPr/>
        </p:nvSpPr>
        <p:spPr>
          <a:xfrm>
            <a:off x="311700" y="853200"/>
            <a:ext cx="4258800" cy="30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                    </a:t>
            </a:r>
            <a:r>
              <a:rPr b="1" lang="en-GB" sz="18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Embedding</a:t>
            </a:r>
            <a:endParaRPr b="1" sz="18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Una sola query para recuperar datos</a:t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Una sola operación para update/delete data</a:t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Duplicación de datos</a:t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Documentos grandes</a:t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10" name="Google Shape;110;g311034f7d78_0_0"/>
          <p:cNvSpPr txBox="1"/>
          <p:nvPr/>
        </p:nvSpPr>
        <p:spPr>
          <a:xfrm>
            <a:off x="4605825" y="853200"/>
            <a:ext cx="42249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            Referencing</a:t>
            </a:r>
            <a:endParaRPr b="1" sz="18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Puede evitar duplicación de datos</a:t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Documentos más pequeños</a:t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          Se necesita join a nivel de aplicación</a:t>
            </a:r>
            <a:endParaRPr sz="16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11" name="Google Shape;111;g311034f7d78_0_0"/>
          <p:cNvCxnSpPr/>
          <p:nvPr/>
        </p:nvCxnSpPr>
        <p:spPr>
          <a:xfrm flipH="1" rot="10800000">
            <a:off x="866575" y="2492950"/>
            <a:ext cx="69885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g311034f7d78_0_0"/>
          <p:cNvSpPr txBox="1"/>
          <p:nvPr/>
        </p:nvSpPr>
        <p:spPr>
          <a:xfrm rot="-5400000">
            <a:off x="-405325" y="1457200"/>
            <a:ext cx="12720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Ventajas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g311034f7d78_0_0"/>
          <p:cNvSpPr txBox="1"/>
          <p:nvPr/>
        </p:nvSpPr>
        <p:spPr>
          <a:xfrm rot="-5400000">
            <a:off x="-522475" y="3098350"/>
            <a:ext cx="1506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Desv</a:t>
            </a:r>
            <a:r>
              <a:rPr lang="en-GB" sz="1800">
                <a:solidFill>
                  <a:schemeClr val="dk2"/>
                </a:solidFill>
              </a:rPr>
              <a:t>entajas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Modelado de Datos Dirigido por Queries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854850"/>
            <a:ext cx="8520600" cy="3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Identificar entidades, atributos y relaciones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Identificar las queries importantes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Y analizar la carga de trabajo de las queries (por ejemplo, frecuencia y latencia)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Crear el modelo de datos aplicando las estrategias </a:t>
            </a: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Anidar datos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 y </a:t>
            </a: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Referencias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 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Hay que tener en mente las queries más importantes para crear el modelo de datos.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El modelo de datos debe permitir satisfacer las queries o patrones de acceso más importantes de manera eficiente </a:t>
            </a:r>
            <a:endParaRPr>
              <a:solidFill>
                <a:srgbClr val="3D85C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■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Para este curso, u</a:t>
            </a: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na </a:t>
            </a:r>
            <a:r>
              <a:rPr lang="en-GB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“consulta es eficiente”</a:t>
            </a: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 si se puede responder en un sola query sin $lookup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6AA84F"/>
                </a:solidFill>
              </a:rPr>
              <a:t>IT’S DEMO TIME</a:t>
            </a:r>
            <a:endParaRPr b="1">
              <a:solidFill>
                <a:srgbClr val="6AA84F"/>
              </a:solidFill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4775" y="1361075"/>
            <a:ext cx="4557275" cy="29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Modelado de Datos Dirigido por Queries: Ejemplo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854850"/>
            <a:ext cx="8520600" cy="3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Pragati Narrow"/>
              <a:buChar char="➢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Dado el diagrama junto con las queries más importantes crear un modelo datos en MongoDB 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pic>
        <p:nvPicPr>
          <p:cNvPr id="132" name="Google Shape;1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725" y="1295099"/>
            <a:ext cx="4673651" cy="355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4840950" y="1602000"/>
            <a:ext cx="39900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Query 1: 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Listar el id, nombre, apellido y teléfonos (número y tipo) de los clientes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Query 2: 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Listar los clientes (nombre, apellido y email) de una ciudad en particular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Query 3: 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Listar los clientes (nombre, apellido y email) interesados en un tópico en particular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Modelado de Datos Dirigido por Queries: Ejemplo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854850"/>
            <a:ext cx="8520600" cy="3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Pragati Narrow"/>
              <a:buChar char="➢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Query 1: Listar el id, nombre, apellido y teléfonos (número y tipo) de los clientes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Entidades: customer y phone_numbers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Relación: One-To-Many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Estrategia: Documentos Anidados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Pragati Narrow"/>
              <a:buChar char="➢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Query 2: Listar los clientes (nombre, apellido y email) de una ciudad en particular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Entidades: customer, address, city, y country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Relación: One-To-Many (entre customer y address)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Estrategia: Documentos Anidados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Pragati Narrow"/>
              <a:buChar char="➢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Query 3: Listar los clientes (nombre, apellido y email) interesados en un tópico en particular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Entidades: customer, interests, topics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Relación: Many-To-Many (entre customer y topics)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Estrategia: Documentos Anidados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Modelado de Datos Dirigido por Queries: Ejemplo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311700" y="853200"/>
            <a:ext cx="42588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Modelo de datos en MongoDB	</a:t>
            </a:r>
            <a:endParaRPr b="0" i="0" sz="16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b="0" i="0" lang="en-GB" sz="125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customer</a:t>
            </a: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b="0" i="0" lang="en-GB" sz="125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( {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customer_id: "1",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name: { first: "John", last: "Moore" },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email: "jmoore@example.com",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annual_spend: 50000,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0" i="0" lang="en-GB" sz="125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phone_numbers</a:t>
            </a: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[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{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type: "Home",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number: "238479823749"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}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],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0" i="0" lang="en-GB" sz="125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addresses</a:t>
            </a: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[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{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address: "sample address",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address2: "sample address2",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district: "sample district",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city: "sample city",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country: "sample country",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postal_code: "79878",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location: "sample location"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}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],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0" i="0" lang="en-GB" sz="1250" u="none" cap="none" strike="noStrike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topics</a:t>
            </a: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[ "topic 1", "topic 2" ]     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GB" sz="1250" u="none" cap="none" strike="noStrike">
                <a:solidFill>
                  <a:srgbClr val="59595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 )</a:t>
            </a:r>
            <a:endParaRPr b="0" i="0" sz="1250" u="none" cap="none" strike="noStrike">
              <a:solidFill>
                <a:srgbClr val="59595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4572000" y="853200"/>
            <a:ext cx="4258800" cy="3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Query 1</a:t>
            </a:r>
            <a:endParaRPr sz="12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db.customer.find( { } , { customer_id: 1, name: 1, phone_numbers: 1, _id:0 } 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Query 2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db.customer.find( 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 { addresses: { 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     $elemMatch: { city: "sample city", country: "sample country"} 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 } }, 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 {name: 1, email: 1, _id:0}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Query 3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db.customer.find( { topics: { $in: [ "topic 1" ] } }, { name: 1, email: 1, _id:0 } 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4437" y="2042343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Temas a estudiar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311700" y="853200"/>
            <a:ext cx="83316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➢"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Próxima clase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Indices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Introducción a bases de datos NoSQL, incluye teorema CAP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➢"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Referencias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-GB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Modelado de datos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