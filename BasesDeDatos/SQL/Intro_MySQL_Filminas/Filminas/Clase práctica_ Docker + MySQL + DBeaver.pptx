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8" r:id="rId4"/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Hind"/>
      <p:regular r:id="rId22"/>
      <p:bold r:id="rId23"/>
    </p:embeddedFont>
    <p:embeddedFont>
      <p:font typeface="Noto Sans Symbols"/>
      <p:regular r:id="rId24"/>
      <p:bold r:id="rId25"/>
    </p:embeddedFont>
    <p:embeddedFont>
      <p:font typeface="Roboto Mono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Hind-regular.fntdata"/><Relationship Id="rId21" Type="http://schemas.openxmlformats.org/officeDocument/2006/relationships/slide" Target="slides/slide15.xml"/><Relationship Id="rId24" Type="http://schemas.openxmlformats.org/officeDocument/2006/relationships/font" Target="fonts/NotoSansSymbols-regular.fntdata"/><Relationship Id="rId23" Type="http://schemas.openxmlformats.org/officeDocument/2006/relationships/font" Target="fonts/Hi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regular.fntdata"/><Relationship Id="rId25" Type="http://schemas.openxmlformats.org/officeDocument/2006/relationships/font" Target="fonts/NotoSansSymbols-bold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4bd7e21ef_2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64bd7e21ef_2_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4bd7e21ef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64bd7e21ef_2_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4bd7e21ef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64bd7e21ef_2_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4bd7e21e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64bd7e21ef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4bd7e21ef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64bd7e21ef_2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4bd7e21e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64bd7e21ef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4bd7e21ef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64bd7e21ef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4bd7e21e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-d</a:t>
            </a:r>
            <a:r>
              <a:rPr lang="es">
                <a:solidFill>
                  <a:schemeClr val="dk1"/>
                </a:solidFill>
              </a:rPr>
              <a:t>: Modo background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--name</a:t>
            </a:r>
            <a:r>
              <a:rPr lang="es">
                <a:solidFill>
                  <a:schemeClr val="dk1"/>
                </a:solidFill>
              </a:rPr>
              <a:t>: Nombre del contenedor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-e</a:t>
            </a:r>
            <a:r>
              <a:rPr lang="es">
                <a:solidFill>
                  <a:schemeClr val="dk1"/>
                </a:solidFill>
              </a:rPr>
              <a:t>: Variables de entorno</a:t>
            </a:r>
            <a:br>
              <a:rPr lang="e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-p</a:t>
            </a:r>
            <a:r>
              <a:rPr lang="es">
                <a:solidFill>
                  <a:schemeClr val="dk1"/>
                </a:solidFill>
              </a:rPr>
              <a:t>: Mapeo de puertos (host:contenedor)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64bd7e21ef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4bd7e21ef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64bd7e21ef_2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4bd7e21ef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64bd7e21ef_2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4bd7e21ef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64bd7e21ef_2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4bd7e21ef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64bd7e21ef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4f1a0fd5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64f1a0fd58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4f1a0fd5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64f1a0fd5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4bd7e21ef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64bd7e21ef_2_1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228600" y="444240"/>
            <a:ext cx="7722720" cy="2430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" type="blank">
  <p:cSld name="BLANK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228600" y="888480"/>
            <a:ext cx="7495920" cy="15073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228600" y="766440"/>
            <a:ext cx="6203880" cy="2930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6"/>
          <p:cNvSpPr txBox="1"/>
          <p:nvPr>
            <p:ph idx="2" type="title"/>
          </p:nvPr>
        </p:nvSpPr>
        <p:spPr>
          <a:xfrm>
            <a:off x="7263360" y="803160"/>
            <a:ext cx="1651680" cy="1107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_1">
  <p:cSld name="ONE_COLUMN_TEXT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228600" y="228600"/>
            <a:ext cx="4262760" cy="984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4778280" y="228600"/>
            <a:ext cx="4137120" cy="46861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228600" y="669600"/>
            <a:ext cx="5617080" cy="12927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18"/>
          <p:cNvSpPr/>
          <p:nvPr/>
        </p:nvSpPr>
        <p:spPr>
          <a:xfrm>
            <a:off x="6732360" y="3519720"/>
            <a:ext cx="2182680" cy="7999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CREDITS:</a:t>
            </a:r>
            <a:r>
              <a:rPr b="0" i="0" lang="es" sz="1000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This presentation template was created by </a:t>
            </a:r>
            <a:r>
              <a:rPr b="1" i="0" lang="es" sz="1000" u="sng" cap="none" strike="noStrike">
                <a:solidFill>
                  <a:schemeClr val="hlink"/>
                </a:solidFill>
                <a:latin typeface="Hind"/>
                <a:ea typeface="Hind"/>
                <a:cs typeface="Hind"/>
                <a:sym typeface="Hind"/>
                <a:hlinkClick r:id="rId2"/>
              </a:rPr>
              <a:t>Slidesgo</a:t>
            </a:r>
            <a:r>
              <a:rPr b="0" i="0" lang="es" sz="1000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includes icons, infographics &amp; images by </a:t>
            </a:r>
            <a:r>
              <a:rPr b="1" i="0" lang="es" sz="1000" u="sng" cap="none" strike="noStrike">
                <a:solidFill>
                  <a:schemeClr val="hlink"/>
                </a:solidFill>
                <a:latin typeface="Hind"/>
                <a:ea typeface="Hind"/>
                <a:cs typeface="Hind"/>
                <a:sym typeface="Hind"/>
                <a:hlinkClick r:id="rId3"/>
              </a:rPr>
              <a:t>Freepik</a:t>
            </a:r>
            <a:r>
              <a:rPr b="0" i="0" lang="es" sz="1000" u="sng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endParaRPr b="0" i="0" sz="1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hasCustomPrompt="1" type="title"/>
          </p:nvPr>
        </p:nvSpPr>
        <p:spPr>
          <a:xfrm>
            <a:off x="228600" y="1313280"/>
            <a:ext cx="6575760" cy="1323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21"/>
          <p:cNvSpPr txBox="1"/>
          <p:nvPr>
            <p:ph idx="2" type="title"/>
          </p:nvPr>
        </p:nvSpPr>
        <p:spPr>
          <a:xfrm>
            <a:off x="228600" y="896040"/>
            <a:ext cx="734400" cy="553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21"/>
          <p:cNvSpPr txBox="1"/>
          <p:nvPr>
            <p:ph idx="3" type="title"/>
          </p:nvPr>
        </p:nvSpPr>
        <p:spPr>
          <a:xfrm>
            <a:off x="228600" y="2280600"/>
            <a:ext cx="734400" cy="553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1" name="Google Shape;81;p21"/>
          <p:cNvSpPr txBox="1"/>
          <p:nvPr>
            <p:ph idx="4" type="title"/>
          </p:nvPr>
        </p:nvSpPr>
        <p:spPr>
          <a:xfrm>
            <a:off x="2751840" y="896040"/>
            <a:ext cx="734400" cy="553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2" name="Google Shape;82;p21"/>
          <p:cNvSpPr txBox="1"/>
          <p:nvPr>
            <p:ph idx="5" type="title"/>
          </p:nvPr>
        </p:nvSpPr>
        <p:spPr>
          <a:xfrm>
            <a:off x="2751840" y="2280600"/>
            <a:ext cx="734400" cy="553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3" name="Google Shape;83;p21"/>
          <p:cNvSpPr txBox="1"/>
          <p:nvPr>
            <p:ph idx="6" type="title"/>
          </p:nvPr>
        </p:nvSpPr>
        <p:spPr>
          <a:xfrm>
            <a:off x="228600" y="3665160"/>
            <a:ext cx="734400" cy="553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4" name="Google Shape;84;p21"/>
          <p:cNvSpPr txBox="1"/>
          <p:nvPr>
            <p:ph idx="7" type="title"/>
          </p:nvPr>
        </p:nvSpPr>
        <p:spPr>
          <a:xfrm>
            <a:off x="2751840" y="3665160"/>
            <a:ext cx="734400" cy="553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5" name="Google Shape;85;p21"/>
          <p:cNvSpPr txBox="1"/>
          <p:nvPr>
            <p:ph idx="1" type="body"/>
          </p:nvPr>
        </p:nvSpPr>
        <p:spPr>
          <a:xfrm>
            <a:off x="5655240" y="896040"/>
            <a:ext cx="3259800" cy="40183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6">
  <p:cSld name="CUSTOM_6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228600" y="891720"/>
            <a:ext cx="3602520" cy="402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5">
  <p:cSld name="CUSTOM_5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type="title"/>
          </p:nvPr>
        </p:nvSpPr>
        <p:spPr>
          <a:xfrm>
            <a:off x="228600" y="228600"/>
            <a:ext cx="86860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>
  <p:cSld name="CUSTOM_9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_1">
  <p:cSld name="CUSTOM_9_1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0" name="Google Shape;100;p26"/>
          <p:cNvSpPr txBox="1"/>
          <p:nvPr>
            <p:ph idx="1"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>
            <a:off x="228960" y="2807640"/>
            <a:ext cx="3693240" cy="186552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5" name="Google Shape;105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8" name="Google Shape;108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9"/>
          <p:cNvSpPr txBox="1"/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1" name="Google Shape;111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4" name="Google Shape;114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1"/>
          <p:cNvSpPr txBox="1"/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2"/>
          <p:cNvSpPr txBox="1"/>
          <p:nvPr>
            <p:ph idx="1"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  <p:sp>
        <p:nvSpPr>
          <p:cNvPr id="120" name="Google Shape;120;p32"/>
          <p:cNvSpPr txBox="1"/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1" name="Google Shape;121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docker.com/get-started/docker_cheatsheet.pdf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hub.docker.com/_/mysq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beaver.io/download/" TargetMode="External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 txBox="1"/>
          <p:nvPr>
            <p:ph type="title"/>
          </p:nvPr>
        </p:nvSpPr>
        <p:spPr>
          <a:xfrm>
            <a:off x="228600" y="439690"/>
            <a:ext cx="7724400" cy="2428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Space Grotesk"/>
              <a:buNone/>
            </a:pPr>
            <a:r>
              <a:rPr b="1" lang="es" sz="77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Docker + MySQL + DBeaver</a:t>
            </a:r>
            <a:endParaRPr b="0" sz="77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3"/>
          <p:cNvSpPr txBox="1"/>
          <p:nvPr>
            <p:ph idx="1" type="subTitle"/>
          </p:nvPr>
        </p:nvSpPr>
        <p:spPr>
          <a:xfrm>
            <a:off x="2676600" y="3390710"/>
            <a:ext cx="6238500" cy="82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ind"/>
              <a:buNone/>
            </a:pPr>
            <a:r>
              <a:rPr b="0" i="0" lang="es" sz="1700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Corriendo MySQL con Docker, conectado a DBeaver.</a:t>
            </a:r>
            <a:endParaRPr b="0" i="0" sz="17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8" name="Google Shape;128;p33"/>
          <p:cNvSpPr/>
          <p:nvPr/>
        </p:nvSpPr>
        <p:spPr>
          <a:xfrm rot="-5400000">
            <a:off x="-304560" y="3972240"/>
            <a:ext cx="828360" cy="12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</a:rPr>
              <a:t>29</a:t>
            </a:r>
            <a: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s" sz="800">
                <a:solidFill>
                  <a:schemeClr val="dk1"/>
                </a:solidFill>
              </a:rPr>
              <a:t>08</a:t>
            </a:r>
            <a:r>
              <a:rPr b="0" i="0" lang="e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/2025</a:t>
            </a:r>
            <a:endParaRPr b="0" i="0" sz="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129" name="Google Shape;129;p33"/>
          <p:cNvCxnSpPr/>
          <p:nvPr/>
        </p:nvCxnSpPr>
        <p:spPr>
          <a:xfrm>
            <a:off x="114120" y="4451760"/>
            <a:ext cx="360" cy="7491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33"/>
          <p:cNvCxnSpPr/>
          <p:nvPr/>
        </p:nvCxnSpPr>
        <p:spPr>
          <a:xfrm flipH="1" rot="10800000">
            <a:off x="3869875" y="3805050"/>
            <a:ext cx="5045100" cy="240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33"/>
          <p:cNvSpPr txBox="1"/>
          <p:nvPr/>
        </p:nvSpPr>
        <p:spPr>
          <a:xfrm>
            <a:off x="7069975" y="4808775"/>
            <a:ext cx="19431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Por Agust</a:t>
            </a:r>
            <a:r>
              <a:rPr lang="es" sz="11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ín Curto Strasorier</a:t>
            </a:r>
            <a:endParaRPr sz="11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type="title"/>
          </p:nvPr>
        </p:nvSpPr>
        <p:spPr>
          <a:xfrm>
            <a:off x="232813" y="755372"/>
            <a:ext cx="74958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</a:pPr>
            <a:r>
              <a:rPr b="1" lang="es" sz="30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Introducción</a:t>
            </a:r>
            <a:endParaRPr b="0" sz="3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4"/>
          <p:cNvSpPr txBox="1"/>
          <p:nvPr>
            <p:ph idx="1" type="subTitle"/>
          </p:nvPr>
        </p:nvSpPr>
        <p:spPr>
          <a:xfrm>
            <a:off x="2519997" y="2759742"/>
            <a:ext cx="63912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En esta presentación haremos un recorrido por los siguientes puntos: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E</a:t>
            </a:r>
            <a:r>
              <a:rPr b="0" i="0" lang="es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xplorar Docker: que es, como </a:t>
            </a: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instalarlo y usarlo.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</a:t>
            </a:r>
            <a:r>
              <a:rPr b="0" i="0" lang="es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orrer la imagen oficial de MySQL en docker</a:t>
            </a: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.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C</a:t>
            </a:r>
            <a:r>
              <a:rPr b="0" i="0" lang="es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onectar esa base de datos a DBeaver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¡Empecemos!</a:t>
            </a:r>
            <a:endParaRPr b="0" i="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/>
          <p:nvPr>
            <p:ph type="title"/>
          </p:nvPr>
        </p:nvSpPr>
        <p:spPr>
          <a:xfrm>
            <a:off x="228600" y="762120"/>
            <a:ext cx="6200280" cy="2933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</a:pPr>
            <a:r>
              <a:rPr b="1" lang="es" sz="52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Introducción a Docker</a:t>
            </a:r>
            <a:endParaRPr b="0" sz="5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5"/>
          <p:cNvSpPr txBox="1"/>
          <p:nvPr>
            <p:ph type="title"/>
          </p:nvPr>
        </p:nvSpPr>
        <p:spPr>
          <a:xfrm>
            <a:off x="7267680" y="800280"/>
            <a:ext cx="1647360" cy="11044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Space Grotesk"/>
              <a:buNone/>
            </a:pPr>
            <a:r>
              <a:rPr b="1" lang="es" sz="6000" u="none" strike="noStrik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b="0" sz="6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35"/>
          <p:cNvCxnSpPr/>
          <p:nvPr/>
        </p:nvCxnSpPr>
        <p:spPr>
          <a:xfrm>
            <a:off x="249840" y="4340160"/>
            <a:ext cx="369648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6"/>
          <p:cNvSpPr txBox="1"/>
          <p:nvPr>
            <p:ph type="title"/>
          </p:nvPr>
        </p:nvSpPr>
        <p:spPr>
          <a:xfrm>
            <a:off x="228725" y="501197"/>
            <a:ext cx="74958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</a:pPr>
            <a:r>
              <a:rPr b="1" lang="es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¿Qué es Docker?</a:t>
            </a:r>
            <a:endParaRPr b="0" sz="3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6"/>
          <p:cNvSpPr txBox="1"/>
          <p:nvPr>
            <p:ph idx="1" type="subTitle"/>
          </p:nvPr>
        </p:nvSpPr>
        <p:spPr>
          <a:xfrm>
            <a:off x="2524075" y="2161475"/>
            <a:ext cx="6391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Hind"/>
              <a:buNone/>
            </a:pPr>
            <a:r>
              <a:rPr lang="es" sz="141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Docker es una plataforma para desarrollar, enviar y ejecutar aplicaciones dentro de contenedores.</a:t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Hind"/>
              <a:buNone/>
            </a:pPr>
            <a:r>
              <a:t/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Hind"/>
              <a:buNone/>
            </a:pPr>
            <a:r>
              <a:rPr lang="es" sz="141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Ventajas:</a:t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Hind"/>
              <a:buNone/>
            </a:pPr>
            <a:r>
              <a:t/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813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"/>
              <a:buFont typeface="Hind"/>
              <a:buChar char="●"/>
            </a:pPr>
            <a:r>
              <a:rPr lang="es" sz="141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Portabilidad</a:t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Hind"/>
              <a:buNone/>
            </a:pPr>
            <a:r>
              <a:t/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813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"/>
              <a:buFont typeface="Hind"/>
              <a:buChar char="●"/>
            </a:pPr>
            <a:r>
              <a:rPr lang="es" sz="141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Reproducibilidad</a:t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0"/>
              <a:buFont typeface="Hind"/>
              <a:buNone/>
            </a:pPr>
            <a:r>
              <a:t/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813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"/>
              <a:buFont typeface="Hind"/>
              <a:buChar char="●"/>
            </a:pPr>
            <a:r>
              <a:rPr lang="es" sz="141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Aislamiento del entorno</a:t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1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Para instalarlo: https://www.docker.com/products/docker-desktop/</a:t>
            </a:r>
            <a:endParaRPr sz="141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7"/>
          <p:cNvSpPr txBox="1"/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0"/>
              <a:buFont typeface="Space Grotesk"/>
              <a:buNone/>
            </a:pPr>
            <a:r>
              <a:rPr b="1" lang="es" sz="304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Comandos básicos de Docker</a:t>
            </a:r>
            <a:endParaRPr sz="304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0"/>
              <a:buFont typeface="Space Grotesk"/>
              <a:buNone/>
            </a:pPr>
            <a:r>
              <a:t/>
            </a:r>
            <a:endParaRPr b="1" sz="234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37"/>
          <p:cNvSpPr txBox="1"/>
          <p:nvPr>
            <p:ph idx="1" type="subTitle"/>
          </p:nvPr>
        </p:nvSpPr>
        <p:spPr>
          <a:xfrm>
            <a:off x="228600" y="1598925"/>
            <a:ext cx="4352400" cy="2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docker ps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docker run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docker start|stop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docker exec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docker images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rPr lang="es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https://docs.docker.com/get-started/docker_cheatsheet.pdf</a:t>
            </a: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Haremos una demo usando la imagen de mysql.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pic>
        <p:nvPicPr>
          <p:cNvPr id="157" name="Google Shape;157;p37"/>
          <p:cNvPicPr preferRelativeResize="0"/>
          <p:nvPr/>
        </p:nvPicPr>
        <p:blipFill rotWithShape="1">
          <a:blip r:embed="rId4">
            <a:alphaModFix/>
          </a:blip>
          <a:srcRect b="0" l="6495" r="5216" t="0"/>
          <a:stretch/>
        </p:blipFill>
        <p:spPr>
          <a:xfrm>
            <a:off x="4778280" y="228600"/>
            <a:ext cx="4136760" cy="468612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/>
          <p:nvPr>
            <p:ph type="title"/>
          </p:nvPr>
        </p:nvSpPr>
        <p:spPr>
          <a:xfrm>
            <a:off x="228600" y="762120"/>
            <a:ext cx="6200400" cy="29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</a:pPr>
            <a:r>
              <a:rPr b="1" lang="es" sz="5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Corriendo MySQL con Docker</a:t>
            </a:r>
            <a:endParaRPr b="1" sz="52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38"/>
          <p:cNvSpPr txBox="1"/>
          <p:nvPr>
            <p:ph type="title"/>
          </p:nvPr>
        </p:nvSpPr>
        <p:spPr>
          <a:xfrm>
            <a:off x="7267680" y="800280"/>
            <a:ext cx="16473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Space Grotesk"/>
              <a:buNone/>
            </a:pPr>
            <a:r>
              <a:rPr b="1" lang="es" sz="6000" u="none" strike="noStrik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b="1" lang="es" sz="60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 b="0" sz="6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38"/>
          <p:cNvCxnSpPr/>
          <p:nvPr/>
        </p:nvCxnSpPr>
        <p:spPr>
          <a:xfrm>
            <a:off x="249840" y="4340160"/>
            <a:ext cx="3696600" cy="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9"/>
          <p:cNvSpPr txBox="1"/>
          <p:nvPr>
            <p:ph type="title"/>
          </p:nvPr>
        </p:nvSpPr>
        <p:spPr>
          <a:xfrm>
            <a:off x="228725" y="615397"/>
            <a:ext cx="74958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</a:pPr>
            <a:r>
              <a:rPr b="1" lang="es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¿Por qué usar MySQL con Docker?</a:t>
            </a:r>
            <a:endParaRPr b="0" sz="3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 txBox="1"/>
          <p:nvPr>
            <p:ph idx="1" type="subTitle"/>
          </p:nvPr>
        </p:nvSpPr>
        <p:spPr>
          <a:xfrm>
            <a:off x="2524075" y="2358498"/>
            <a:ext cx="6391200" cy="2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Despliegue rápido de entornos de base de datos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Ideal para desarrollo, testing o demos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No ensucia el sistema operativo del host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Fácil de detener, reiniciar o eliminar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175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Imágen oficial: </a:t>
            </a:r>
            <a:r>
              <a:rPr lang="es" u="sng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https://hub.docker.com/_/mysql</a:t>
            </a: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 txBox="1"/>
          <p:nvPr>
            <p:ph type="title"/>
          </p:nvPr>
        </p:nvSpPr>
        <p:spPr>
          <a:xfrm>
            <a:off x="228725" y="615397"/>
            <a:ext cx="74958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</a:pPr>
            <a:r>
              <a:rPr b="1" lang="es"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Comando Docker para correr MySQL</a:t>
            </a:r>
            <a:endParaRPr b="0" sz="3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0"/>
          <p:cNvSpPr txBox="1"/>
          <p:nvPr>
            <p:ph idx="1" type="subTitle"/>
          </p:nvPr>
        </p:nvSpPr>
        <p:spPr>
          <a:xfrm>
            <a:off x="2524075" y="2358498"/>
            <a:ext cx="6391200" cy="2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docker run -d \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 --name database \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 -e MYSQL_ROOT_PASSWORD=pass \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 -e MYSQL_DATABASE=demo \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 -p 3306:3306 \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  mysql:latest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docker exec -it database mysql -u root -p</a:t>
            </a:r>
            <a:endParaRPr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1"/>
          <p:cNvSpPr txBox="1"/>
          <p:nvPr>
            <p:ph type="title"/>
          </p:nvPr>
        </p:nvSpPr>
        <p:spPr>
          <a:xfrm>
            <a:off x="228600" y="762120"/>
            <a:ext cx="6200280" cy="2933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</a:pPr>
            <a:r>
              <a:rPr b="1" lang="es" sz="52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Conexión de MySQL a DBeaver</a:t>
            </a:r>
            <a:endParaRPr b="0" sz="5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1"/>
          <p:cNvSpPr txBox="1"/>
          <p:nvPr>
            <p:ph type="title"/>
          </p:nvPr>
        </p:nvSpPr>
        <p:spPr>
          <a:xfrm>
            <a:off x="7267680" y="800280"/>
            <a:ext cx="1647360" cy="11044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Space Grotesk"/>
              <a:buNone/>
            </a:pPr>
            <a:r>
              <a:rPr b="1" lang="es" sz="6000" u="none" strike="noStrik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b="1" lang="es" sz="60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 b="0" sz="6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41"/>
          <p:cNvCxnSpPr/>
          <p:nvPr/>
        </p:nvCxnSpPr>
        <p:spPr>
          <a:xfrm>
            <a:off x="249840" y="4340160"/>
            <a:ext cx="369648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2"/>
          <p:cNvSpPr txBox="1"/>
          <p:nvPr>
            <p:ph type="title"/>
          </p:nvPr>
        </p:nvSpPr>
        <p:spPr>
          <a:xfrm>
            <a:off x="228600" y="228600"/>
            <a:ext cx="4266720" cy="980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</a:pPr>
            <a:r>
              <a:rPr b="1" lang="es" sz="26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Instalación y configuración de DBeaver</a:t>
            </a:r>
            <a:endParaRPr b="0" sz="2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2"/>
          <p:cNvSpPr txBox="1"/>
          <p:nvPr>
            <p:ph idx="1" type="subTitle"/>
          </p:nvPr>
        </p:nvSpPr>
        <p:spPr>
          <a:xfrm>
            <a:off x="185763" y="1912300"/>
            <a:ext cx="4352400" cy="2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rPr b="0" i="0" lang="es" sz="1200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DBeaver es un </a:t>
            </a:r>
            <a:endParaRPr b="0" i="0" sz="1200" u="none" cap="none" strike="noStrike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</a:pPr>
            <a:r>
              <a:rPr b="0" i="0" lang="es" sz="1200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potente cliente de base de datos</a:t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Char char="●"/>
            </a:pPr>
            <a:r>
              <a:rPr b="0" i="0" lang="es" sz="1200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permite gestionar múltiples tipos de bases de datos, incluido MySQL</a:t>
            </a:r>
            <a:endParaRPr b="0" i="0" sz="1200" u="none" cap="none" strike="noStrike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Para descargarlo: </a:t>
            </a:r>
            <a:r>
              <a:rPr lang="es" sz="1200" u="sng">
                <a:solidFill>
                  <a:schemeClr val="hlink"/>
                </a:solidFill>
                <a:latin typeface="Hind"/>
                <a:ea typeface="Hind"/>
                <a:cs typeface="Hind"/>
                <a:sym typeface="Hind"/>
                <a:hlinkClick r:id="rId3"/>
              </a:rPr>
              <a:t>https://dbeaver.io/download/</a:t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A continuación veremos como conectar nuestra db a DBeaver</a:t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190" name="Google Shape;190;p42"/>
          <p:cNvPicPr preferRelativeResize="0"/>
          <p:nvPr/>
        </p:nvPicPr>
        <p:blipFill rotWithShape="1">
          <a:blip r:embed="rId4">
            <a:alphaModFix/>
          </a:blip>
          <a:srcRect b="0" l="6495" r="5216" t="0"/>
          <a:stretch/>
        </p:blipFill>
        <p:spPr>
          <a:xfrm>
            <a:off x="4778280" y="228600"/>
            <a:ext cx="4136760" cy="468612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3"/>
          <p:cNvSpPr txBox="1"/>
          <p:nvPr>
            <p:ph type="title"/>
          </p:nvPr>
        </p:nvSpPr>
        <p:spPr>
          <a:xfrm>
            <a:off x="228600" y="885960"/>
            <a:ext cx="7495920" cy="15044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</a:pPr>
            <a:r>
              <a:rPr b="1" lang="es" sz="26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Configuración de conexión a MySQL</a:t>
            </a:r>
            <a:endParaRPr b="0" sz="2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 txBox="1"/>
          <p:nvPr>
            <p:ph idx="1" type="subTitle"/>
          </p:nvPr>
        </p:nvSpPr>
        <p:spPr>
          <a:xfrm>
            <a:off x="2531625" y="2905476"/>
            <a:ext cx="63912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Char char="●"/>
            </a:pPr>
            <a:r>
              <a:rPr lang="es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host: localhost</a:t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Char char="●"/>
            </a:pPr>
            <a:r>
              <a:rPr lang="es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port: 3306</a:t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Char char="●"/>
            </a:pPr>
            <a:r>
              <a:rPr lang="es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username: root</a:t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Char char="●"/>
            </a:pPr>
            <a:r>
              <a:rPr lang="es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password: pass</a:t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Char char="●"/>
            </a:pPr>
            <a:r>
              <a:rPr lang="es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optional: allowPublicKeyRetrieval=true</a:t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4"/>
          <p:cNvSpPr txBox="1"/>
          <p:nvPr>
            <p:ph type="title"/>
          </p:nvPr>
        </p:nvSpPr>
        <p:spPr>
          <a:xfrm>
            <a:off x="228600" y="885960"/>
            <a:ext cx="7495920" cy="15044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</a:pPr>
            <a:r>
              <a:rPr b="1" lang="es" sz="26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Ejemplos de consultas y gestión de datos</a:t>
            </a:r>
            <a:endParaRPr b="0" sz="2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4"/>
          <p:cNvSpPr txBox="1"/>
          <p:nvPr>
            <p:ph idx="1" type="subTitle"/>
          </p:nvPr>
        </p:nvSpPr>
        <p:spPr>
          <a:xfrm>
            <a:off x="2523960" y="2913155"/>
            <a:ext cx="63912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CREATE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TABLE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lang="es" sz="1200" u="sng">
                <a:solidFill>
                  <a:srgbClr val="B788D3"/>
                </a:solidFill>
                <a:highlight>
                  <a:srgbClr val="2F2F2F"/>
                </a:highlight>
              </a:rPr>
              <a:t>users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(</a:t>
            </a:r>
            <a:endParaRPr sz="1200" u="sng">
              <a:solidFill>
                <a:srgbClr val="CCCCCC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  </a:t>
            </a:r>
            <a:r>
              <a:rPr lang="es" sz="1200" u="sng">
                <a:solidFill>
                  <a:srgbClr val="00B8B8"/>
                </a:solidFill>
                <a:highlight>
                  <a:srgbClr val="2F2F2F"/>
                </a:highlight>
              </a:rPr>
              <a:t>id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C1AA6C"/>
                </a:solidFill>
                <a:highlight>
                  <a:srgbClr val="2F2F2F"/>
                </a:highlight>
              </a:rPr>
              <a:t>INT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AUTO_INCREMENT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PRIMARY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KEY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,</a:t>
            </a:r>
            <a:endParaRPr sz="1200" u="sng">
              <a:solidFill>
                <a:srgbClr val="CCCCCC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  </a:t>
            </a:r>
            <a:r>
              <a:rPr lang="es" sz="1200" u="sng">
                <a:solidFill>
                  <a:srgbClr val="00B8B8"/>
                </a:solidFill>
                <a:highlight>
                  <a:srgbClr val="2F2F2F"/>
                </a:highlight>
              </a:rPr>
              <a:t>name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C1AA6C"/>
                </a:solidFill>
                <a:highlight>
                  <a:srgbClr val="2F2F2F"/>
                </a:highlight>
              </a:rPr>
              <a:t>VARCHAR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(</a:t>
            </a:r>
            <a:r>
              <a:rPr lang="es" sz="1200" u="sng">
                <a:solidFill>
                  <a:srgbClr val="C0C0C0"/>
                </a:solidFill>
                <a:highlight>
                  <a:srgbClr val="2F2F2F"/>
                </a:highlight>
              </a:rPr>
              <a:t>100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)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NOT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NULL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,</a:t>
            </a:r>
            <a:endParaRPr sz="1200" u="sng">
              <a:solidFill>
                <a:srgbClr val="CCCCCC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  </a:t>
            </a:r>
            <a:r>
              <a:rPr lang="es" sz="1200" u="sng">
                <a:solidFill>
                  <a:srgbClr val="00B8B8"/>
                </a:solidFill>
                <a:highlight>
                  <a:srgbClr val="2F2F2F"/>
                </a:highlight>
              </a:rPr>
              <a:t>email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C1AA6C"/>
                </a:solidFill>
                <a:highlight>
                  <a:srgbClr val="2F2F2F"/>
                </a:highlight>
              </a:rPr>
              <a:t>VARCHAR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(</a:t>
            </a:r>
            <a:r>
              <a:rPr lang="es" sz="1200" u="sng">
                <a:solidFill>
                  <a:srgbClr val="C0C0C0"/>
                </a:solidFill>
                <a:highlight>
                  <a:srgbClr val="2F2F2F"/>
                </a:highlight>
              </a:rPr>
              <a:t>150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)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UNIQUE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NOT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NULL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,</a:t>
            </a:r>
            <a:endParaRPr sz="1200" u="sng">
              <a:solidFill>
                <a:srgbClr val="CCCCCC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  </a:t>
            </a:r>
            <a:r>
              <a:rPr lang="es" sz="1200" u="sng">
                <a:solidFill>
                  <a:srgbClr val="00B8B8"/>
                </a:solidFill>
                <a:highlight>
                  <a:srgbClr val="2F2F2F"/>
                </a:highlight>
              </a:rPr>
              <a:t>created_at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C1AA6C"/>
                </a:solidFill>
                <a:highlight>
                  <a:srgbClr val="2F2F2F"/>
                </a:highlight>
              </a:rPr>
              <a:t>TIMESTAMP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 u="sng">
                <a:solidFill>
                  <a:srgbClr val="739ECA"/>
                </a:solidFill>
                <a:highlight>
                  <a:srgbClr val="2F2F2F"/>
                </a:highlight>
              </a:rPr>
              <a:t>DEFAULT</a:t>
            </a: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lang="es" sz="1200" u="sng">
                <a:solidFill>
                  <a:srgbClr val="B19B9B"/>
                </a:solidFill>
                <a:highlight>
                  <a:srgbClr val="2F2F2F"/>
                </a:highlight>
              </a:rPr>
              <a:t>CURRENT_TIMESTAMP</a:t>
            </a:r>
            <a:endParaRPr sz="1200" u="sng">
              <a:solidFill>
                <a:srgbClr val="B19B9B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u="sng">
                <a:solidFill>
                  <a:srgbClr val="CCCCCC"/>
                </a:solidFill>
                <a:highlight>
                  <a:srgbClr val="2F2F2F"/>
                </a:highlight>
              </a:rPr>
              <a:t>)</a:t>
            </a:r>
            <a:r>
              <a:rPr lang="es" sz="1200" u="sng">
                <a:solidFill>
                  <a:srgbClr val="EECC64"/>
                </a:solidFill>
                <a:highlight>
                  <a:srgbClr val="2F2F2F"/>
                </a:highlight>
              </a:rPr>
              <a:t>;</a:t>
            </a:r>
            <a:endParaRPr sz="1200" u="sng">
              <a:solidFill>
                <a:srgbClr val="EECC64"/>
              </a:solidFill>
              <a:highlight>
                <a:srgbClr val="2F2F2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5"/>
          <p:cNvSpPr txBox="1"/>
          <p:nvPr>
            <p:ph type="title"/>
          </p:nvPr>
        </p:nvSpPr>
        <p:spPr>
          <a:xfrm>
            <a:off x="228600" y="885960"/>
            <a:ext cx="74958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</a:pPr>
            <a:r>
              <a:rPr b="1" lang="es" sz="26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Ejemplos de consultas y gestión de datos</a:t>
            </a:r>
            <a:endParaRPr b="0" sz="2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5"/>
          <p:cNvSpPr txBox="1"/>
          <p:nvPr>
            <p:ph idx="1" type="subTitle"/>
          </p:nvPr>
        </p:nvSpPr>
        <p:spPr>
          <a:xfrm>
            <a:off x="2523960" y="3051355"/>
            <a:ext cx="63912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739ECA"/>
                </a:solidFill>
                <a:highlight>
                  <a:srgbClr val="2F2F2F"/>
                </a:highlight>
              </a:rPr>
              <a:t>INSERT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>
                <a:solidFill>
                  <a:srgbClr val="739ECA"/>
                </a:solidFill>
                <a:highlight>
                  <a:srgbClr val="2F2F2F"/>
                </a:highlight>
              </a:rPr>
              <a:t>INTO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lang="es" sz="1200" u="sng">
                <a:solidFill>
                  <a:srgbClr val="B19B9B"/>
                </a:solidFill>
                <a:highlight>
                  <a:srgbClr val="2F2F2F"/>
                </a:highlight>
              </a:rPr>
              <a:t>users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(</a:t>
            </a:r>
            <a:r>
              <a:rPr lang="es" sz="1200">
                <a:solidFill>
                  <a:srgbClr val="9E9E9E"/>
                </a:solidFill>
                <a:highlight>
                  <a:srgbClr val="2F2F2F"/>
                </a:highlight>
              </a:rPr>
              <a:t>name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, </a:t>
            </a:r>
            <a:r>
              <a:rPr lang="es" sz="1200">
                <a:solidFill>
                  <a:srgbClr val="9E9E9E"/>
                </a:solidFill>
                <a:highlight>
                  <a:srgbClr val="2F2F2F"/>
                </a:highlight>
              </a:rPr>
              <a:t>email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)</a:t>
            </a:r>
            <a:endParaRPr sz="1200">
              <a:solidFill>
                <a:srgbClr val="CCCCCC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739ECA"/>
                </a:solidFill>
                <a:highlight>
                  <a:srgbClr val="2F2F2F"/>
                </a:highlight>
              </a:rPr>
              <a:t>VALUES</a:t>
            </a:r>
            <a:endParaRPr b="1" sz="1200">
              <a:solidFill>
                <a:srgbClr val="739ECA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  (</a:t>
            </a:r>
            <a:r>
              <a:rPr lang="es" sz="1200">
                <a:solidFill>
                  <a:srgbClr val="CAC580"/>
                </a:solidFill>
                <a:highlight>
                  <a:srgbClr val="2F2F2F"/>
                </a:highlight>
              </a:rPr>
              <a:t>'Juan Pérez'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, </a:t>
            </a:r>
            <a:r>
              <a:rPr lang="es" sz="1200">
                <a:solidFill>
                  <a:srgbClr val="CAC580"/>
                </a:solidFill>
                <a:highlight>
                  <a:srgbClr val="2F2F2F"/>
                </a:highlight>
              </a:rPr>
              <a:t>'juan@example.com'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),</a:t>
            </a:r>
            <a:endParaRPr sz="1200">
              <a:solidFill>
                <a:srgbClr val="CCCCCC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  (</a:t>
            </a:r>
            <a:r>
              <a:rPr lang="es" sz="1200">
                <a:solidFill>
                  <a:srgbClr val="CAC580"/>
                </a:solidFill>
                <a:highlight>
                  <a:srgbClr val="2F2F2F"/>
                </a:highlight>
              </a:rPr>
              <a:t>'Ana Gómez'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, </a:t>
            </a:r>
            <a:r>
              <a:rPr lang="es" sz="1200">
                <a:solidFill>
                  <a:srgbClr val="CAC580"/>
                </a:solidFill>
                <a:highlight>
                  <a:srgbClr val="2F2F2F"/>
                </a:highlight>
              </a:rPr>
              <a:t>'ana@example.com'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),</a:t>
            </a:r>
            <a:endParaRPr sz="1200">
              <a:solidFill>
                <a:srgbClr val="CCCCCC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  (</a:t>
            </a:r>
            <a:r>
              <a:rPr lang="es" sz="1200">
                <a:solidFill>
                  <a:srgbClr val="CAC580"/>
                </a:solidFill>
                <a:highlight>
                  <a:srgbClr val="2F2F2F"/>
                </a:highlight>
              </a:rPr>
              <a:t>'Luis Torres'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, </a:t>
            </a:r>
            <a:r>
              <a:rPr lang="es" sz="1200">
                <a:solidFill>
                  <a:srgbClr val="CAC580"/>
                </a:solidFill>
                <a:highlight>
                  <a:srgbClr val="2F2F2F"/>
                </a:highlight>
              </a:rPr>
              <a:t>'luis@example.com'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)</a:t>
            </a:r>
            <a:r>
              <a:rPr lang="es" sz="1200">
                <a:solidFill>
                  <a:srgbClr val="EECC64"/>
                </a:solidFill>
                <a:highlight>
                  <a:srgbClr val="2F2F2F"/>
                </a:highlight>
              </a:rPr>
              <a:t>;</a:t>
            </a:r>
            <a:endParaRPr sz="1200">
              <a:solidFill>
                <a:srgbClr val="EECC64"/>
              </a:solidFill>
              <a:highlight>
                <a:srgbClr val="2F2F2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 b="1" sz="1200" u="sng">
              <a:solidFill>
                <a:srgbClr val="739ECA"/>
              </a:solidFill>
              <a:highlight>
                <a:srgbClr val="2F2F2F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6"/>
          <p:cNvSpPr txBox="1"/>
          <p:nvPr>
            <p:ph type="title"/>
          </p:nvPr>
        </p:nvSpPr>
        <p:spPr>
          <a:xfrm>
            <a:off x="228600" y="885960"/>
            <a:ext cx="7495800" cy="150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Space Grotesk"/>
              <a:buNone/>
            </a:pPr>
            <a:r>
              <a:rPr b="1" lang="es" sz="26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Ejemplos de consultas y gestión de datos</a:t>
            </a:r>
            <a:endParaRPr b="0" sz="2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6"/>
          <p:cNvSpPr txBox="1"/>
          <p:nvPr>
            <p:ph idx="1" type="subTitle"/>
          </p:nvPr>
        </p:nvSpPr>
        <p:spPr>
          <a:xfrm>
            <a:off x="2523950" y="3135802"/>
            <a:ext cx="63912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739ECA"/>
                </a:solidFill>
                <a:highlight>
                  <a:srgbClr val="2F2F2F"/>
                </a:highlight>
              </a:rPr>
              <a:t>SELECT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* </a:t>
            </a:r>
            <a:r>
              <a:rPr b="1" lang="es" sz="1200">
                <a:solidFill>
                  <a:srgbClr val="739ECA"/>
                </a:solidFill>
                <a:highlight>
                  <a:srgbClr val="2F2F2F"/>
                </a:highlight>
              </a:rPr>
              <a:t>FROM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lang="es" sz="1200" u="sng">
                <a:solidFill>
                  <a:srgbClr val="B19B9B"/>
                </a:solidFill>
                <a:highlight>
                  <a:srgbClr val="2F2F2F"/>
                </a:highlight>
              </a:rPr>
              <a:t>users</a:t>
            </a:r>
            <a:endParaRPr sz="1200" u="sng">
              <a:solidFill>
                <a:srgbClr val="B19B9B"/>
              </a:solidFill>
              <a:highlight>
                <a:srgbClr val="2F2F2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739ECA"/>
                </a:solidFill>
                <a:highlight>
                  <a:srgbClr val="2F2F2F"/>
                </a:highlight>
              </a:rPr>
              <a:t>WHERE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lang="es" sz="1200">
                <a:solidFill>
                  <a:srgbClr val="9E9E9E"/>
                </a:solidFill>
                <a:highlight>
                  <a:srgbClr val="2F2F2F"/>
                </a:highlight>
              </a:rPr>
              <a:t>email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b="1" lang="es" sz="1200">
                <a:solidFill>
                  <a:srgbClr val="739ECA"/>
                </a:solidFill>
                <a:highlight>
                  <a:srgbClr val="2F2F2F"/>
                </a:highlight>
              </a:rPr>
              <a:t>LIKE</a:t>
            </a:r>
            <a:r>
              <a:rPr lang="es" sz="1200">
                <a:solidFill>
                  <a:srgbClr val="CCCCCC"/>
                </a:solidFill>
                <a:highlight>
                  <a:srgbClr val="2F2F2F"/>
                </a:highlight>
              </a:rPr>
              <a:t> </a:t>
            </a:r>
            <a:r>
              <a:rPr lang="es" sz="1200">
                <a:solidFill>
                  <a:srgbClr val="CAC580"/>
                </a:solidFill>
                <a:highlight>
                  <a:srgbClr val="2F2F2F"/>
                </a:highlight>
              </a:rPr>
              <a:t>'%example.com'</a:t>
            </a:r>
            <a:r>
              <a:rPr lang="es" sz="1200">
                <a:solidFill>
                  <a:srgbClr val="EECC64"/>
                </a:solidFill>
                <a:highlight>
                  <a:srgbClr val="2F2F2F"/>
                </a:highlight>
              </a:rPr>
              <a:t>;</a:t>
            </a:r>
            <a:endParaRPr sz="1200">
              <a:solidFill>
                <a:srgbClr val="EECC64"/>
              </a:solidFill>
              <a:highlight>
                <a:srgbClr val="2F2F2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ind"/>
              <a:buNone/>
            </a:pPr>
            <a:r>
              <a:t/>
            </a:r>
            <a:endParaRPr b="1" sz="1200" u="sng">
              <a:solidFill>
                <a:srgbClr val="739ECA"/>
              </a:solidFill>
              <a:highlight>
                <a:srgbClr val="2F2F2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/>
          <p:nvPr>
            <p:ph type="title"/>
          </p:nvPr>
        </p:nvSpPr>
        <p:spPr>
          <a:xfrm>
            <a:off x="228600" y="666720"/>
            <a:ext cx="5619240" cy="1294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Space Grotesk"/>
              <a:buNone/>
            </a:pPr>
            <a:r>
              <a:rPr b="1" lang="es" sz="7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Gracias</a:t>
            </a:r>
            <a:r>
              <a:rPr b="1" lang="es" sz="7200" u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!</a:t>
            </a:r>
            <a:endParaRPr b="0" sz="7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7"/>
          <p:cNvSpPr txBox="1"/>
          <p:nvPr>
            <p:ph idx="1" type="subTitle"/>
          </p:nvPr>
        </p:nvSpPr>
        <p:spPr>
          <a:xfrm>
            <a:off x="228600" y="1962000"/>
            <a:ext cx="2609640" cy="104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None/>
            </a:pPr>
            <a:r>
              <a:rPr lang="es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Preguntas</a:t>
            </a:r>
            <a:r>
              <a:rPr b="0" i="0" lang="es" sz="1400" u="none" cap="none" strike="noStrike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?</a:t>
            </a:r>
            <a:endParaRPr b="0" i="0" sz="1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cxnSp>
        <p:nvCxnSpPr>
          <p:cNvPr id="221" name="Google Shape;221;p47"/>
          <p:cNvCxnSpPr/>
          <p:nvPr/>
        </p:nvCxnSpPr>
        <p:spPr>
          <a:xfrm>
            <a:off x="290520" y="3008880"/>
            <a:ext cx="2544120" cy="36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rk Theme by Slidesgo">
  <a:themeElements>
    <a:clrScheme name="Simple Light">
      <a:dk1>
        <a:srgbClr val="FFFFFF"/>
      </a:dk1>
      <a:lt1>
        <a:srgbClr val="0D0D0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