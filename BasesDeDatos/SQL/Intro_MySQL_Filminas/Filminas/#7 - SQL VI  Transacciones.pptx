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Source Code Pr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CodePro-bold.fntdata"/><Relationship Id="rId25" Type="http://schemas.openxmlformats.org/officeDocument/2006/relationships/font" Target="fonts/SourceCodePro-regular.fntdata"/><Relationship Id="rId28" Type="http://schemas.openxmlformats.org/officeDocument/2006/relationships/font" Target="fonts/SourceCodePro-boldItalic.fntdata"/><Relationship Id="rId27"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d33b448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d33b448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d33b448df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d33b448df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d33b448df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d33b448df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d33b448df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d33b448df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d33b448df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d33b448df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d33b448df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d33b448df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d33b448df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d33b448df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d33b448df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d33b448df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33b448df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33b448df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d33b448df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d33b448df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d33b448df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d33b448df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d33f52ce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d33f52ce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33b448df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33b448df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33b448df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33b448df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33b448df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33b448df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d33b448df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d33b448df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33b448df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33b448df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d33b448df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d33b448df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Transacciones</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s"/>
              <a:t>Lo que probablemente más importa de tu DB</a:t>
            </a:r>
            <a:endParaRPr/>
          </a:p>
          <a:p>
            <a:pPr indent="0" lvl="0" marL="0" rtl="0" algn="ctr">
              <a:spcBef>
                <a:spcPts val="0"/>
              </a:spcBef>
              <a:spcAft>
                <a:spcPts val="0"/>
              </a:spcAft>
              <a:buNone/>
            </a:pPr>
            <a:r>
              <a:rPr lang="es" sz="1232"/>
              <a:t>(y sin animaciones)</a:t>
            </a:r>
            <a:endParaRPr sz="1232"/>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a:t>
            </a:r>
            <a:r>
              <a:rPr lang="es"/>
              <a:t> son las transacciones?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s">
                <a:solidFill>
                  <a:schemeClr val="accent5"/>
                </a:solidFill>
              </a:rPr>
              <a:t>Una transacción es una unidad lógica de trabajo que agrupa una o más operaciones de base de datos.</a:t>
            </a:r>
            <a:endParaRPr>
              <a:solidFill>
                <a:schemeClr val="accent5"/>
              </a:solidFill>
            </a:endParaRPr>
          </a:p>
          <a:p>
            <a:pPr indent="0" lvl="0" marL="0" rtl="0" algn="l">
              <a:spcBef>
                <a:spcPts val="1200"/>
              </a:spcBef>
              <a:spcAft>
                <a:spcPts val="0"/>
              </a:spcAft>
              <a:buNone/>
            </a:pPr>
            <a:r>
              <a:rPr lang="es"/>
              <a:t>Son:</a:t>
            </a:r>
            <a:endParaRPr/>
          </a:p>
          <a:p>
            <a:pPr indent="-342900" lvl="0" marL="457200" rtl="0" algn="l">
              <a:spcBef>
                <a:spcPts val="1200"/>
              </a:spcBef>
              <a:spcAft>
                <a:spcPts val="0"/>
              </a:spcAft>
              <a:buSzPts val="1800"/>
              <a:buChar char="●"/>
            </a:pPr>
            <a:r>
              <a:rPr lang="es">
                <a:solidFill>
                  <a:schemeClr val="accent1"/>
                </a:solidFill>
              </a:rPr>
              <a:t>Indivisible</a:t>
            </a:r>
            <a:r>
              <a:rPr lang="es"/>
              <a:t>: se ejecuta completamente o no se ejecuta en absoluto.</a:t>
            </a:r>
            <a:endParaRPr/>
          </a:p>
          <a:p>
            <a:pPr indent="-342900" lvl="0" marL="457200" rtl="0" algn="l">
              <a:spcBef>
                <a:spcPts val="0"/>
              </a:spcBef>
              <a:spcAft>
                <a:spcPts val="0"/>
              </a:spcAft>
              <a:buSzPts val="1800"/>
              <a:buChar char="●"/>
            </a:pPr>
            <a:r>
              <a:rPr lang="es"/>
              <a:t>Mantiene la integridad de los datos.</a:t>
            </a:r>
            <a:endParaRPr/>
          </a:p>
          <a:p>
            <a:pPr indent="-342900" lvl="0" marL="457200" rtl="0" algn="l">
              <a:spcBef>
                <a:spcPts val="0"/>
              </a:spcBef>
              <a:spcAft>
                <a:spcPts val="0"/>
              </a:spcAft>
              <a:buSzPts val="1800"/>
              <a:buChar char="●"/>
            </a:pPr>
            <a:r>
              <a:rPr lang="es"/>
              <a:t>Garantiza la consistencia de la base de datos.</a:t>
            </a:r>
            <a:endParaRPr/>
          </a:p>
          <a:p>
            <a:pPr indent="-342900" lvl="0" marL="457200" rtl="0" algn="l">
              <a:spcBef>
                <a:spcPts val="0"/>
              </a:spcBef>
              <a:spcAft>
                <a:spcPts val="0"/>
              </a:spcAft>
              <a:buSzPts val="1800"/>
              <a:buChar char="●"/>
            </a:pPr>
            <a:r>
              <a:rPr lang="es"/>
              <a:t>Protege contra fallos del sistema.</a:t>
            </a:r>
            <a:endParaRPr/>
          </a:p>
          <a:p>
            <a:pPr indent="-342900" lvl="0" marL="457200" rtl="0" algn="l">
              <a:spcBef>
                <a:spcPts val="0"/>
              </a:spcBef>
              <a:spcAft>
                <a:spcPts val="0"/>
              </a:spcAft>
              <a:buSzPts val="1800"/>
              <a:buChar char="●"/>
            </a:pPr>
            <a:r>
              <a:rPr lang="es"/>
              <a:t>Mantiene la exactitud en operaciones concurrentes.</a:t>
            </a:r>
            <a:endParaRPr/>
          </a:p>
          <a:p>
            <a:pPr indent="-342900" lvl="0" marL="457200" rtl="0" algn="l">
              <a:spcBef>
                <a:spcPts val="0"/>
              </a:spcBef>
              <a:spcAft>
                <a:spcPts val="0"/>
              </a:spcAft>
              <a:buSzPts val="1800"/>
              <a:buChar char="●"/>
            </a:pPr>
            <a:r>
              <a:rPr lang="es"/>
              <a:t>Facilita la recuperación en caso de errores.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de </a:t>
            </a:r>
            <a:r>
              <a:rPr lang="es"/>
              <a:t>transacción</a:t>
            </a:r>
            <a:endParaRPr/>
          </a:p>
        </p:txBody>
      </p:sp>
      <p:sp>
        <p:nvSpPr>
          <p:cNvPr id="67" name="Google Shape;67;p15"/>
          <p:cNvSpPr txBox="1"/>
          <p:nvPr>
            <p:ph idx="1" type="body"/>
          </p:nvPr>
        </p:nvSpPr>
        <p:spPr>
          <a:xfrm>
            <a:off x="311700" y="1152475"/>
            <a:ext cx="4213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chemeClr val="accent1"/>
                </a:solidFill>
              </a:rPr>
              <a:t>Transferencia bancaria</a:t>
            </a:r>
            <a:endParaRPr>
              <a:solidFill>
                <a:schemeClr val="accent1"/>
              </a:solidFill>
            </a:endParaRPr>
          </a:p>
          <a:p>
            <a:pPr indent="-342900" lvl="0" marL="457200" rtl="0" algn="l">
              <a:spcBef>
                <a:spcPts val="1200"/>
              </a:spcBef>
              <a:spcAft>
                <a:spcPts val="0"/>
              </a:spcAft>
              <a:buSzPts val="1800"/>
              <a:buAutoNum type="arabicPeriod"/>
            </a:pPr>
            <a:r>
              <a:rPr lang="es"/>
              <a:t>Restar dinero de una cuenta</a:t>
            </a:r>
            <a:endParaRPr/>
          </a:p>
          <a:p>
            <a:pPr indent="-342900" lvl="0" marL="457200" rtl="0" algn="l">
              <a:spcBef>
                <a:spcPts val="0"/>
              </a:spcBef>
              <a:spcAft>
                <a:spcPts val="0"/>
              </a:spcAft>
              <a:buSzPts val="1800"/>
              <a:buAutoNum type="arabicPeriod"/>
            </a:pPr>
            <a:r>
              <a:rPr lang="es"/>
              <a:t>Sumar dinero a otra cuenta</a:t>
            </a:r>
            <a:endParaRPr/>
          </a:p>
          <a:p>
            <a:pPr indent="0" lvl="0" marL="0" rtl="0" algn="l">
              <a:spcBef>
                <a:spcPts val="1200"/>
              </a:spcBef>
              <a:spcAft>
                <a:spcPts val="0"/>
              </a:spcAft>
              <a:buNone/>
            </a:pPr>
            <a:r>
              <a:rPr lang="es"/>
              <a:t>Ambas operaciones deben completarse o ninguna debe realizarse.</a:t>
            </a:r>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4772174" y="314150"/>
            <a:ext cx="3633300" cy="4374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ACID</a:t>
            </a:r>
            <a:endParaRPr/>
          </a:p>
        </p:txBody>
      </p:sp>
      <p:sp>
        <p:nvSpPr>
          <p:cNvPr id="74" name="Google Shape;74;p16"/>
          <p:cNvSpPr txBox="1"/>
          <p:nvPr>
            <p:ph idx="1" type="body"/>
          </p:nvPr>
        </p:nvSpPr>
        <p:spPr>
          <a:xfrm>
            <a:off x="311700" y="1152475"/>
            <a:ext cx="55140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s" sz="1200">
                <a:solidFill>
                  <a:schemeClr val="accent1"/>
                </a:solidFill>
              </a:rPr>
              <a:t>Atomicidad</a:t>
            </a:r>
            <a:endParaRPr b="1" sz="1200">
              <a:solidFill>
                <a:schemeClr val="dk1"/>
              </a:solidFill>
            </a:endParaRPr>
          </a:p>
          <a:p>
            <a:pPr indent="-304800" lvl="0" marL="457200" rtl="0" algn="l">
              <a:spcBef>
                <a:spcPts val="1400"/>
              </a:spcBef>
              <a:spcAft>
                <a:spcPts val="0"/>
              </a:spcAft>
              <a:buClr>
                <a:schemeClr val="dk1"/>
              </a:buClr>
              <a:buSzPts val="1200"/>
              <a:buChar char="●"/>
            </a:pPr>
            <a:r>
              <a:rPr lang="es" sz="1200">
                <a:solidFill>
                  <a:schemeClr val="dk1"/>
                </a:solidFill>
              </a:rPr>
              <a:t>"Todo o nada": La transacción se completa totalmente o se deshace completamente.</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Ejemplo: Si falla la suma en la cuenta destino, se deshace la resta de la cuenta origen.</a:t>
            </a:r>
            <a:endParaRPr sz="1200">
              <a:solidFill>
                <a:schemeClr val="dk1"/>
              </a:solidFill>
            </a:endParaRPr>
          </a:p>
          <a:p>
            <a:pPr indent="0" lvl="0" marL="0" rtl="0" algn="l">
              <a:spcBef>
                <a:spcPts val="1400"/>
              </a:spcBef>
              <a:spcAft>
                <a:spcPts val="0"/>
              </a:spcAft>
              <a:buClr>
                <a:schemeClr val="dk1"/>
              </a:buClr>
              <a:buSzPts val="1100"/>
              <a:buFont typeface="Arial"/>
              <a:buNone/>
            </a:pPr>
            <a:r>
              <a:rPr b="1" lang="es" sz="1200">
                <a:solidFill>
                  <a:schemeClr val="accent1"/>
                </a:solidFill>
              </a:rPr>
              <a:t>Consistencia</a:t>
            </a:r>
            <a:endParaRPr b="1" sz="1200">
              <a:solidFill>
                <a:schemeClr val="accent1"/>
              </a:solidFill>
            </a:endParaRPr>
          </a:p>
          <a:p>
            <a:pPr indent="-304800" lvl="0" marL="457200" rtl="0" algn="l">
              <a:spcBef>
                <a:spcPts val="1200"/>
              </a:spcBef>
              <a:spcAft>
                <a:spcPts val="0"/>
              </a:spcAft>
              <a:buClr>
                <a:schemeClr val="dk1"/>
              </a:buClr>
              <a:buSzPts val="1200"/>
              <a:buChar char="●"/>
            </a:pPr>
            <a:r>
              <a:rPr lang="es" sz="1200">
                <a:solidFill>
                  <a:schemeClr val="dk1"/>
                </a:solidFill>
              </a:rPr>
              <a:t>La base de datos pasa de un estado válido a otro válido: Se mantienen todas las reglas de integridad.</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Ejemplo: El total de saldos antes y después de la transacción debe ser el mismo.</a:t>
            </a:r>
            <a:endParaRPr/>
          </a:p>
        </p:txBody>
      </p:sp>
      <p:pic>
        <p:nvPicPr>
          <p:cNvPr id="75" name="Google Shape;75;p16"/>
          <p:cNvPicPr preferRelativeResize="0"/>
          <p:nvPr/>
        </p:nvPicPr>
        <p:blipFill>
          <a:blip r:embed="rId3">
            <a:alphaModFix/>
          </a:blip>
          <a:stretch>
            <a:fillRect/>
          </a:stretch>
        </p:blipFill>
        <p:spPr>
          <a:xfrm>
            <a:off x="5942400" y="222513"/>
            <a:ext cx="2753543" cy="4698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ACID</a:t>
            </a:r>
            <a:endParaRPr/>
          </a:p>
        </p:txBody>
      </p:sp>
      <p:sp>
        <p:nvSpPr>
          <p:cNvPr id="81" name="Google Shape;81;p17"/>
          <p:cNvSpPr txBox="1"/>
          <p:nvPr>
            <p:ph idx="1" type="body"/>
          </p:nvPr>
        </p:nvSpPr>
        <p:spPr>
          <a:xfrm>
            <a:off x="311700" y="1152475"/>
            <a:ext cx="55140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s" sz="1200">
                <a:solidFill>
                  <a:schemeClr val="accent1"/>
                </a:solidFill>
              </a:rPr>
              <a:t>Aislamiento</a:t>
            </a:r>
            <a:endParaRPr b="1" sz="1200">
              <a:solidFill>
                <a:schemeClr val="accent1"/>
              </a:solidFill>
            </a:endParaRPr>
          </a:p>
          <a:p>
            <a:pPr indent="-304800" lvl="0" marL="457200" rtl="0" algn="l">
              <a:spcBef>
                <a:spcPts val="1200"/>
              </a:spcBef>
              <a:spcAft>
                <a:spcPts val="0"/>
              </a:spcAft>
              <a:buClr>
                <a:schemeClr val="dk1"/>
              </a:buClr>
              <a:buSzPts val="1200"/>
              <a:buChar char="●"/>
            </a:pPr>
            <a:r>
              <a:rPr lang="es" sz="1200">
                <a:solidFill>
                  <a:schemeClr val="dk1"/>
                </a:solidFill>
              </a:rPr>
              <a:t>Las transacciones se ejecutan de forma aislada unas de otras.</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Los efectos intermedios de una transacción no son visibles para otras transacciones.</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Niveles de aislamiento: Read Uncommitted, Read Committed, Repeatable Read, Serializable.</a:t>
            </a:r>
            <a:endParaRPr sz="1200">
              <a:solidFill>
                <a:schemeClr val="dk1"/>
              </a:solidFill>
            </a:endParaRPr>
          </a:p>
          <a:p>
            <a:pPr indent="0" lvl="0" marL="0" rtl="0" algn="l">
              <a:spcBef>
                <a:spcPts val="1400"/>
              </a:spcBef>
              <a:spcAft>
                <a:spcPts val="0"/>
              </a:spcAft>
              <a:buNone/>
            </a:pPr>
            <a:r>
              <a:rPr b="1" lang="es" sz="1200">
                <a:solidFill>
                  <a:schemeClr val="accent1"/>
                </a:solidFill>
              </a:rPr>
              <a:t>Durabilidad</a:t>
            </a:r>
            <a:endParaRPr b="1" sz="1200">
              <a:solidFill>
                <a:schemeClr val="accent1"/>
              </a:solidFill>
            </a:endParaRPr>
          </a:p>
          <a:p>
            <a:pPr indent="-304800" lvl="0" marL="457200" rtl="0" algn="l">
              <a:spcBef>
                <a:spcPts val="1200"/>
              </a:spcBef>
              <a:spcAft>
                <a:spcPts val="0"/>
              </a:spcAft>
              <a:buClr>
                <a:schemeClr val="dk1"/>
              </a:buClr>
              <a:buSzPts val="1200"/>
              <a:buChar char="●"/>
            </a:pPr>
            <a:r>
              <a:rPr lang="es" sz="1200">
                <a:solidFill>
                  <a:schemeClr val="dk1"/>
                </a:solidFill>
              </a:rPr>
              <a:t>Una vez que una transacción se ha completado, sus efectos son permanentes.</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Los cambios persisten incluso en caso de fallos del sistema.</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Se implementa típicamente mediante logs de transacciones.</a:t>
            </a:r>
            <a:endParaRPr sz="1200">
              <a:solidFill>
                <a:schemeClr val="dk1"/>
              </a:solidFill>
            </a:endParaRPr>
          </a:p>
          <a:p>
            <a:pPr indent="0" lvl="0" marL="0" rtl="0" algn="l">
              <a:spcBef>
                <a:spcPts val="1200"/>
              </a:spcBef>
              <a:spcAft>
                <a:spcPts val="1200"/>
              </a:spcAft>
              <a:buNone/>
            </a:pPr>
            <a:r>
              <a:t/>
            </a:r>
            <a:endParaRPr/>
          </a:p>
        </p:txBody>
      </p:sp>
      <p:pic>
        <p:nvPicPr>
          <p:cNvPr id="82" name="Google Shape;82;p17"/>
          <p:cNvPicPr preferRelativeResize="0"/>
          <p:nvPr/>
        </p:nvPicPr>
        <p:blipFill>
          <a:blip r:embed="rId3">
            <a:alphaModFix/>
          </a:blip>
          <a:stretch>
            <a:fillRect/>
          </a:stretch>
        </p:blipFill>
        <p:spPr>
          <a:xfrm>
            <a:off x="5942400" y="222513"/>
            <a:ext cx="2753543" cy="4698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p:cNvPicPr preferRelativeResize="0"/>
          <p:nvPr/>
        </p:nvPicPr>
        <p:blipFill>
          <a:blip r:embed="rId3">
            <a:alphaModFix/>
          </a:blip>
          <a:stretch>
            <a:fillRect/>
          </a:stretch>
        </p:blipFill>
        <p:spPr>
          <a:xfrm>
            <a:off x="5581322" y="629175"/>
            <a:ext cx="3327178" cy="3746350"/>
          </a:xfrm>
          <a:prstGeom prst="rect">
            <a:avLst/>
          </a:prstGeom>
          <a:noFill/>
          <a:ln>
            <a:noFill/>
          </a:ln>
        </p:spPr>
      </p:pic>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Estados de una Transacción</a:t>
            </a:r>
            <a:endParaRPr/>
          </a:p>
        </p:txBody>
      </p:sp>
      <p:sp>
        <p:nvSpPr>
          <p:cNvPr id="89" name="Google Shape;89;p18"/>
          <p:cNvSpPr txBox="1"/>
          <p:nvPr>
            <p:ph idx="1" type="body"/>
          </p:nvPr>
        </p:nvSpPr>
        <p:spPr>
          <a:xfrm>
            <a:off x="311700" y="1152475"/>
            <a:ext cx="6137700" cy="34164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1200"/>
              </a:spcBef>
              <a:spcAft>
                <a:spcPts val="0"/>
              </a:spcAft>
              <a:buClr>
                <a:schemeClr val="accent1"/>
              </a:buClr>
              <a:buSzPct val="100000"/>
              <a:buAutoNum type="arabicPeriod"/>
            </a:pPr>
            <a:r>
              <a:rPr b="1" lang="es" sz="1200">
                <a:solidFill>
                  <a:schemeClr val="accent1"/>
                </a:solidFill>
              </a:rPr>
              <a:t>Activa</a:t>
            </a:r>
            <a:endParaRPr b="1" sz="1200">
              <a:solidFill>
                <a:schemeClr val="accent1"/>
              </a:solidFill>
            </a:endParaRPr>
          </a:p>
          <a:p>
            <a:pPr indent="-299085" lvl="1" marL="914400" rtl="0" algn="l">
              <a:spcBef>
                <a:spcPts val="0"/>
              </a:spcBef>
              <a:spcAft>
                <a:spcPts val="0"/>
              </a:spcAft>
              <a:buClr>
                <a:schemeClr val="dk1"/>
              </a:buClr>
              <a:buSzPct val="100000"/>
              <a:buChar char="○"/>
            </a:pPr>
            <a:r>
              <a:rPr lang="es" sz="1200">
                <a:solidFill>
                  <a:schemeClr val="dk1"/>
                </a:solidFill>
              </a:rPr>
              <a:t>La transacción ha comenzado pero aún está en ejecución.</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Las operaciones de lectura y escritura se están realizando.</a:t>
            </a:r>
            <a:endParaRPr sz="1200">
              <a:solidFill>
                <a:schemeClr val="dk1"/>
              </a:solidFill>
            </a:endParaRPr>
          </a:p>
          <a:p>
            <a:pPr indent="-299085" lvl="0" marL="457200" rtl="0" algn="l">
              <a:spcBef>
                <a:spcPts val="0"/>
              </a:spcBef>
              <a:spcAft>
                <a:spcPts val="0"/>
              </a:spcAft>
              <a:buClr>
                <a:schemeClr val="accent1"/>
              </a:buClr>
              <a:buSzPct val="100000"/>
              <a:buAutoNum type="arabicPeriod"/>
            </a:pPr>
            <a:r>
              <a:rPr b="1" lang="es" sz="1200">
                <a:solidFill>
                  <a:schemeClr val="accent1"/>
                </a:solidFill>
              </a:rPr>
              <a:t>Parcialmente confirmada</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Todas las operaciones se han ejecutado, pero los cambios aún no se han guardado permanentemente.</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Estado justo antes de la confirmación (commit).</a:t>
            </a:r>
            <a:endParaRPr sz="1200">
              <a:solidFill>
                <a:schemeClr val="dk1"/>
              </a:solidFill>
            </a:endParaRPr>
          </a:p>
          <a:p>
            <a:pPr indent="-299085" lvl="0" marL="457200" rtl="0" algn="l">
              <a:spcBef>
                <a:spcPts val="0"/>
              </a:spcBef>
              <a:spcAft>
                <a:spcPts val="0"/>
              </a:spcAft>
              <a:buClr>
                <a:schemeClr val="accent1"/>
              </a:buClr>
              <a:buSzPct val="100000"/>
              <a:buAutoNum type="arabicPeriod"/>
            </a:pPr>
            <a:r>
              <a:rPr b="1" lang="es" sz="1200">
                <a:solidFill>
                  <a:schemeClr val="accent1"/>
                </a:solidFill>
              </a:rPr>
              <a:t>Fallida</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Se ha producido un error y la transacción no puede continuar su ejecución normal.</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Puede deberse a errores lógicos, del sistema, o violaciones de integridad.</a:t>
            </a:r>
            <a:endParaRPr sz="1200">
              <a:solidFill>
                <a:schemeClr val="dk1"/>
              </a:solidFill>
            </a:endParaRPr>
          </a:p>
          <a:p>
            <a:pPr indent="-299085" lvl="0" marL="457200" rtl="0" algn="l">
              <a:spcBef>
                <a:spcPts val="0"/>
              </a:spcBef>
              <a:spcAft>
                <a:spcPts val="0"/>
              </a:spcAft>
              <a:buClr>
                <a:schemeClr val="accent1"/>
              </a:buClr>
              <a:buSzPct val="100000"/>
              <a:buAutoNum type="arabicPeriod"/>
            </a:pPr>
            <a:r>
              <a:rPr b="1" lang="es" sz="1200">
                <a:solidFill>
                  <a:schemeClr val="accent1"/>
                </a:solidFill>
              </a:rPr>
              <a:t>Abortada</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La transacción ha sido rollback (deshecha).</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Todos los cambios realizados por la transacción se han deshecho.</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La base de datos vuelve al estado anterior al inicio de la transacción.</a:t>
            </a:r>
            <a:endParaRPr sz="1200">
              <a:solidFill>
                <a:schemeClr val="dk1"/>
              </a:solidFill>
            </a:endParaRPr>
          </a:p>
          <a:p>
            <a:pPr indent="-299085" lvl="0" marL="457200" rtl="0" algn="l">
              <a:spcBef>
                <a:spcPts val="0"/>
              </a:spcBef>
              <a:spcAft>
                <a:spcPts val="0"/>
              </a:spcAft>
              <a:buClr>
                <a:schemeClr val="accent1"/>
              </a:buClr>
              <a:buSzPct val="100000"/>
              <a:buAutoNum type="arabicPeriod"/>
            </a:pPr>
            <a:r>
              <a:rPr b="1" lang="es" sz="1200">
                <a:solidFill>
                  <a:schemeClr val="accent1"/>
                </a:solidFill>
              </a:rPr>
              <a:t>Confirmada</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La transacción se ha completado con éxito.</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Todos los cambios se han guardado permanentemente en la base de datos.</a:t>
            </a:r>
            <a:endParaRPr sz="1200">
              <a:solidFill>
                <a:schemeClr val="dk1"/>
              </a:solidFill>
            </a:endParaRPr>
          </a:p>
          <a:p>
            <a:pPr indent="-299085" lvl="1" marL="914400" rtl="0" algn="l">
              <a:spcBef>
                <a:spcPts val="0"/>
              </a:spcBef>
              <a:spcAft>
                <a:spcPts val="0"/>
              </a:spcAft>
              <a:buClr>
                <a:schemeClr val="dk1"/>
              </a:buClr>
              <a:buSzPct val="100000"/>
              <a:buChar char="○"/>
            </a:pPr>
            <a:r>
              <a:rPr lang="es" sz="1200">
                <a:solidFill>
                  <a:schemeClr val="dk1"/>
                </a:solidFill>
              </a:rPr>
              <a:t>No se puede deshacer a partir de este punto.</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Ejemplos de transacciones</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Se confirma con </a:t>
            </a:r>
            <a:r>
              <a:rPr b="1" lang="es" sz="1600">
                <a:solidFill>
                  <a:schemeClr val="accent1"/>
                </a:solidFill>
                <a:latin typeface="Source Code Pro"/>
                <a:ea typeface="Source Code Pro"/>
                <a:cs typeface="Source Code Pro"/>
                <a:sym typeface="Source Code Pro"/>
              </a:rPr>
              <a:t>COMMIT</a:t>
            </a:r>
            <a:endParaRPr b="1" sz="1600">
              <a:solidFill>
                <a:schemeClr val="accent1"/>
              </a:solidFill>
              <a:latin typeface="Source Code Pro"/>
              <a:ea typeface="Source Code Pro"/>
              <a:cs typeface="Source Code Pro"/>
              <a:sym typeface="Source Code Pro"/>
            </a:endParaRPr>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es" sz="1600"/>
              <a:t>Se aborta con </a:t>
            </a:r>
            <a:r>
              <a:rPr b="1" lang="es" sz="1600">
                <a:solidFill>
                  <a:schemeClr val="accent1"/>
                </a:solidFill>
                <a:latin typeface="Source Code Pro"/>
                <a:ea typeface="Source Code Pro"/>
                <a:cs typeface="Source Code Pro"/>
                <a:sym typeface="Source Code Pro"/>
              </a:rPr>
              <a:t>ROLLBACK</a:t>
            </a:r>
            <a:endParaRPr sz="1600"/>
          </a:p>
        </p:txBody>
      </p:sp>
      <p:pic>
        <p:nvPicPr>
          <p:cNvPr id="96" name="Google Shape;96;p19"/>
          <p:cNvPicPr preferRelativeResize="0"/>
          <p:nvPr/>
        </p:nvPicPr>
        <p:blipFill>
          <a:blip r:embed="rId3">
            <a:alphaModFix/>
          </a:blip>
          <a:stretch>
            <a:fillRect/>
          </a:stretch>
        </p:blipFill>
        <p:spPr>
          <a:xfrm>
            <a:off x="871538" y="1554163"/>
            <a:ext cx="7515225" cy="1362075"/>
          </a:xfrm>
          <a:prstGeom prst="rect">
            <a:avLst/>
          </a:prstGeom>
          <a:noFill/>
          <a:ln>
            <a:noFill/>
          </a:ln>
        </p:spPr>
      </p:pic>
      <p:pic>
        <p:nvPicPr>
          <p:cNvPr id="97" name="Google Shape;97;p19"/>
          <p:cNvPicPr preferRelativeResize="0"/>
          <p:nvPr/>
        </p:nvPicPr>
        <p:blipFill>
          <a:blip r:embed="rId4">
            <a:alphaModFix/>
          </a:blip>
          <a:stretch>
            <a:fillRect/>
          </a:stretch>
        </p:blipFill>
        <p:spPr>
          <a:xfrm>
            <a:off x="852475" y="3278188"/>
            <a:ext cx="7439025" cy="1571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0"/>
          <p:cNvPicPr preferRelativeResize="0"/>
          <p:nvPr/>
        </p:nvPicPr>
        <p:blipFill>
          <a:blip r:embed="rId3">
            <a:alphaModFix/>
          </a:blip>
          <a:stretch>
            <a:fillRect/>
          </a:stretch>
        </p:blipFill>
        <p:spPr>
          <a:xfrm>
            <a:off x="3572925" y="1103450"/>
            <a:ext cx="5411775" cy="2872825"/>
          </a:xfrm>
          <a:prstGeom prst="rect">
            <a:avLst/>
          </a:prstGeom>
          <a:noFill/>
          <a:ln>
            <a:noFill/>
          </a:ln>
        </p:spPr>
      </p:pic>
      <p:sp>
        <p:nvSpPr>
          <p:cNvPr id="103" name="Google Shape;103;p20"/>
          <p:cNvSpPr txBox="1"/>
          <p:nvPr>
            <p:ph type="title"/>
          </p:nvPr>
        </p:nvSpPr>
        <p:spPr>
          <a:xfrm>
            <a:off x="311700" y="4259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Clr>
                <a:schemeClr val="dk1"/>
              </a:buClr>
              <a:buSzPct val="61111"/>
              <a:buFont typeface="Arial"/>
              <a:buNone/>
            </a:pPr>
            <a:r>
              <a:rPr lang="es" sz="1800">
                <a:solidFill>
                  <a:schemeClr val="dk2"/>
                </a:solidFill>
              </a:rPr>
              <a:t>Tipos de Transacciones</a:t>
            </a:r>
            <a:endParaRPr/>
          </a:p>
        </p:txBody>
      </p:sp>
      <p:sp>
        <p:nvSpPr>
          <p:cNvPr id="104" name="Google Shape;104;p20"/>
          <p:cNvSpPr txBox="1"/>
          <p:nvPr>
            <p:ph idx="1" type="body"/>
          </p:nvPr>
        </p:nvSpPr>
        <p:spPr>
          <a:xfrm>
            <a:off x="311700" y="951050"/>
            <a:ext cx="3448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400">
                <a:solidFill>
                  <a:schemeClr val="accent1"/>
                </a:solidFill>
              </a:rPr>
              <a:t>Planas</a:t>
            </a:r>
            <a:endParaRPr sz="1400"/>
          </a:p>
          <a:p>
            <a:pPr indent="-317500" lvl="0" marL="457200" rtl="0" algn="l">
              <a:spcBef>
                <a:spcPts val="1200"/>
              </a:spcBef>
              <a:spcAft>
                <a:spcPts val="0"/>
              </a:spcAft>
              <a:buSzPts val="1400"/>
              <a:buChar char="●"/>
            </a:pPr>
            <a:r>
              <a:rPr lang="es" sz="1400"/>
              <a:t>La forma más simple de transacción.</a:t>
            </a:r>
            <a:endParaRPr sz="1400"/>
          </a:p>
          <a:p>
            <a:pPr indent="-317500" lvl="0" marL="457200" rtl="0" algn="l">
              <a:spcBef>
                <a:spcPts val="0"/>
              </a:spcBef>
              <a:spcAft>
                <a:spcPts val="0"/>
              </a:spcAft>
              <a:buSzPts val="1400"/>
              <a:buChar char="●"/>
            </a:pPr>
            <a:r>
              <a:rPr lang="es" sz="1400"/>
              <a:t>Consiste en una secuencia de operaciones tratadas como una única unidad.</a:t>
            </a:r>
            <a:endParaRPr sz="1400"/>
          </a:p>
          <a:p>
            <a:pPr indent="-317500" lvl="0" marL="457200" rtl="0" algn="l">
              <a:spcBef>
                <a:spcPts val="0"/>
              </a:spcBef>
              <a:spcAft>
                <a:spcPts val="0"/>
              </a:spcAft>
              <a:buSzPts val="1400"/>
              <a:buChar char="●"/>
            </a:pPr>
            <a:r>
              <a:rPr lang="es" sz="1400"/>
              <a:t>Se ejecuta completamente o se deshace completamente.</a:t>
            </a:r>
            <a:endParaRPr sz="1400"/>
          </a:p>
          <a:p>
            <a:pPr indent="0" lvl="0" marL="0" marR="0" rtl="0" algn="l">
              <a:lnSpc>
                <a:spcPct val="115000"/>
              </a:lnSpc>
              <a:spcBef>
                <a:spcPts val="1200"/>
              </a:spcBef>
              <a:spcAft>
                <a:spcPts val="0"/>
              </a:spcAft>
              <a:buNone/>
            </a:pPr>
            <a:r>
              <a:rPr lang="es" sz="1400">
                <a:solidFill>
                  <a:schemeClr val="accent1"/>
                </a:solidFill>
              </a:rPr>
              <a:t>Anidadas</a:t>
            </a:r>
            <a:endParaRPr sz="1400">
              <a:solidFill>
                <a:schemeClr val="accent1"/>
              </a:solidFill>
            </a:endParaRPr>
          </a:p>
          <a:p>
            <a:pPr indent="0" lvl="0" marL="0" marR="0" rtl="0" algn="l">
              <a:lnSpc>
                <a:spcPct val="115000"/>
              </a:lnSpc>
              <a:spcBef>
                <a:spcPts val="1200"/>
              </a:spcBef>
              <a:spcAft>
                <a:spcPts val="1200"/>
              </a:spcAft>
              <a:buNone/>
            </a:pPr>
            <a:r>
              <a:rPr lang="es" sz="1400">
                <a:solidFill>
                  <a:schemeClr val="accent1"/>
                </a:solidFill>
              </a:rPr>
              <a:t>Distribuidas</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2597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800">
                <a:solidFill>
                  <a:schemeClr val="dk2"/>
                </a:solidFill>
              </a:rPr>
              <a:t>Tipos de Transacciones</a:t>
            </a:r>
            <a:endParaRPr/>
          </a:p>
        </p:txBody>
      </p:sp>
      <p:sp>
        <p:nvSpPr>
          <p:cNvPr id="110" name="Google Shape;110;p21"/>
          <p:cNvSpPr txBox="1"/>
          <p:nvPr>
            <p:ph idx="1" type="body"/>
          </p:nvPr>
        </p:nvSpPr>
        <p:spPr>
          <a:xfrm>
            <a:off x="311700" y="951050"/>
            <a:ext cx="3448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sz="1400">
                <a:solidFill>
                  <a:schemeClr val="accent1"/>
                </a:solidFill>
              </a:rPr>
              <a:t>Planas</a:t>
            </a:r>
            <a:endParaRPr sz="1400"/>
          </a:p>
          <a:p>
            <a:pPr indent="0" lvl="0" marL="0" marR="0" rtl="0" algn="l">
              <a:lnSpc>
                <a:spcPct val="115000"/>
              </a:lnSpc>
              <a:spcBef>
                <a:spcPts val="1200"/>
              </a:spcBef>
              <a:spcAft>
                <a:spcPts val="0"/>
              </a:spcAft>
              <a:buNone/>
            </a:pPr>
            <a:r>
              <a:rPr lang="es" sz="1400">
                <a:solidFill>
                  <a:schemeClr val="accent1"/>
                </a:solidFill>
              </a:rPr>
              <a:t>Anidadas</a:t>
            </a:r>
            <a:endParaRPr sz="1400">
              <a:solidFill>
                <a:schemeClr val="accent1"/>
              </a:solidFill>
            </a:endParaRPr>
          </a:p>
          <a:p>
            <a:pPr indent="-304165" lvl="0" marL="457200" rtl="0" algn="l">
              <a:spcBef>
                <a:spcPts val="1200"/>
              </a:spcBef>
              <a:spcAft>
                <a:spcPts val="0"/>
              </a:spcAft>
              <a:buSzPct val="100000"/>
              <a:buChar char="●"/>
            </a:pPr>
            <a:r>
              <a:rPr lang="es" sz="1400"/>
              <a:t>Contiene subtransacciones dentro de una transacción principal.</a:t>
            </a:r>
            <a:endParaRPr sz="1400"/>
          </a:p>
          <a:p>
            <a:pPr indent="-304165" lvl="0" marL="457200" rtl="0" algn="l">
              <a:spcBef>
                <a:spcPts val="0"/>
              </a:spcBef>
              <a:spcAft>
                <a:spcPts val="0"/>
              </a:spcAft>
              <a:buSzPct val="100000"/>
              <a:buChar char="●"/>
            </a:pPr>
            <a:r>
              <a:rPr lang="es" sz="1400"/>
              <a:t>En el ejemplo, se muestra un proceso de compra con tres pasos: actualizar inventario, procesar pago y registrar envío.</a:t>
            </a:r>
            <a:endParaRPr sz="1400"/>
          </a:p>
          <a:p>
            <a:pPr indent="-304165" lvl="0" marL="457200" rtl="0" algn="l">
              <a:spcBef>
                <a:spcPts val="0"/>
              </a:spcBef>
              <a:spcAft>
                <a:spcPts val="0"/>
              </a:spcAft>
              <a:buSzPct val="100000"/>
              <a:buChar char="●"/>
            </a:pPr>
            <a:r>
              <a:rPr lang="es" sz="1400"/>
              <a:t>Cada paso es una subtransacción (marcada con </a:t>
            </a:r>
            <a:r>
              <a:rPr b="1" lang="es" sz="1400">
                <a:solidFill>
                  <a:schemeClr val="accent1"/>
                </a:solidFill>
                <a:latin typeface="Source Code Pro"/>
                <a:ea typeface="Source Code Pro"/>
                <a:cs typeface="Source Code Pro"/>
                <a:sym typeface="Source Code Pro"/>
              </a:rPr>
              <a:t>SAVEPOINT</a:t>
            </a:r>
            <a:r>
              <a:rPr lang="es" sz="1400"/>
              <a:t>).</a:t>
            </a:r>
            <a:endParaRPr sz="1400"/>
          </a:p>
          <a:p>
            <a:pPr indent="-304165" lvl="0" marL="457200" rtl="0" algn="l">
              <a:spcBef>
                <a:spcPts val="0"/>
              </a:spcBef>
              <a:spcAft>
                <a:spcPts val="0"/>
              </a:spcAft>
              <a:buSzPct val="100000"/>
              <a:buChar char="●"/>
            </a:pPr>
            <a:r>
              <a:rPr lang="es" sz="1400"/>
              <a:t>Permite un control más granular: si falla un paso, se puede deshacer solo ese paso sin afectar a los demás.</a:t>
            </a:r>
            <a:endParaRPr sz="1400"/>
          </a:p>
          <a:p>
            <a:pPr indent="-304165" lvl="0" marL="457200" rtl="0" algn="l">
              <a:spcBef>
                <a:spcPts val="0"/>
              </a:spcBef>
              <a:spcAft>
                <a:spcPts val="0"/>
              </a:spcAft>
              <a:buSzPct val="100000"/>
              <a:buChar char="●"/>
            </a:pPr>
            <a:r>
              <a:rPr lang="es" sz="1400"/>
              <a:t>Se puede volver </a:t>
            </a:r>
            <a:r>
              <a:rPr lang="es" sz="1400"/>
              <a:t>atrás</a:t>
            </a:r>
            <a:r>
              <a:rPr lang="es" sz="1400"/>
              <a:t> a un savepoint con </a:t>
            </a:r>
            <a:r>
              <a:rPr b="1" lang="es" sz="1400">
                <a:solidFill>
                  <a:schemeClr val="accent1"/>
                </a:solidFill>
                <a:latin typeface="Source Code Pro"/>
                <a:ea typeface="Source Code Pro"/>
                <a:cs typeface="Source Code Pro"/>
                <a:sym typeface="Source Code Pro"/>
              </a:rPr>
              <a:t>ROLLBACK TO &lt;SAVEPOINT&gt;</a:t>
            </a:r>
            <a:endParaRPr sz="1400"/>
          </a:p>
          <a:p>
            <a:pPr indent="0" lvl="0" marL="0" marR="0" rtl="0" algn="l">
              <a:lnSpc>
                <a:spcPct val="115000"/>
              </a:lnSpc>
              <a:spcBef>
                <a:spcPts val="1200"/>
              </a:spcBef>
              <a:spcAft>
                <a:spcPts val="1200"/>
              </a:spcAft>
              <a:buNone/>
            </a:pPr>
            <a:r>
              <a:rPr lang="es" sz="1400">
                <a:solidFill>
                  <a:schemeClr val="accent1"/>
                </a:solidFill>
              </a:rPr>
              <a:t>Distribuidas</a:t>
            </a:r>
            <a:endParaRPr sz="1400"/>
          </a:p>
        </p:txBody>
      </p:sp>
      <p:pic>
        <p:nvPicPr>
          <p:cNvPr id="111" name="Google Shape;111;p21"/>
          <p:cNvPicPr preferRelativeResize="0"/>
          <p:nvPr/>
        </p:nvPicPr>
        <p:blipFill>
          <a:blip r:embed="rId3">
            <a:alphaModFix/>
          </a:blip>
          <a:stretch>
            <a:fillRect/>
          </a:stretch>
        </p:blipFill>
        <p:spPr>
          <a:xfrm>
            <a:off x="3874200" y="1398725"/>
            <a:ext cx="5079299" cy="2650833"/>
          </a:xfrm>
          <a:prstGeom prst="rect">
            <a:avLst/>
          </a:prstGeom>
          <a:noFill/>
          <a:ln>
            <a:noFill/>
          </a:ln>
        </p:spPr>
      </p:pic>
      <p:sp>
        <p:nvSpPr>
          <p:cNvPr id="112" name="Google Shape;112;p21"/>
          <p:cNvSpPr txBox="1"/>
          <p:nvPr/>
        </p:nvSpPr>
        <p:spPr>
          <a:xfrm>
            <a:off x="4379150" y="4224900"/>
            <a:ext cx="4333800" cy="7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Ejemplo:</a:t>
            </a:r>
            <a:endParaRPr sz="1800">
              <a:solidFill>
                <a:schemeClr val="dk1"/>
              </a:solidFill>
            </a:endParaRPr>
          </a:p>
          <a:p>
            <a:pPr indent="0" lvl="0" marL="0" rtl="0" algn="l">
              <a:spcBef>
                <a:spcPts val="0"/>
              </a:spcBef>
              <a:spcAft>
                <a:spcPts val="0"/>
              </a:spcAft>
              <a:buNone/>
            </a:pPr>
            <a:r>
              <a:rPr b="1" lang="es" sz="1800">
                <a:solidFill>
                  <a:schemeClr val="accent1"/>
                </a:solidFill>
                <a:latin typeface="Source Code Pro"/>
                <a:ea typeface="Source Code Pro"/>
                <a:cs typeface="Source Code Pro"/>
                <a:sym typeface="Source Code Pro"/>
              </a:rPr>
              <a:t>    ROLLBACK TO procesar_pago;</a:t>
            </a:r>
            <a:endParaRPr b="1" sz="1800">
              <a:solidFill>
                <a:schemeClr val="accent1"/>
              </a:solidFill>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2597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800">
                <a:solidFill>
                  <a:schemeClr val="dk2"/>
                </a:solidFill>
              </a:rPr>
              <a:t>Tipos de Transacciones</a:t>
            </a:r>
            <a:endParaRPr/>
          </a:p>
        </p:txBody>
      </p:sp>
      <p:sp>
        <p:nvSpPr>
          <p:cNvPr id="118" name="Google Shape;118;p22"/>
          <p:cNvSpPr txBox="1"/>
          <p:nvPr>
            <p:ph idx="1" type="body"/>
          </p:nvPr>
        </p:nvSpPr>
        <p:spPr>
          <a:xfrm>
            <a:off x="311700" y="951050"/>
            <a:ext cx="3448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sz="1400">
                <a:solidFill>
                  <a:schemeClr val="accent1"/>
                </a:solidFill>
              </a:rPr>
              <a:t>Planas</a:t>
            </a:r>
            <a:endParaRPr sz="1400"/>
          </a:p>
          <a:p>
            <a:pPr indent="0" lvl="0" marL="0" marR="0" rtl="0" algn="l">
              <a:lnSpc>
                <a:spcPct val="115000"/>
              </a:lnSpc>
              <a:spcBef>
                <a:spcPts val="1200"/>
              </a:spcBef>
              <a:spcAft>
                <a:spcPts val="0"/>
              </a:spcAft>
              <a:buNone/>
            </a:pPr>
            <a:r>
              <a:rPr lang="es" sz="1400">
                <a:solidFill>
                  <a:schemeClr val="accent1"/>
                </a:solidFill>
              </a:rPr>
              <a:t>Anidadas</a:t>
            </a:r>
            <a:endParaRPr sz="1400"/>
          </a:p>
          <a:p>
            <a:pPr indent="0" lvl="0" marL="0" marR="0" rtl="0" algn="l">
              <a:lnSpc>
                <a:spcPct val="115000"/>
              </a:lnSpc>
              <a:spcBef>
                <a:spcPts val="1200"/>
              </a:spcBef>
              <a:spcAft>
                <a:spcPts val="0"/>
              </a:spcAft>
              <a:buNone/>
            </a:pPr>
            <a:r>
              <a:rPr lang="es" sz="1400">
                <a:solidFill>
                  <a:schemeClr val="accent1"/>
                </a:solidFill>
              </a:rPr>
              <a:t>Distribuidas</a:t>
            </a:r>
            <a:endParaRPr sz="1400">
              <a:solidFill>
                <a:schemeClr val="accent1"/>
              </a:solidFill>
            </a:endParaRPr>
          </a:p>
          <a:p>
            <a:pPr indent="-304165" lvl="0" marL="457200" marR="0" rtl="0" algn="l">
              <a:lnSpc>
                <a:spcPct val="115000"/>
              </a:lnSpc>
              <a:spcBef>
                <a:spcPts val="1200"/>
              </a:spcBef>
              <a:spcAft>
                <a:spcPts val="0"/>
              </a:spcAft>
              <a:buSzPct val="100000"/>
              <a:buChar char="●"/>
            </a:pPr>
            <a:r>
              <a:rPr lang="es" sz="1400"/>
              <a:t>Involucra operaciones en múltiples bases de datos o sistemas.</a:t>
            </a:r>
            <a:endParaRPr sz="1400"/>
          </a:p>
          <a:p>
            <a:pPr indent="-304165" lvl="0" marL="457200" marR="0" rtl="0" algn="l">
              <a:lnSpc>
                <a:spcPct val="115000"/>
              </a:lnSpc>
              <a:spcBef>
                <a:spcPts val="0"/>
              </a:spcBef>
              <a:spcAft>
                <a:spcPts val="0"/>
              </a:spcAft>
              <a:buSzPct val="100000"/>
              <a:buChar char="●"/>
            </a:pPr>
            <a:r>
              <a:rPr lang="es" sz="1400"/>
              <a:t>El ejemplo muestra una reserva de vuelo y hotel en sistemas separados.</a:t>
            </a:r>
            <a:endParaRPr sz="1400"/>
          </a:p>
          <a:p>
            <a:pPr indent="-304165" lvl="0" marL="457200" marR="0" rtl="0" algn="l">
              <a:lnSpc>
                <a:spcPct val="115000"/>
              </a:lnSpc>
              <a:spcBef>
                <a:spcPts val="0"/>
              </a:spcBef>
              <a:spcAft>
                <a:spcPts val="0"/>
              </a:spcAft>
              <a:buSzPct val="100000"/>
              <a:buChar char="●"/>
            </a:pPr>
            <a:r>
              <a:rPr lang="es" sz="1400"/>
              <a:t>Requiere un coordinador de transacciones distribuidas para asegurar que ambas partes se completen o se deshagan juntas.</a:t>
            </a:r>
            <a:endParaRPr sz="1400"/>
          </a:p>
          <a:p>
            <a:pPr indent="-304165" lvl="0" marL="457200" marR="0" rtl="0" algn="l">
              <a:lnSpc>
                <a:spcPct val="115000"/>
              </a:lnSpc>
              <a:spcBef>
                <a:spcPts val="0"/>
              </a:spcBef>
              <a:spcAft>
                <a:spcPts val="0"/>
              </a:spcAft>
              <a:buSzPct val="100000"/>
              <a:buChar char="●"/>
            </a:pPr>
            <a:r>
              <a:rPr lang="es" sz="1400"/>
              <a:t>Es más compleja de implementar y gestionar debido a la necesidad de coordinación entre sistemas.</a:t>
            </a:r>
            <a:endParaRPr sz="1400">
              <a:solidFill>
                <a:schemeClr val="accent1"/>
              </a:solidFill>
            </a:endParaRPr>
          </a:p>
          <a:p>
            <a:pPr indent="0" lvl="0" marL="0" marR="0" rtl="0" algn="l">
              <a:lnSpc>
                <a:spcPct val="115000"/>
              </a:lnSpc>
              <a:spcBef>
                <a:spcPts val="1200"/>
              </a:spcBef>
              <a:spcAft>
                <a:spcPts val="1200"/>
              </a:spcAft>
              <a:buNone/>
            </a:pPr>
            <a:r>
              <a:t/>
            </a:r>
            <a:endParaRPr sz="1400">
              <a:solidFill>
                <a:schemeClr val="accent1"/>
              </a:solidFill>
            </a:endParaRPr>
          </a:p>
        </p:txBody>
      </p:sp>
      <p:sp>
        <p:nvSpPr>
          <p:cNvPr id="119" name="Google Shape;119;p22"/>
          <p:cNvSpPr txBox="1"/>
          <p:nvPr/>
        </p:nvSpPr>
        <p:spPr>
          <a:xfrm>
            <a:off x="4204050" y="951050"/>
            <a:ext cx="430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rgbClr val="980000"/>
                </a:solidFill>
              </a:rPr>
              <a:t>ESTO ES PSEUDOCÓDIGO</a:t>
            </a:r>
            <a:endParaRPr b="1" sz="1800">
              <a:solidFill>
                <a:srgbClr val="980000"/>
              </a:solidFill>
            </a:endParaRPr>
          </a:p>
        </p:txBody>
      </p:sp>
      <p:pic>
        <p:nvPicPr>
          <p:cNvPr id="120" name="Google Shape;120;p22"/>
          <p:cNvPicPr preferRelativeResize="0"/>
          <p:nvPr/>
        </p:nvPicPr>
        <p:blipFill>
          <a:blip r:embed="rId3">
            <a:alphaModFix/>
          </a:blip>
          <a:stretch>
            <a:fillRect/>
          </a:stretch>
        </p:blipFill>
        <p:spPr>
          <a:xfrm>
            <a:off x="3817050" y="1436825"/>
            <a:ext cx="5079301" cy="28663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OJO!</a:t>
            </a:r>
            <a:endParaRPr/>
          </a:p>
        </p:txBody>
      </p:sp>
      <p:sp>
        <p:nvSpPr>
          <p:cNvPr id="126" name="Google Shape;12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SzPts val="1800"/>
              <a:buChar char="●"/>
            </a:pPr>
            <a:r>
              <a:rPr lang="es"/>
              <a:t>Las bases de datos distribuidas no suelen ser ACID, sino</a:t>
            </a:r>
            <a:r>
              <a:rPr b="1" lang="es">
                <a:solidFill>
                  <a:schemeClr val="accent1"/>
                </a:solidFill>
              </a:rPr>
              <a:t> BASE</a:t>
            </a:r>
            <a:r>
              <a:rPr lang="es"/>
              <a:t> (Estudienlo lo necesitan por el laburo).</a:t>
            </a:r>
            <a:endParaRPr/>
          </a:p>
          <a:p>
            <a:pPr indent="-342900" lvl="0" marL="457200" rtl="0" algn="l">
              <a:lnSpc>
                <a:spcPct val="100000"/>
              </a:lnSpc>
              <a:spcBef>
                <a:spcPts val="0"/>
              </a:spcBef>
              <a:spcAft>
                <a:spcPts val="0"/>
              </a:spcAft>
              <a:buSzPts val="1800"/>
              <a:buChar char="●"/>
            </a:pPr>
            <a:r>
              <a:rPr lang="es"/>
              <a:t>También lean </a:t>
            </a:r>
            <a:r>
              <a:rPr b="1" lang="es">
                <a:solidFill>
                  <a:schemeClr val="accent1"/>
                </a:solidFill>
              </a:rPr>
              <a:t>Teorema CAP</a:t>
            </a:r>
            <a:r>
              <a:rPr lang="es"/>
              <a:t>.</a:t>
            </a:r>
            <a:endParaRPr/>
          </a:p>
        </p:txBody>
      </p:sp>
      <p:pic>
        <p:nvPicPr>
          <p:cNvPr id="127" name="Google Shape;127;p23"/>
          <p:cNvPicPr preferRelativeResize="0"/>
          <p:nvPr/>
        </p:nvPicPr>
        <p:blipFill>
          <a:blip r:embed="rId3">
            <a:alphaModFix/>
          </a:blip>
          <a:stretch>
            <a:fillRect/>
          </a:stretch>
        </p:blipFill>
        <p:spPr>
          <a:xfrm>
            <a:off x="2231463" y="2215125"/>
            <a:ext cx="4681075" cy="2633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s"/>
              <a:t>Problemas de Concurrencia</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1200"/>
              </a:spcBef>
              <a:spcAft>
                <a:spcPts val="0"/>
              </a:spcAft>
              <a:buClr>
                <a:schemeClr val="dk1"/>
              </a:buClr>
              <a:buSzPts val="1600"/>
              <a:buAutoNum type="arabicPeriod"/>
            </a:pPr>
            <a:r>
              <a:rPr b="1" lang="es" sz="1600">
                <a:solidFill>
                  <a:schemeClr val="dk1"/>
                </a:solidFill>
              </a:rPr>
              <a:t>Lectura Sucia (Dirty Read)</a:t>
            </a:r>
            <a:endParaRPr b="1" sz="1600">
              <a:solidFill>
                <a:schemeClr val="dk1"/>
              </a:solidFill>
            </a:endParaRPr>
          </a:p>
          <a:p>
            <a:pPr indent="-330200" lvl="1" marL="914400" rtl="0" algn="l">
              <a:spcBef>
                <a:spcPts val="0"/>
              </a:spcBef>
              <a:spcAft>
                <a:spcPts val="0"/>
              </a:spcAft>
              <a:buClr>
                <a:schemeClr val="dk1"/>
              </a:buClr>
              <a:buSzPts val="1600"/>
              <a:buChar char="○"/>
            </a:pPr>
            <a:r>
              <a:rPr lang="es" sz="1600">
                <a:solidFill>
                  <a:schemeClr val="dk1"/>
                </a:solidFill>
              </a:rPr>
              <a:t>Una transacción lee datos que no han sido confirmados por otra transacción.</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es" sz="1600">
                <a:solidFill>
                  <a:schemeClr val="dk1"/>
                </a:solidFill>
              </a:rPr>
              <a:t>Lectura No Repetible (Non-Repeatable Read)</a:t>
            </a:r>
            <a:endParaRPr b="1" sz="1600">
              <a:solidFill>
                <a:schemeClr val="dk1"/>
              </a:solidFill>
            </a:endParaRPr>
          </a:p>
          <a:p>
            <a:pPr indent="-330200" lvl="1" marL="914400" rtl="0" algn="l">
              <a:spcBef>
                <a:spcPts val="0"/>
              </a:spcBef>
              <a:spcAft>
                <a:spcPts val="0"/>
              </a:spcAft>
              <a:buClr>
                <a:schemeClr val="dk1"/>
              </a:buClr>
              <a:buSzPts val="1600"/>
              <a:buChar char="○"/>
            </a:pPr>
            <a:r>
              <a:rPr lang="es" sz="1600">
                <a:solidFill>
                  <a:schemeClr val="dk1"/>
                </a:solidFill>
              </a:rPr>
              <a:t>Una transacción lee los mismos datos dos veces y obtiene valores diferentes.</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es" sz="1600">
                <a:solidFill>
                  <a:schemeClr val="dk1"/>
                </a:solidFill>
              </a:rPr>
              <a:t>Lectura Fantasma (Phantom Read)</a:t>
            </a:r>
            <a:endParaRPr b="1" sz="1600">
              <a:solidFill>
                <a:schemeClr val="dk1"/>
              </a:solidFill>
            </a:endParaRPr>
          </a:p>
          <a:p>
            <a:pPr indent="-330200" lvl="1" marL="914400" rtl="0" algn="l">
              <a:spcBef>
                <a:spcPts val="0"/>
              </a:spcBef>
              <a:spcAft>
                <a:spcPts val="0"/>
              </a:spcAft>
              <a:buClr>
                <a:schemeClr val="dk1"/>
              </a:buClr>
              <a:buSzPts val="1600"/>
              <a:buChar char="○"/>
            </a:pPr>
            <a:r>
              <a:rPr lang="es" sz="1600">
                <a:solidFill>
                  <a:schemeClr val="dk1"/>
                </a:solidFill>
              </a:rPr>
              <a:t>Una transacción re-ejecuta una consulta y obtiene un conjunto diferente de filas.</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1200"/>
              </a:spcAft>
              <a:buNone/>
            </a:pPr>
            <a:r>
              <a:rPr lang="es" sz="2300">
                <a:solidFill>
                  <a:srgbClr val="980000"/>
                </a:solidFill>
              </a:rPr>
              <a:t>OJO: en todos los caso dice “</a:t>
            </a:r>
            <a:r>
              <a:rPr b="1" lang="es" sz="2300">
                <a:solidFill>
                  <a:srgbClr val="980000"/>
                </a:solidFill>
              </a:rPr>
              <a:t>una T</a:t>
            </a:r>
            <a:r>
              <a:rPr b="1" lang="es" sz="2300">
                <a:solidFill>
                  <a:srgbClr val="980000"/>
                </a:solidFill>
              </a:rPr>
              <a:t>ra</a:t>
            </a:r>
            <a:r>
              <a:rPr b="1" lang="es">
                <a:solidFill>
                  <a:srgbClr val="980000"/>
                </a:solidFill>
              </a:rPr>
              <a:t>nsacción</a:t>
            </a:r>
            <a:r>
              <a:rPr lang="es">
                <a:solidFill>
                  <a:srgbClr val="980000"/>
                </a:solidFill>
              </a:rPr>
              <a:t>”, no dice “una consulta”</a:t>
            </a:r>
            <a:endParaRPr>
              <a:solidFill>
                <a:srgbClr val="98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s"/>
              <a:t>Problemas de Concurrencia</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39" name="Google Shape;139;p25"/>
          <p:cNvSpPr txBox="1"/>
          <p:nvPr>
            <p:ph idx="1" type="body"/>
          </p:nvPr>
        </p:nvSpPr>
        <p:spPr>
          <a:xfrm>
            <a:off x="311700" y="1152475"/>
            <a:ext cx="4260300" cy="14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900">
                <a:solidFill>
                  <a:schemeClr val="dk1"/>
                </a:solidFill>
              </a:rPr>
              <a:t>Lectura Fantasma:</a:t>
            </a:r>
            <a:r>
              <a:rPr lang="es" sz="900">
                <a:solidFill>
                  <a:schemeClr val="dk1"/>
                </a:solidFill>
              </a:rPr>
              <a:t> El Último Croissant</a:t>
            </a:r>
            <a:endParaRPr sz="900">
              <a:solidFill>
                <a:schemeClr val="dk1"/>
              </a:solidFill>
            </a:endParaRPr>
          </a:p>
          <a:p>
            <a:pPr indent="-285750" lvl="0" marL="457200" rtl="0" algn="l">
              <a:spcBef>
                <a:spcPts val="1200"/>
              </a:spcBef>
              <a:spcAft>
                <a:spcPts val="0"/>
              </a:spcAft>
              <a:buClr>
                <a:schemeClr val="dk1"/>
              </a:buClr>
              <a:buSzPts val="900"/>
              <a:buChar char="●"/>
            </a:pPr>
            <a:r>
              <a:rPr lang="es" sz="900">
                <a:solidFill>
                  <a:schemeClr val="dk1"/>
                </a:solidFill>
              </a:rPr>
              <a:t>Alice ve el croissant pero se distrae con su teléfono</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Bob ve el croissant y lo compra inmediatamente</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Alice intenta comprar el croissant que ya no está</a:t>
            </a:r>
            <a:endParaRPr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Problema:</a:t>
            </a:r>
            <a:r>
              <a:rPr lang="es" sz="900">
                <a:solidFill>
                  <a:schemeClr val="dk1"/>
                </a:solidFill>
              </a:rPr>
              <a:t> Alice vio datos que cambiaron antes de que pudiera actuar sobre ellos</a:t>
            </a:r>
            <a:endParaRPr sz="900">
              <a:solidFill>
                <a:schemeClr val="dk1"/>
              </a:solidFill>
            </a:endParaRPr>
          </a:p>
          <a:p>
            <a:pPr indent="0" lvl="0" marL="0" rtl="0" algn="l">
              <a:spcBef>
                <a:spcPts val="1200"/>
              </a:spcBef>
              <a:spcAft>
                <a:spcPts val="0"/>
              </a:spcAft>
              <a:buClr>
                <a:schemeClr val="dk1"/>
              </a:buClr>
              <a:buSzPts val="1100"/>
              <a:buFont typeface="Arial"/>
              <a:buNone/>
            </a:pPr>
            <a:r>
              <a:t/>
            </a:r>
            <a:endParaRPr sz="1600">
              <a:solidFill>
                <a:schemeClr val="dk1"/>
              </a:solidFill>
            </a:endParaRPr>
          </a:p>
          <a:p>
            <a:pPr indent="0" lvl="0" marL="0" rtl="0" algn="l">
              <a:spcBef>
                <a:spcPts val="1200"/>
              </a:spcBef>
              <a:spcAft>
                <a:spcPts val="1200"/>
              </a:spcAft>
              <a:buNone/>
            </a:pPr>
            <a:r>
              <a:t/>
            </a:r>
            <a:endParaRPr b="1" sz="1600">
              <a:solidFill>
                <a:schemeClr val="dk1"/>
              </a:solidFill>
            </a:endParaRPr>
          </a:p>
        </p:txBody>
      </p:sp>
      <p:sp>
        <p:nvSpPr>
          <p:cNvPr id="140" name="Google Shape;140;p25"/>
          <p:cNvSpPr txBox="1"/>
          <p:nvPr>
            <p:ph idx="1" type="body"/>
          </p:nvPr>
        </p:nvSpPr>
        <p:spPr>
          <a:xfrm>
            <a:off x="4346300" y="1222975"/>
            <a:ext cx="4426500" cy="16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900">
                <a:solidFill>
                  <a:schemeClr val="dk1"/>
                </a:solidFill>
              </a:rPr>
              <a:t>Lectura Sucia: El Croissant en Oferta</a:t>
            </a:r>
            <a:endParaRPr sz="900">
              <a:solidFill>
                <a:schemeClr val="dk1"/>
              </a:solidFill>
            </a:endParaRPr>
          </a:p>
          <a:p>
            <a:pPr indent="-285750" lvl="0" marL="457200" rtl="0" algn="l">
              <a:spcBef>
                <a:spcPts val="1200"/>
              </a:spcBef>
              <a:spcAft>
                <a:spcPts val="0"/>
              </a:spcAft>
              <a:buClr>
                <a:schemeClr val="dk1"/>
              </a:buClr>
              <a:buSzPts val="900"/>
              <a:buChar char="●"/>
            </a:pPr>
            <a:r>
              <a:rPr lang="es" sz="900">
                <a:solidFill>
                  <a:schemeClr val="dk1"/>
                </a:solidFill>
              </a:rPr>
              <a:t>Sophie está actualizando precios en el sistema</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Cambia temporalmente el precio de 5 a 4 euros</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Alice ve el precio de 4 euros y compra rápidamente</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Sophie revierte el cambio de precio</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Bob entra y ve el precio normal de 5 euros</a:t>
            </a:r>
            <a:endParaRPr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Problema:</a:t>
            </a:r>
            <a:r>
              <a:rPr lang="es" sz="900">
                <a:solidFill>
                  <a:schemeClr val="dk1"/>
                </a:solidFill>
              </a:rPr>
              <a:t> Alice actúa sobre datos no confirmados (lectura sucia)m Confusión entre Alice y Bob sobre el precio real</a:t>
            </a:r>
            <a:endParaRPr sz="900">
              <a:solidFill>
                <a:schemeClr val="dk1"/>
              </a:solidFill>
            </a:endParaRPr>
          </a:p>
          <a:p>
            <a:pPr indent="0" lvl="0" marL="0" rtl="0" algn="l">
              <a:spcBef>
                <a:spcPts val="1200"/>
              </a:spcBef>
              <a:spcAft>
                <a:spcPts val="1200"/>
              </a:spcAft>
              <a:buNone/>
            </a:pPr>
            <a:r>
              <a:t/>
            </a:r>
            <a:endParaRPr b="1" sz="900">
              <a:solidFill>
                <a:schemeClr val="dk1"/>
              </a:solidFill>
            </a:endParaRPr>
          </a:p>
        </p:txBody>
      </p:sp>
      <p:sp>
        <p:nvSpPr>
          <p:cNvPr id="141" name="Google Shape;141;p25"/>
          <p:cNvSpPr txBox="1"/>
          <p:nvPr>
            <p:ph idx="1" type="body"/>
          </p:nvPr>
        </p:nvSpPr>
        <p:spPr>
          <a:xfrm>
            <a:off x="1943825" y="3144975"/>
            <a:ext cx="4260300" cy="16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900">
                <a:solidFill>
                  <a:schemeClr val="dk1"/>
                </a:solidFill>
              </a:rPr>
              <a:t>Lectura No Repetible: El Croissant Cambiante</a:t>
            </a:r>
            <a:endParaRPr b="1" sz="900">
              <a:solidFill>
                <a:schemeClr val="dk1"/>
              </a:solidFill>
            </a:endParaRPr>
          </a:p>
          <a:p>
            <a:pPr indent="-285750" lvl="0" marL="457200" rtl="0" algn="l">
              <a:spcBef>
                <a:spcPts val="1200"/>
              </a:spcBef>
              <a:spcAft>
                <a:spcPts val="0"/>
              </a:spcAft>
              <a:buClr>
                <a:schemeClr val="dk1"/>
              </a:buClr>
              <a:buSzPts val="900"/>
              <a:buChar char="●"/>
            </a:pPr>
            <a:r>
              <a:rPr lang="es" sz="900">
                <a:solidFill>
                  <a:schemeClr val="dk1"/>
                </a:solidFill>
              </a:rPr>
              <a:t>Sophie implementa un sistema de precios dinámicos</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El precio cambia según la demanda</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Alice ve el precio de 5 euros y decide volver en 10 minutos</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El sistema actualiza el precio a 6 euros debido a la demanda</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Alice regresa y se sorprende por el nuevo precio</a:t>
            </a:r>
            <a:endParaRPr b="1"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 Problema: </a:t>
            </a:r>
            <a:r>
              <a:rPr lang="es" sz="900">
                <a:solidFill>
                  <a:schemeClr val="dk1"/>
                </a:solidFill>
              </a:rPr>
              <a:t>Alice experimenta una "lectura no repetible"</a:t>
            </a:r>
            <a:endParaRPr sz="900">
              <a:solidFill>
                <a:schemeClr val="dk1"/>
              </a:solidFill>
            </a:endParaRPr>
          </a:p>
          <a:p>
            <a:pPr indent="0" lvl="0" marL="0" rtl="0" algn="l">
              <a:spcBef>
                <a:spcPts val="1200"/>
              </a:spcBef>
              <a:spcAft>
                <a:spcPts val="0"/>
              </a:spcAft>
              <a:buNone/>
            </a:pPr>
            <a:r>
              <a:t/>
            </a:r>
            <a:endParaRPr b="1" sz="9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1200"/>
              </a:spcAft>
              <a:buNone/>
            </a:pPr>
            <a:r>
              <a:t/>
            </a:r>
            <a:endParaRPr b="1"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Niveles de aislamiento </a:t>
            </a:r>
            <a:r>
              <a:rPr lang="es" sz="1355"/>
              <a:t>(No todas andan en todas los rbdms)</a:t>
            </a:r>
            <a:endParaRPr sz="1355"/>
          </a:p>
        </p:txBody>
      </p:sp>
      <p:sp>
        <p:nvSpPr>
          <p:cNvPr id="147" name="Google Shape;147;p26"/>
          <p:cNvSpPr txBox="1"/>
          <p:nvPr>
            <p:ph idx="1" type="body"/>
          </p:nvPr>
        </p:nvSpPr>
        <p:spPr>
          <a:xfrm>
            <a:off x="311700" y="1152475"/>
            <a:ext cx="8520600" cy="36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400">
                <a:solidFill>
                  <a:schemeClr val="accent1"/>
                </a:solidFill>
              </a:rPr>
              <a:t>Read uncommitted isolation:</a:t>
            </a:r>
            <a:r>
              <a:rPr b="1" lang="es" sz="1400"/>
              <a:t> </a:t>
            </a:r>
            <a:r>
              <a:rPr lang="es" sz="1400"/>
              <a:t>Permite leer los datos que están siendo modificados por otras transacciones, incluso si éstas no han terminado o confirmado sus cambios. </a:t>
            </a:r>
            <a:endParaRPr sz="1400"/>
          </a:p>
          <a:p>
            <a:pPr indent="0" lvl="0" marL="0" rtl="0" algn="l">
              <a:spcBef>
                <a:spcPts val="1200"/>
              </a:spcBef>
              <a:spcAft>
                <a:spcPts val="0"/>
              </a:spcAft>
              <a:buClr>
                <a:schemeClr val="dk1"/>
              </a:buClr>
              <a:buSzPts val="1100"/>
              <a:buFont typeface="Arial"/>
              <a:buNone/>
            </a:pPr>
            <a:r>
              <a:rPr b="1" lang="es" sz="1400">
                <a:solidFill>
                  <a:schemeClr val="accent1"/>
                </a:solidFill>
              </a:rPr>
              <a:t>Read committed isolation:</a:t>
            </a:r>
            <a:r>
              <a:rPr lang="es" sz="1400"/>
              <a:t> Impide leer los datos que están siendo modificados por otras transacciones hasta que éstas terminen y confirmen sus cambios. </a:t>
            </a:r>
            <a:endParaRPr sz="1400"/>
          </a:p>
          <a:p>
            <a:pPr indent="0" lvl="0" marL="0" rtl="0" algn="l">
              <a:spcBef>
                <a:spcPts val="1200"/>
              </a:spcBef>
              <a:spcAft>
                <a:spcPts val="0"/>
              </a:spcAft>
              <a:buNone/>
            </a:pPr>
            <a:r>
              <a:rPr b="1" lang="es" sz="1400">
                <a:solidFill>
                  <a:schemeClr val="accent1"/>
                </a:solidFill>
              </a:rPr>
              <a:t>Read committed snapshot isolation (RCSI):</a:t>
            </a:r>
            <a:r>
              <a:rPr b="1" lang="es" sz="1400"/>
              <a:t> </a:t>
            </a:r>
            <a:r>
              <a:rPr lang="es" sz="1400"/>
              <a:t>Es, simplemente, una variación de Read Committed que en vez de generar bloqueos genera snapshots. Los snapshots son la versión original de los datos modificados, se almacenan en tempdb mientras dure la transacción bloqueante. </a:t>
            </a:r>
            <a:endParaRPr sz="1400"/>
          </a:p>
          <a:p>
            <a:pPr indent="0" lvl="0" marL="0" rtl="0" algn="l">
              <a:spcBef>
                <a:spcPts val="1200"/>
              </a:spcBef>
              <a:spcAft>
                <a:spcPts val="0"/>
              </a:spcAft>
              <a:buNone/>
            </a:pPr>
            <a:r>
              <a:rPr b="1" lang="es" sz="1400">
                <a:solidFill>
                  <a:schemeClr val="accent1"/>
                </a:solidFill>
              </a:rPr>
              <a:t>Repeatable read isolation</a:t>
            </a:r>
            <a:r>
              <a:rPr b="1" lang="es" sz="1400"/>
              <a:t>: </a:t>
            </a:r>
            <a:r>
              <a:rPr lang="es" sz="1400"/>
              <a:t>Este nivel garantiza que si una transacción lee un registro, nadie podrá modificarlo hasta que la transacción termine. </a:t>
            </a:r>
            <a:endParaRPr sz="1400"/>
          </a:p>
          <a:p>
            <a:pPr indent="0" lvl="0" marL="0" rtl="0" algn="l">
              <a:spcBef>
                <a:spcPts val="1200"/>
              </a:spcBef>
              <a:spcAft>
                <a:spcPts val="0"/>
              </a:spcAft>
              <a:buNone/>
            </a:pPr>
            <a:r>
              <a:rPr b="1" lang="es" sz="1400">
                <a:solidFill>
                  <a:schemeClr val="accent1"/>
                </a:solidFill>
              </a:rPr>
              <a:t>Serializable isolation</a:t>
            </a:r>
            <a:r>
              <a:rPr b="1" lang="es" sz="1400"/>
              <a:t>: </a:t>
            </a:r>
            <a:r>
              <a:rPr lang="es" sz="1400"/>
              <a:t>Impide cualquier modificación concurrente de los datos que lee una transacción. </a:t>
            </a:r>
            <a:endParaRPr sz="1400"/>
          </a:p>
          <a:p>
            <a:pPr indent="0" lvl="0" marL="0" rtl="0" algn="l">
              <a:spcBef>
                <a:spcPts val="1200"/>
              </a:spcBef>
              <a:spcAft>
                <a:spcPts val="1200"/>
              </a:spcAft>
              <a:buNone/>
            </a:pPr>
            <a:r>
              <a:rPr b="1" lang="es" sz="1400">
                <a:solidFill>
                  <a:schemeClr val="accent1"/>
                </a:solidFill>
              </a:rPr>
              <a:t>Snapshot isolation:</a:t>
            </a:r>
            <a:r>
              <a:rPr b="1" lang="es" sz="1400"/>
              <a:t> </a:t>
            </a:r>
            <a:r>
              <a:rPr lang="es" sz="1400"/>
              <a:t>Este nivel permite leer los datos tal y como estaban al inicio de la transacción.</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Niveles de aislamiento </a:t>
            </a:r>
            <a:r>
              <a:rPr lang="es" sz="1355"/>
              <a:t>(No todas andan en todas los rbdms)</a:t>
            </a:r>
            <a:endParaRPr sz="1355"/>
          </a:p>
        </p:txBody>
      </p:sp>
      <p:pic>
        <p:nvPicPr>
          <p:cNvPr id="153" name="Google Shape;153;p27"/>
          <p:cNvPicPr preferRelativeResize="0"/>
          <p:nvPr/>
        </p:nvPicPr>
        <p:blipFill>
          <a:blip r:embed="rId3">
            <a:alphaModFix/>
          </a:blip>
          <a:stretch>
            <a:fillRect/>
          </a:stretch>
        </p:blipFill>
        <p:spPr>
          <a:xfrm>
            <a:off x="2033588" y="1343025"/>
            <a:ext cx="5076825" cy="1371600"/>
          </a:xfrm>
          <a:prstGeom prst="rect">
            <a:avLst/>
          </a:prstGeom>
          <a:noFill/>
          <a:ln>
            <a:noFill/>
          </a:ln>
        </p:spPr>
      </p:pic>
      <p:pic>
        <p:nvPicPr>
          <p:cNvPr id="154" name="Google Shape;154;p27"/>
          <p:cNvPicPr preferRelativeResize="0"/>
          <p:nvPr/>
        </p:nvPicPr>
        <p:blipFill>
          <a:blip r:embed="rId4">
            <a:alphaModFix/>
          </a:blip>
          <a:stretch>
            <a:fillRect/>
          </a:stretch>
        </p:blipFill>
        <p:spPr>
          <a:xfrm>
            <a:off x="142875" y="3190875"/>
            <a:ext cx="8839200" cy="98001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Niveles de aislamiento - MySQL</a:t>
            </a:r>
            <a:endParaRPr/>
          </a:p>
        </p:txBody>
      </p:sp>
      <p:sp>
        <p:nvSpPr>
          <p:cNvPr id="160" name="Google Shape;160;p28"/>
          <p:cNvSpPr txBox="1"/>
          <p:nvPr>
            <p:ph idx="1" type="body"/>
          </p:nvPr>
        </p:nvSpPr>
        <p:spPr>
          <a:xfrm>
            <a:off x="311700" y="1152475"/>
            <a:ext cx="8520600" cy="2324700"/>
          </a:xfrm>
          <a:prstGeom prst="rect">
            <a:avLst/>
          </a:prstGeom>
          <a:solidFill>
            <a:schemeClr val="lt2"/>
          </a:solidFill>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rgbClr val="0077AA"/>
                </a:solidFill>
                <a:latin typeface="Courier New"/>
                <a:ea typeface="Courier New"/>
                <a:cs typeface="Courier New"/>
                <a:sym typeface="Courier New"/>
              </a:rPr>
              <a:t>SET</a:t>
            </a:r>
            <a:r>
              <a:rPr lang="es" sz="1400">
                <a:solidFill>
                  <a:schemeClr val="dk1"/>
                </a:solidFill>
                <a:latin typeface="Courier New"/>
                <a:ea typeface="Courier New"/>
                <a:cs typeface="Courier New"/>
                <a:sym typeface="Courier New"/>
              </a:rPr>
              <a:t> </a:t>
            </a:r>
            <a:r>
              <a:rPr lang="es" sz="1400">
                <a:solidFill>
                  <a:srgbClr val="999999"/>
                </a:solidFill>
                <a:latin typeface="Courier New"/>
                <a:ea typeface="Courier New"/>
                <a:cs typeface="Courier New"/>
                <a:sym typeface="Courier New"/>
              </a:rPr>
              <a:t>[</a:t>
            </a:r>
            <a:r>
              <a:rPr lang="es" sz="1400">
                <a:solidFill>
                  <a:srgbClr val="0077AA"/>
                </a:solidFill>
                <a:latin typeface="Courier New"/>
                <a:ea typeface="Courier New"/>
                <a:cs typeface="Courier New"/>
                <a:sym typeface="Courier New"/>
              </a:rPr>
              <a:t>GLOBAL</a:t>
            </a:r>
            <a:r>
              <a:rPr lang="es" sz="1400">
                <a:solidFill>
                  <a:schemeClr val="dk1"/>
                </a:solidFill>
                <a:latin typeface="Courier New"/>
                <a:ea typeface="Courier New"/>
                <a:cs typeface="Courier New"/>
                <a:sym typeface="Courier New"/>
              </a:rPr>
              <a:t> </a:t>
            </a:r>
            <a:r>
              <a:rPr lang="es" sz="1400">
                <a:solidFill>
                  <a:srgbClr val="A67F5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SESSION</a:t>
            </a:r>
            <a:r>
              <a:rPr lang="es" sz="1400">
                <a:solidFill>
                  <a:srgbClr val="99999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TRANSACTION</a:t>
            </a:r>
            <a:endParaRPr sz="140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s" sz="1400">
                <a:solidFill>
                  <a:schemeClr val="dk1"/>
                </a:solidFill>
                <a:latin typeface="Courier New"/>
                <a:ea typeface="Courier New"/>
                <a:cs typeface="Courier New"/>
                <a:sym typeface="Courier New"/>
              </a:rPr>
              <a:t>    </a:t>
            </a:r>
            <a:r>
              <a:rPr i="1" lang="es" sz="1400">
                <a:solidFill>
                  <a:schemeClr val="dk1"/>
                </a:solidFill>
                <a:latin typeface="Courier New"/>
                <a:ea typeface="Courier New"/>
                <a:cs typeface="Courier New"/>
                <a:sym typeface="Courier New"/>
              </a:rPr>
              <a:t>transaction_characteristic</a:t>
            </a:r>
            <a:r>
              <a:rPr lang="es" sz="1400">
                <a:solidFill>
                  <a:schemeClr val="dk1"/>
                </a:solidFill>
                <a:latin typeface="Courier New"/>
                <a:ea typeface="Courier New"/>
                <a:cs typeface="Courier New"/>
                <a:sym typeface="Courier New"/>
              </a:rPr>
              <a:t> </a:t>
            </a:r>
            <a:r>
              <a:rPr lang="es" sz="1400">
                <a:solidFill>
                  <a:srgbClr val="99999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i="1" lang="es" sz="1400">
                <a:solidFill>
                  <a:schemeClr val="dk1"/>
                </a:solidFill>
                <a:latin typeface="Courier New"/>
                <a:ea typeface="Courier New"/>
                <a:cs typeface="Courier New"/>
                <a:sym typeface="Courier New"/>
              </a:rPr>
              <a:t>transaction_characteristic</a:t>
            </a:r>
            <a:r>
              <a:rPr lang="es" sz="1400">
                <a:solidFill>
                  <a:srgbClr val="99999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999999"/>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0" rtl="0" algn="l">
              <a:spcBef>
                <a:spcPts val="1200"/>
              </a:spcBef>
              <a:spcAft>
                <a:spcPts val="0"/>
              </a:spcAft>
              <a:buNone/>
            </a:pPr>
            <a:r>
              <a:t/>
            </a:r>
            <a:endParaRPr sz="1400">
              <a:solidFill>
                <a:schemeClr val="dk1"/>
              </a:solidFill>
              <a:latin typeface="Courier New"/>
              <a:ea typeface="Courier New"/>
              <a:cs typeface="Courier New"/>
              <a:sym typeface="Courier New"/>
            </a:endParaRPr>
          </a:p>
          <a:p>
            <a:pPr indent="0" lvl="0" marL="0" rtl="0" algn="l">
              <a:spcBef>
                <a:spcPts val="1200"/>
              </a:spcBef>
              <a:spcAft>
                <a:spcPts val="0"/>
              </a:spcAft>
              <a:buNone/>
            </a:pPr>
            <a:r>
              <a:rPr i="1" lang="es" sz="1400">
                <a:solidFill>
                  <a:schemeClr val="dk1"/>
                </a:solidFill>
                <a:latin typeface="Courier New"/>
                <a:ea typeface="Courier New"/>
                <a:cs typeface="Courier New"/>
                <a:sym typeface="Courier New"/>
              </a:rPr>
              <a:t>transaction_characteristic</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ISOLATION</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LEVEL</a:t>
            </a:r>
            <a:r>
              <a:rPr lang="es" sz="1400">
                <a:solidFill>
                  <a:schemeClr val="dk1"/>
                </a:solidFill>
                <a:latin typeface="Courier New"/>
                <a:ea typeface="Courier New"/>
                <a:cs typeface="Courier New"/>
                <a:sym typeface="Courier New"/>
              </a:rPr>
              <a:t> </a:t>
            </a:r>
            <a:r>
              <a:rPr i="1" lang="es" sz="1400">
                <a:solidFill>
                  <a:schemeClr val="dk1"/>
                </a:solidFill>
                <a:latin typeface="Courier New"/>
                <a:ea typeface="Courier New"/>
                <a:cs typeface="Courier New"/>
                <a:sym typeface="Courier New"/>
              </a:rPr>
              <a:t>level</a:t>
            </a:r>
            <a:r>
              <a:rPr lang="es" sz="1400">
                <a:solidFill>
                  <a:schemeClr val="dk1"/>
                </a:solidFill>
                <a:latin typeface="Courier New"/>
                <a:ea typeface="Courier New"/>
                <a:cs typeface="Courier New"/>
                <a:sym typeface="Courier New"/>
              </a:rPr>
              <a:t> </a:t>
            </a:r>
            <a:r>
              <a:rPr lang="es" sz="1400">
                <a:solidFill>
                  <a:srgbClr val="A67F5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i="1" lang="es" sz="1400">
                <a:solidFill>
                  <a:schemeClr val="dk1"/>
                </a:solidFill>
                <a:latin typeface="Courier New"/>
                <a:ea typeface="Courier New"/>
                <a:cs typeface="Courier New"/>
                <a:sym typeface="Courier New"/>
              </a:rPr>
              <a:t>access_mode</a:t>
            </a:r>
            <a:r>
              <a:rPr lang="es" sz="1400">
                <a:solidFill>
                  <a:schemeClr val="dk1"/>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0" rtl="0" algn="l">
              <a:spcBef>
                <a:spcPts val="1200"/>
              </a:spcBef>
              <a:spcAft>
                <a:spcPts val="0"/>
              </a:spcAft>
              <a:buNone/>
            </a:pPr>
            <a:r>
              <a:rPr i="1" lang="es" sz="1400">
                <a:solidFill>
                  <a:schemeClr val="dk1"/>
                </a:solidFill>
                <a:latin typeface="Courier New"/>
                <a:ea typeface="Courier New"/>
                <a:cs typeface="Courier New"/>
                <a:sym typeface="Courier New"/>
              </a:rPr>
              <a:t>level</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REPEATABLE</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READ</a:t>
            </a:r>
            <a:r>
              <a:rPr lang="es" sz="1400">
                <a:solidFill>
                  <a:schemeClr val="dk1"/>
                </a:solidFill>
                <a:latin typeface="Courier New"/>
                <a:ea typeface="Courier New"/>
                <a:cs typeface="Courier New"/>
                <a:sym typeface="Courier New"/>
              </a:rPr>
              <a:t>  </a:t>
            </a:r>
            <a:r>
              <a:rPr lang="es" sz="1400">
                <a:solidFill>
                  <a:srgbClr val="A67F5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READ</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COMMITTED </a:t>
            </a:r>
            <a:r>
              <a:rPr lang="es" sz="1400">
                <a:solidFill>
                  <a:srgbClr val="A67F5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READ</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UNCOMMITTED</a:t>
            </a:r>
            <a:r>
              <a:rPr lang="es" sz="1400">
                <a:solidFill>
                  <a:schemeClr val="dk1"/>
                </a:solidFill>
                <a:latin typeface="Courier New"/>
                <a:ea typeface="Courier New"/>
                <a:cs typeface="Courier New"/>
                <a:sym typeface="Courier New"/>
              </a:rPr>
              <a:t> </a:t>
            </a:r>
            <a:r>
              <a:rPr lang="es" sz="1400">
                <a:solidFill>
                  <a:srgbClr val="A67F5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SERIALIZABLE</a:t>
            </a:r>
            <a:r>
              <a:rPr lang="es" sz="1400">
                <a:solidFill>
                  <a:schemeClr val="dk1"/>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0" rtl="0" algn="l">
              <a:spcBef>
                <a:spcPts val="1200"/>
              </a:spcBef>
              <a:spcAft>
                <a:spcPts val="1200"/>
              </a:spcAft>
              <a:buNone/>
            </a:pPr>
            <a:r>
              <a:rPr i="1" lang="es" sz="1400">
                <a:solidFill>
                  <a:schemeClr val="dk1"/>
                </a:solidFill>
                <a:latin typeface="Courier New"/>
                <a:ea typeface="Courier New"/>
                <a:cs typeface="Courier New"/>
                <a:sym typeface="Courier New"/>
              </a:rPr>
              <a:t>access_mode</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READ</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WRITE</a:t>
            </a:r>
            <a:r>
              <a:rPr lang="es" sz="1400">
                <a:solidFill>
                  <a:schemeClr val="dk1"/>
                </a:solidFill>
                <a:latin typeface="Courier New"/>
                <a:ea typeface="Courier New"/>
                <a:cs typeface="Courier New"/>
                <a:sym typeface="Courier New"/>
              </a:rPr>
              <a:t> </a:t>
            </a:r>
            <a:r>
              <a:rPr lang="es" sz="1400">
                <a:solidFill>
                  <a:srgbClr val="A67F59"/>
                </a:solidFill>
                <a:latin typeface="Courier New"/>
                <a:ea typeface="Courier New"/>
                <a:cs typeface="Courier New"/>
                <a:sym typeface="Courier New"/>
              </a:rPr>
              <a:t>|</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READ</a:t>
            </a:r>
            <a:r>
              <a:rPr lang="es" sz="1400">
                <a:solidFill>
                  <a:schemeClr val="dk1"/>
                </a:solidFill>
                <a:latin typeface="Courier New"/>
                <a:ea typeface="Courier New"/>
                <a:cs typeface="Courier New"/>
                <a:sym typeface="Courier New"/>
              </a:rPr>
              <a:t> </a:t>
            </a:r>
            <a:r>
              <a:rPr lang="es" sz="1400">
                <a:solidFill>
                  <a:srgbClr val="0077AA"/>
                </a:solidFill>
                <a:latin typeface="Courier New"/>
                <a:ea typeface="Courier New"/>
                <a:cs typeface="Courier New"/>
                <a:sym typeface="Courier New"/>
              </a:rPr>
              <a:t>ONLY</a:t>
            </a:r>
            <a:r>
              <a:rPr lang="es" sz="1400">
                <a:solidFill>
                  <a:schemeClr val="dk1"/>
                </a:solidFill>
                <a:latin typeface="Courier New"/>
                <a:ea typeface="Courier New"/>
                <a:cs typeface="Courier New"/>
                <a:sym typeface="Courier New"/>
              </a:rPr>
              <a:t>}</a:t>
            </a:r>
            <a:endParaRPr b="1" sz="1400">
              <a:solidFill>
                <a:schemeClr val="accent1"/>
              </a:solidFill>
            </a:endParaRPr>
          </a:p>
        </p:txBody>
      </p:sp>
      <p:sp>
        <p:nvSpPr>
          <p:cNvPr id="161" name="Google Shape;161;p28"/>
          <p:cNvSpPr txBox="1"/>
          <p:nvPr>
            <p:ph idx="1" type="body"/>
          </p:nvPr>
        </p:nvSpPr>
        <p:spPr>
          <a:xfrm>
            <a:off x="1292775" y="4096300"/>
            <a:ext cx="7039200" cy="447600"/>
          </a:xfrm>
          <a:prstGeom prst="rect">
            <a:avLst/>
          </a:prstGeom>
          <a:solidFill>
            <a:schemeClr val="lt2"/>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650">
                <a:solidFill>
                  <a:srgbClr val="A67F59"/>
                </a:solidFill>
                <a:latin typeface="Courier New"/>
                <a:ea typeface="Courier New"/>
                <a:cs typeface="Courier New"/>
                <a:sym typeface="Courier New"/>
              </a:rPr>
              <a:t>mysql&gt;</a:t>
            </a:r>
            <a:r>
              <a:rPr lang="es" sz="1650">
                <a:solidFill>
                  <a:schemeClr val="dk1"/>
                </a:solidFill>
                <a:latin typeface="Courier New"/>
                <a:ea typeface="Courier New"/>
                <a:cs typeface="Courier New"/>
                <a:sym typeface="Courier New"/>
              </a:rPr>
              <a:t> </a:t>
            </a:r>
            <a:r>
              <a:rPr lang="es" sz="1650">
                <a:solidFill>
                  <a:srgbClr val="0077AA"/>
                </a:solidFill>
                <a:latin typeface="Courier New"/>
                <a:ea typeface="Courier New"/>
                <a:cs typeface="Courier New"/>
                <a:sym typeface="Courier New"/>
              </a:rPr>
              <a:t>SET</a:t>
            </a:r>
            <a:r>
              <a:rPr lang="es" sz="1650">
                <a:solidFill>
                  <a:schemeClr val="dk1"/>
                </a:solidFill>
                <a:latin typeface="Courier New"/>
                <a:ea typeface="Courier New"/>
                <a:cs typeface="Courier New"/>
                <a:sym typeface="Courier New"/>
              </a:rPr>
              <a:t> </a:t>
            </a:r>
            <a:r>
              <a:rPr lang="es" sz="1650">
                <a:solidFill>
                  <a:srgbClr val="0077AA"/>
                </a:solidFill>
                <a:latin typeface="Courier New"/>
                <a:ea typeface="Courier New"/>
                <a:cs typeface="Courier New"/>
                <a:sym typeface="Courier New"/>
              </a:rPr>
              <a:t>TRANSACTION</a:t>
            </a:r>
            <a:r>
              <a:rPr lang="es" sz="1650">
                <a:solidFill>
                  <a:schemeClr val="dk1"/>
                </a:solidFill>
                <a:latin typeface="Courier New"/>
                <a:ea typeface="Courier New"/>
                <a:cs typeface="Courier New"/>
                <a:sym typeface="Courier New"/>
              </a:rPr>
              <a:t> </a:t>
            </a:r>
            <a:r>
              <a:rPr lang="es" sz="1650">
                <a:solidFill>
                  <a:srgbClr val="0077AA"/>
                </a:solidFill>
                <a:latin typeface="Courier New"/>
                <a:ea typeface="Courier New"/>
                <a:cs typeface="Courier New"/>
                <a:sym typeface="Courier New"/>
              </a:rPr>
              <a:t>ISOLATION</a:t>
            </a:r>
            <a:r>
              <a:rPr lang="es" sz="1650">
                <a:solidFill>
                  <a:schemeClr val="dk1"/>
                </a:solidFill>
                <a:latin typeface="Courier New"/>
                <a:ea typeface="Courier New"/>
                <a:cs typeface="Courier New"/>
                <a:sym typeface="Courier New"/>
              </a:rPr>
              <a:t> </a:t>
            </a:r>
            <a:r>
              <a:rPr lang="es" sz="1650">
                <a:solidFill>
                  <a:srgbClr val="0077AA"/>
                </a:solidFill>
                <a:latin typeface="Courier New"/>
                <a:ea typeface="Courier New"/>
                <a:cs typeface="Courier New"/>
                <a:sym typeface="Courier New"/>
              </a:rPr>
              <a:t>LEVEL</a:t>
            </a:r>
            <a:r>
              <a:rPr lang="es" sz="1650">
                <a:solidFill>
                  <a:schemeClr val="dk1"/>
                </a:solidFill>
                <a:latin typeface="Courier New"/>
                <a:ea typeface="Courier New"/>
                <a:cs typeface="Courier New"/>
                <a:sym typeface="Courier New"/>
              </a:rPr>
              <a:t> </a:t>
            </a:r>
            <a:r>
              <a:rPr lang="es" sz="1650">
                <a:solidFill>
                  <a:srgbClr val="0077AA"/>
                </a:solidFill>
                <a:latin typeface="Courier New"/>
                <a:ea typeface="Courier New"/>
                <a:cs typeface="Courier New"/>
                <a:sym typeface="Courier New"/>
              </a:rPr>
              <a:t>SERIALIZABLE</a:t>
            </a:r>
            <a:r>
              <a:rPr lang="es" sz="1650">
                <a:solidFill>
                  <a:srgbClr val="999999"/>
                </a:solidFill>
                <a:latin typeface="Courier New"/>
                <a:ea typeface="Courier New"/>
                <a:cs typeface="Courier New"/>
                <a:sym typeface="Courier New"/>
              </a:rPr>
              <a:t>;</a:t>
            </a:r>
            <a:endParaRPr b="1" sz="2100">
              <a:solidFill>
                <a:schemeClr val="accent1"/>
              </a:solidFill>
            </a:endParaRPr>
          </a:p>
          <a:p>
            <a:pPr indent="0" lvl="0" marL="0" rtl="0" algn="l">
              <a:spcBef>
                <a:spcPts val="0"/>
              </a:spcBef>
              <a:spcAft>
                <a:spcPts val="1200"/>
              </a:spcAft>
              <a:buNone/>
            </a:pPr>
            <a:r>
              <a:t/>
            </a:r>
            <a:endParaRPr sz="1400">
              <a:solidFill>
                <a:srgbClr val="0077AA"/>
              </a:solidFill>
              <a:latin typeface="Courier New"/>
              <a:ea typeface="Courier New"/>
              <a:cs typeface="Courier New"/>
              <a:sym typeface="Courier New"/>
            </a:endParaRPr>
          </a:p>
        </p:txBody>
      </p:sp>
      <p:sp>
        <p:nvSpPr>
          <p:cNvPr id="162" name="Google Shape;162;p28"/>
          <p:cNvSpPr txBox="1"/>
          <p:nvPr/>
        </p:nvSpPr>
        <p:spPr>
          <a:xfrm>
            <a:off x="321500" y="3639100"/>
            <a:ext cx="2705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Ejemplo:</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Técnicas</a:t>
            </a:r>
            <a:r>
              <a:rPr lang="es"/>
              <a:t> de control de Concurrencia</a:t>
            </a:r>
            <a:endParaRPr/>
          </a:p>
        </p:txBody>
      </p:sp>
      <p:sp>
        <p:nvSpPr>
          <p:cNvPr id="168" name="Google Shape;168;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accent1"/>
                </a:solidFill>
              </a:rPr>
              <a:t>Bloqueos (Locking) </a:t>
            </a:r>
            <a:endParaRPr b="1" sz="1300">
              <a:solidFill>
                <a:schemeClr val="accent1"/>
              </a:solidFill>
            </a:endParaRPr>
          </a:p>
          <a:p>
            <a:pPr indent="-311150" lvl="0" marL="457200" rtl="0" algn="l">
              <a:spcBef>
                <a:spcPts val="1200"/>
              </a:spcBef>
              <a:spcAft>
                <a:spcPts val="0"/>
              </a:spcAft>
              <a:buClr>
                <a:schemeClr val="dk1"/>
              </a:buClr>
              <a:buSzPts val="1300"/>
              <a:buChar char="●"/>
            </a:pPr>
            <a:r>
              <a:rPr lang="es" sz="1300">
                <a:solidFill>
                  <a:schemeClr val="dk1"/>
                </a:solidFill>
              </a:rPr>
              <a:t>Bloqueos compartidos (para lectura) y exclusivos (para escritura).</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Bloqueos de dos fases: fase de crecimiento y fase de liberación.</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Pueden llevar a deadlocks (interbloqueos).</a:t>
            </a:r>
            <a:endParaRPr sz="1300">
              <a:solidFill>
                <a:schemeClr val="dk1"/>
              </a:solidFill>
            </a:endParaRPr>
          </a:p>
          <a:p>
            <a:pPr indent="0" lvl="0" marL="0" rtl="0" algn="l">
              <a:spcBef>
                <a:spcPts val="1200"/>
              </a:spcBef>
              <a:spcAft>
                <a:spcPts val="0"/>
              </a:spcAft>
              <a:buNone/>
            </a:pPr>
            <a:r>
              <a:rPr lang="es" sz="1300">
                <a:solidFill>
                  <a:schemeClr val="dk1"/>
                </a:solidFill>
              </a:rPr>
              <a:t>Mysql ofrece varios mecanismos como</a:t>
            </a:r>
            <a:endParaRPr sz="1300">
              <a:solidFill>
                <a:schemeClr val="dk1"/>
              </a:solidFill>
            </a:endParaRPr>
          </a:p>
          <a:p>
            <a:pPr indent="-311150" lvl="0" marL="457200" rtl="0" algn="l">
              <a:spcBef>
                <a:spcPts val="1200"/>
              </a:spcBef>
              <a:spcAft>
                <a:spcPts val="0"/>
              </a:spcAft>
              <a:buClr>
                <a:schemeClr val="dk1"/>
              </a:buClr>
              <a:buSzPts val="1300"/>
              <a:buChar char="●"/>
            </a:pPr>
            <a:r>
              <a:rPr lang="es" sz="1300">
                <a:solidFill>
                  <a:schemeClr val="dk1"/>
                </a:solidFill>
              </a:rPr>
              <a:t>“</a:t>
            </a:r>
            <a:r>
              <a:rPr b="1" lang="es" sz="1300">
                <a:solidFill>
                  <a:schemeClr val="accent1"/>
                </a:solidFill>
                <a:latin typeface="Source Code Pro"/>
                <a:ea typeface="Source Code Pro"/>
                <a:cs typeface="Source Code Pro"/>
                <a:sym typeface="Source Code Pro"/>
              </a:rPr>
              <a:t>SELECT … FOR UPDATE …</a:t>
            </a:r>
            <a:r>
              <a:rPr lang="es" sz="1300">
                <a:solidFill>
                  <a:schemeClr val="dk1"/>
                </a:solidFill>
              </a:rPr>
              <a:t>”: Otras transacciones no pueden hacer updates en las filas seleccionadas</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a:t>
            </a:r>
            <a:r>
              <a:rPr b="1" lang="es" sz="1300">
                <a:solidFill>
                  <a:schemeClr val="accent1"/>
                </a:solidFill>
                <a:latin typeface="Source Code Pro"/>
                <a:ea typeface="Source Code Pro"/>
                <a:cs typeface="Source Code Pro"/>
                <a:sym typeface="Source Code Pro"/>
              </a:rPr>
              <a:t>SELECT … FOR SHARE …</a:t>
            </a:r>
            <a:r>
              <a:rPr lang="es" sz="1300">
                <a:solidFill>
                  <a:schemeClr val="dk1"/>
                </a:solidFill>
              </a:rPr>
              <a:t>” Establece un bloqueo en modo compartido en cualquier fila que sea leída. Otras sesiones pueden leer las filas, pero no pueden modificarlas hasta que tu transacción haga commit.</a:t>
            </a:r>
            <a:endParaRPr sz="1300">
              <a:solidFill>
                <a:schemeClr val="dk1"/>
              </a:solidFill>
            </a:endParaRPr>
          </a:p>
          <a:p>
            <a:pPr indent="-311150" lvl="0" marL="457200" rtl="0" algn="l">
              <a:spcBef>
                <a:spcPts val="0"/>
              </a:spcBef>
              <a:spcAft>
                <a:spcPts val="0"/>
              </a:spcAft>
              <a:buClr>
                <a:schemeClr val="dk1"/>
              </a:buClr>
              <a:buSzPts val="1300"/>
              <a:buChar char="●"/>
            </a:pPr>
            <a:r>
              <a:rPr b="1" lang="es" sz="1300">
                <a:solidFill>
                  <a:schemeClr val="accent1"/>
                </a:solidFill>
                <a:latin typeface="Source Code Pro"/>
                <a:ea typeface="Source Code Pro"/>
                <a:cs typeface="Source Code Pro"/>
                <a:sym typeface="Source Code Pro"/>
              </a:rPr>
              <a:t>LOCK TABLES</a:t>
            </a:r>
            <a:r>
              <a:rPr lang="es" sz="1300">
                <a:solidFill>
                  <a:schemeClr val="dk1"/>
                </a:solidFill>
              </a:rPr>
              <a:t> y </a:t>
            </a:r>
            <a:r>
              <a:rPr b="1" lang="es" sz="1300">
                <a:solidFill>
                  <a:schemeClr val="accent1"/>
                </a:solidFill>
                <a:latin typeface="Source Code Pro"/>
                <a:ea typeface="Source Code Pro"/>
                <a:cs typeface="Source Code Pro"/>
                <a:sym typeface="Source Code Pro"/>
              </a:rPr>
              <a:t>UNLOCK TABLES</a:t>
            </a:r>
            <a:endParaRPr b="1" sz="1300">
              <a:solidFill>
                <a:schemeClr val="accent1"/>
              </a:solidFill>
              <a:latin typeface="Source Code Pro"/>
              <a:ea typeface="Source Code Pro"/>
              <a:cs typeface="Source Code Pro"/>
              <a:sym typeface="Source Code Pro"/>
            </a:endParaRPr>
          </a:p>
          <a:p>
            <a:pPr indent="0" lvl="0" marL="0" rtl="0" algn="l">
              <a:spcBef>
                <a:spcPts val="1200"/>
              </a:spcBef>
              <a:spcAft>
                <a:spcPts val="0"/>
              </a:spcAft>
              <a:buNone/>
            </a:pPr>
            <a:r>
              <a:t/>
            </a:r>
            <a:endParaRPr b="1" sz="1300">
              <a:solidFill>
                <a:schemeClr val="accent1"/>
              </a:solidFill>
              <a:latin typeface="Source Code Pro"/>
              <a:ea typeface="Source Code Pro"/>
              <a:cs typeface="Source Code Pro"/>
              <a:sym typeface="Source Code Pro"/>
            </a:endParaRPr>
          </a:p>
          <a:p>
            <a:pPr indent="0" lvl="0" marL="0" rtl="0" algn="l">
              <a:spcBef>
                <a:spcPts val="1200"/>
              </a:spcBef>
              <a:spcAft>
                <a:spcPts val="1200"/>
              </a:spcAft>
              <a:buNone/>
            </a:pPr>
            <a:r>
              <a:rPr b="1" lang="es" sz="1300">
                <a:solidFill>
                  <a:schemeClr val="accent1"/>
                </a:solidFill>
                <a:latin typeface="Source Code Pro"/>
                <a:ea typeface="Source Code Pro"/>
                <a:cs typeface="Source Code Pro"/>
                <a:sym typeface="Source Code Pro"/>
              </a:rPr>
              <a:t>hay muchas/muchísimas más opciones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Técnicas de control de Concurrencia</a:t>
            </a:r>
            <a:endParaRPr/>
          </a:p>
        </p:txBody>
      </p:sp>
      <p:sp>
        <p:nvSpPr>
          <p:cNvPr id="174" name="Google Shape;174;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dk1"/>
                </a:solidFill>
              </a:rPr>
              <a:t>Además</a:t>
            </a:r>
            <a:r>
              <a:rPr b="1" lang="es" sz="1300">
                <a:solidFill>
                  <a:schemeClr val="dk1"/>
                </a:solidFill>
              </a:rPr>
              <a:t> del lock hay estas otras dos </a:t>
            </a:r>
            <a:r>
              <a:rPr b="1" lang="es" sz="1300">
                <a:solidFill>
                  <a:schemeClr val="dk1"/>
                </a:solidFill>
              </a:rPr>
              <a:t>técnicas</a:t>
            </a:r>
            <a:r>
              <a:rPr b="1" lang="es" sz="1300">
                <a:solidFill>
                  <a:schemeClr val="dk1"/>
                </a:solidFill>
              </a:rPr>
              <a:t> necesarias para niveles de aislamiento </a:t>
            </a:r>
            <a:r>
              <a:rPr b="1" lang="es" sz="1300">
                <a:solidFill>
                  <a:schemeClr val="dk1"/>
                </a:solidFill>
              </a:rPr>
              <a:t>más</a:t>
            </a:r>
            <a:r>
              <a:rPr b="1" lang="es" sz="1300">
                <a:solidFill>
                  <a:schemeClr val="dk1"/>
                </a:solidFill>
              </a:rPr>
              <a:t> complejos:</a:t>
            </a:r>
            <a:endParaRPr b="1" sz="1300">
              <a:solidFill>
                <a:schemeClr val="dk1"/>
              </a:solidFill>
              <a:latin typeface="Source Code Pro"/>
              <a:ea typeface="Source Code Pro"/>
              <a:cs typeface="Source Code Pro"/>
              <a:sym typeface="Source Code Pro"/>
            </a:endParaRPr>
          </a:p>
          <a:p>
            <a:pPr indent="0" lvl="0" marL="0" rtl="0" algn="l">
              <a:spcBef>
                <a:spcPts val="1800"/>
              </a:spcBef>
              <a:spcAft>
                <a:spcPts val="0"/>
              </a:spcAft>
              <a:buNone/>
            </a:pPr>
            <a:r>
              <a:rPr b="1" lang="es" sz="1700">
                <a:solidFill>
                  <a:schemeClr val="accent1"/>
                </a:solidFill>
              </a:rPr>
              <a:t>Marcas de Tiempo (Timestamping)</a:t>
            </a:r>
            <a:endParaRPr b="1" sz="1700">
              <a:solidFill>
                <a:schemeClr val="accent1"/>
              </a:solidFill>
            </a:endParaRPr>
          </a:p>
          <a:p>
            <a:pPr indent="-298450" lvl="0" marL="457200" rtl="0" algn="l">
              <a:spcBef>
                <a:spcPts val="1200"/>
              </a:spcBef>
              <a:spcAft>
                <a:spcPts val="0"/>
              </a:spcAft>
              <a:buClr>
                <a:schemeClr val="dk1"/>
              </a:buClr>
              <a:buSzPts val="1100"/>
              <a:buChar char="●"/>
            </a:pPr>
            <a:r>
              <a:rPr lang="es" sz="1100">
                <a:solidFill>
                  <a:schemeClr val="dk1"/>
                </a:solidFill>
              </a:rPr>
              <a:t>Cada transacción recibe una marca de tiempo única.</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Se utilizan para ordenar la ejecución de las transacciones.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Evita deadlocks pero puede llevar a muchos abortos.</a:t>
            </a:r>
            <a:endParaRPr sz="1100">
              <a:solidFill>
                <a:schemeClr val="dk1"/>
              </a:solidFill>
            </a:endParaRPr>
          </a:p>
          <a:p>
            <a:pPr indent="0" lvl="0" marL="0" rtl="0" algn="l">
              <a:spcBef>
                <a:spcPts val="1800"/>
              </a:spcBef>
              <a:spcAft>
                <a:spcPts val="0"/>
              </a:spcAft>
              <a:buNone/>
            </a:pPr>
            <a:r>
              <a:rPr b="1" lang="es" sz="1700">
                <a:solidFill>
                  <a:schemeClr val="accent1"/>
                </a:solidFill>
              </a:rPr>
              <a:t>Control de Versiones Multiversión (MVCC)</a:t>
            </a:r>
            <a:endParaRPr b="1" sz="1700">
              <a:solidFill>
                <a:schemeClr val="accent1"/>
              </a:solidFill>
            </a:endParaRPr>
          </a:p>
          <a:p>
            <a:pPr indent="-298450" lvl="0" marL="457200" rtl="0" algn="l">
              <a:spcBef>
                <a:spcPts val="1200"/>
              </a:spcBef>
              <a:spcAft>
                <a:spcPts val="0"/>
              </a:spcAft>
              <a:buClr>
                <a:schemeClr val="dk1"/>
              </a:buClr>
              <a:buSzPts val="1100"/>
              <a:buChar char="●"/>
            </a:pPr>
            <a:r>
              <a:rPr lang="es" sz="1100">
                <a:solidFill>
                  <a:schemeClr val="dk1"/>
                </a:solidFill>
              </a:rPr>
              <a:t>Mantiene múltiples versiones de los datos.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Permite a los lectores acceder a versiones consistentes sin bloquear a los escritores.</a:t>
            </a:r>
            <a:endParaRPr sz="1100">
              <a:solidFill>
                <a:schemeClr val="dk1"/>
              </a:solidFill>
            </a:endParaRPr>
          </a:p>
          <a:p>
            <a:pPr indent="-298450" lvl="0" marL="457200" rtl="0" algn="l">
              <a:spcBef>
                <a:spcPts val="0"/>
              </a:spcBef>
              <a:spcAft>
                <a:spcPts val="0"/>
              </a:spcAft>
              <a:buClr>
                <a:schemeClr val="dk1"/>
              </a:buClr>
              <a:buSzPts val="1100"/>
              <a:buChar char="●"/>
            </a:pPr>
            <a:r>
              <a:rPr lang="es" sz="1100">
                <a:solidFill>
                  <a:schemeClr val="dk1"/>
                </a:solidFill>
              </a:rPr>
              <a:t>Utilizado en sistemas como </a:t>
            </a:r>
            <a:r>
              <a:rPr b="1" lang="es" sz="1100">
                <a:solidFill>
                  <a:schemeClr val="dk1"/>
                </a:solidFill>
              </a:rPr>
              <a:t>PostgreSQL y Oracle.</a:t>
            </a:r>
            <a:endParaRPr b="1" sz="1700">
              <a:solidFill>
                <a:schemeClr val="accent1"/>
              </a:solidFill>
            </a:endParaRPr>
          </a:p>
          <a:p>
            <a:pPr indent="0" lvl="0" marL="0" rtl="0" algn="l">
              <a:spcBef>
                <a:spcPts val="1200"/>
              </a:spcBef>
              <a:spcAft>
                <a:spcPts val="1200"/>
              </a:spcAft>
              <a:buNone/>
            </a:pPr>
            <a:r>
              <a:t/>
            </a:r>
            <a:endParaRPr b="1" sz="1300">
              <a:solidFill>
                <a:schemeClr val="accent1"/>
              </a:solidFill>
              <a:latin typeface="Source Code Pro"/>
              <a:ea typeface="Source Code Pro"/>
              <a:cs typeface="Source Code Pro"/>
              <a:sym typeface="Source Code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Detalles</a:t>
            </a:r>
            <a:endParaRPr/>
          </a:p>
        </p:txBody>
      </p:sp>
      <p:sp>
        <p:nvSpPr>
          <p:cNvPr id="180" name="Google Shape;18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0000"/>
                </a:solidFill>
              </a:rPr>
              <a:t>TODO</a:t>
            </a:r>
            <a:r>
              <a:rPr lang="es"/>
              <a:t> (</a:t>
            </a:r>
            <a:r>
              <a:rPr b="1" lang="es">
                <a:solidFill>
                  <a:srgbClr val="FF0000"/>
                </a:solidFill>
              </a:rPr>
              <a:t>TODO</a:t>
            </a:r>
            <a:r>
              <a:rPr lang="es"/>
              <a:t>) en una BDD sucede dentro de una </a:t>
            </a:r>
            <a:r>
              <a:rPr lang="es"/>
              <a:t>transacción</a:t>
            </a:r>
            <a:r>
              <a:rPr lang="es"/>
              <a:t>.</a:t>
            </a:r>
            <a:endParaRPr/>
          </a:p>
          <a:p>
            <a:pPr indent="-342900" lvl="0" marL="457200" rtl="0" algn="l">
              <a:spcBef>
                <a:spcPts val="0"/>
              </a:spcBef>
              <a:spcAft>
                <a:spcPts val="0"/>
              </a:spcAft>
              <a:buSzPts val="1800"/>
              <a:buChar char="●"/>
            </a:pPr>
            <a:r>
              <a:rPr lang="es"/>
              <a:t>En las consultas que </a:t>
            </a:r>
            <a:r>
              <a:rPr lang="es"/>
              <a:t>están</a:t>
            </a:r>
            <a:r>
              <a:rPr lang="es"/>
              <a:t> corriendo tienen configurado “</a:t>
            </a:r>
            <a:r>
              <a:rPr b="1" lang="es">
                <a:solidFill>
                  <a:schemeClr val="accent1"/>
                </a:solidFill>
                <a:latin typeface="Source Code Pro"/>
                <a:ea typeface="Source Code Pro"/>
                <a:cs typeface="Source Code Pro"/>
                <a:sym typeface="Source Code Pro"/>
              </a:rPr>
              <a:t>autocomit</a:t>
            </a:r>
            <a:r>
              <a:rPr lang="es"/>
              <a:t>” en </a:t>
            </a:r>
            <a:r>
              <a:rPr b="1" lang="es">
                <a:latin typeface="Source Code Pro"/>
                <a:ea typeface="Source Code Pro"/>
                <a:cs typeface="Source Code Pro"/>
                <a:sym typeface="Source Code Pro"/>
              </a:rPr>
              <a:t>true</a:t>
            </a:r>
            <a:r>
              <a:rPr lang="es"/>
              <a:t>.</a:t>
            </a:r>
            <a:endParaRPr/>
          </a:p>
          <a:p>
            <a:pPr indent="-342900" lvl="0" marL="457200" rtl="0" algn="l">
              <a:spcBef>
                <a:spcPts val="0"/>
              </a:spcBef>
              <a:spcAft>
                <a:spcPts val="0"/>
              </a:spcAft>
              <a:buSzPts val="1800"/>
              <a:buChar char="●"/>
            </a:pPr>
            <a:r>
              <a:rPr lang="es"/>
              <a:t>Los frameworks web suelen iniciar una </a:t>
            </a:r>
            <a:r>
              <a:rPr lang="es"/>
              <a:t>transacción</a:t>
            </a:r>
            <a:r>
              <a:rPr lang="es"/>
              <a:t> antes de arrancar una “vista” y dan “commit/rollback” </a:t>
            </a:r>
            <a:r>
              <a:rPr lang="es"/>
              <a:t>según</a:t>
            </a:r>
            <a:r>
              <a:rPr lang="es"/>
              <a:t> si sucedio una </a:t>
            </a:r>
            <a:r>
              <a:rPr lang="es"/>
              <a:t>excepción</a:t>
            </a:r>
            <a:r>
              <a:rPr lang="es"/>
              <a:t> o no</a:t>
            </a:r>
            <a:endParaRPr/>
          </a:p>
          <a:p>
            <a:pPr indent="-342900" lvl="0" marL="457200" rtl="0" algn="l">
              <a:spcBef>
                <a:spcPts val="0"/>
              </a:spcBef>
              <a:spcAft>
                <a:spcPts val="0"/>
              </a:spcAft>
              <a:buSzPts val="1800"/>
              <a:buChar char="●"/>
            </a:pPr>
            <a:r>
              <a:rPr lang="es"/>
              <a:t>Las transacciones son fundamentalmente para DML. Algunas bases de datos como Oracle y Postgres tienen DDL transaccional (que es genial!)</a:t>
            </a:r>
            <a:endParaRPr/>
          </a:p>
        </p:txBody>
      </p:sp>
      <p:pic>
        <p:nvPicPr>
          <p:cNvPr id="181" name="Google Shape;181;p31"/>
          <p:cNvPicPr preferRelativeResize="0"/>
          <p:nvPr/>
        </p:nvPicPr>
        <p:blipFill>
          <a:blip r:embed="rId3">
            <a:alphaModFix/>
          </a:blip>
          <a:stretch>
            <a:fillRect/>
          </a:stretch>
        </p:blipFill>
        <p:spPr>
          <a:xfrm>
            <a:off x="6708029" y="3445725"/>
            <a:ext cx="2124275" cy="159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