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Pragati Narrow"/>
      <p:regular r:id="rId34"/>
      <p:bold r:id="rId35"/>
    </p:embeddedFont>
    <p:embeddedFont>
      <p:font typeface="Oswald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i03SvgCcgej3h1NF/ccY71gJ9/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629DC2-0F85-47DA-B863-5ACAEB323F40}">
  <a:tblStyle styleId="{B4629DC2-0F85-47DA-B863-5ACAEB323F4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35" Type="http://schemas.openxmlformats.org/officeDocument/2006/relationships/font" Target="fonts/PragatiNarrow-bold.fntdata"/><Relationship Id="rId12" Type="http://schemas.openxmlformats.org/officeDocument/2006/relationships/slide" Target="slides/slide6.xml"/><Relationship Id="rId34" Type="http://schemas.openxmlformats.org/officeDocument/2006/relationships/font" Target="fonts/PragatiNarrow-regular.fntdata"/><Relationship Id="rId15" Type="http://schemas.openxmlformats.org/officeDocument/2006/relationships/slide" Target="slides/slide9.xml"/><Relationship Id="rId37" Type="http://schemas.openxmlformats.org/officeDocument/2006/relationships/font" Target="fonts/Oswald-bold.fntdata"/><Relationship Id="rId14" Type="http://schemas.openxmlformats.org/officeDocument/2006/relationships/slide" Target="slides/slide8.xml"/><Relationship Id="rId36" Type="http://schemas.openxmlformats.org/officeDocument/2006/relationships/font" Target="fonts/Oswald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mongodb.com/docs/manual/meta/aggregation-quick-reference/#std-label-aggregation-expression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mongodb.com/docs/manual/reference/operator/aggregation/group/#std-label-accumulators-group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mongodb.com/docs/manual/core/aggregation-pipeline/" TargetMode="External"/><Relationship Id="rId4" Type="http://schemas.openxmlformats.org/officeDocument/2006/relationships/hyperlink" Target="https://www.mongodb.com/docs/manual/core/views/create-vie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400">
                <a:latin typeface="Oswald"/>
                <a:ea typeface="Oswald"/>
                <a:cs typeface="Oswald"/>
                <a:sym typeface="Oswald"/>
              </a:rPr>
              <a:t>Pipeline de Agregación</a:t>
            </a:r>
            <a:endParaRPr sz="4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Bases de Datos 2022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Pipeline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854850"/>
            <a:ext cx="85206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¿Qué es un Pipeline?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685700" y="1422700"/>
            <a:ext cx="644700" cy="312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Process</a:t>
            </a:r>
            <a:r>
              <a:rPr b="0" baseline="-2500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 b="0" baseline="-25000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2922125" y="1422700"/>
            <a:ext cx="644700" cy="312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Process</a:t>
            </a:r>
            <a:r>
              <a:rPr b="0" baseline="-2500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  <a:endParaRPr b="0" baseline="-25000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1267700" y="1288800"/>
            <a:ext cx="4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data</a:t>
            </a:r>
            <a:endParaRPr b="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65" name="Google Shape;65;p2"/>
          <p:cNvCxnSpPr/>
          <p:nvPr/>
        </p:nvCxnSpPr>
        <p:spPr>
          <a:xfrm>
            <a:off x="1166400" y="1577500"/>
            <a:ext cx="5193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" name="Google Shape;66;p2"/>
          <p:cNvSpPr txBox="1"/>
          <p:nvPr/>
        </p:nvSpPr>
        <p:spPr>
          <a:xfrm>
            <a:off x="2410700" y="1288800"/>
            <a:ext cx="4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data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l</a:t>
            </a:r>
            <a:endParaRPr b="0" baseline="3000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67" name="Google Shape;67;p2"/>
          <p:cNvCxnSpPr>
            <a:stCxn id="62" idx="3"/>
          </p:cNvCxnSpPr>
          <p:nvPr/>
        </p:nvCxnSpPr>
        <p:spPr>
          <a:xfrm>
            <a:off x="2330400" y="1579150"/>
            <a:ext cx="5745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" name="Google Shape;68;p2"/>
          <p:cNvSpPr/>
          <p:nvPr/>
        </p:nvSpPr>
        <p:spPr>
          <a:xfrm>
            <a:off x="4141325" y="1422700"/>
            <a:ext cx="644700" cy="312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Process</a:t>
            </a:r>
            <a:r>
              <a:rPr b="0" baseline="-2500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endParaRPr b="0" baseline="-25000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3629900" y="1288800"/>
            <a:ext cx="4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data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ll</a:t>
            </a:r>
            <a:endParaRPr b="0" baseline="3000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70" name="Google Shape;70;p2"/>
          <p:cNvCxnSpPr/>
          <p:nvPr/>
        </p:nvCxnSpPr>
        <p:spPr>
          <a:xfrm>
            <a:off x="3565225" y="1579150"/>
            <a:ext cx="5745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" name="Google Shape;71;p2"/>
          <p:cNvSpPr/>
          <p:nvPr/>
        </p:nvSpPr>
        <p:spPr>
          <a:xfrm>
            <a:off x="6427325" y="1422700"/>
            <a:ext cx="644700" cy="312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Process</a:t>
            </a:r>
            <a:r>
              <a:rPr b="0" baseline="-2500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N</a:t>
            </a:r>
            <a:endParaRPr b="0" baseline="-25000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4849100" y="1288800"/>
            <a:ext cx="4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data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lll</a:t>
            </a:r>
            <a:endParaRPr b="0" baseline="3000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73" name="Google Shape;73;p2"/>
          <p:cNvCxnSpPr/>
          <p:nvPr/>
        </p:nvCxnSpPr>
        <p:spPr>
          <a:xfrm>
            <a:off x="4803625" y="1579150"/>
            <a:ext cx="5745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" name="Google Shape;74;p2"/>
          <p:cNvSpPr txBox="1"/>
          <p:nvPr/>
        </p:nvSpPr>
        <p:spPr>
          <a:xfrm>
            <a:off x="5824100" y="1288800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data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N-1</a:t>
            </a:r>
            <a:endParaRPr b="0" baseline="3000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75" name="Google Shape;75;p2"/>
          <p:cNvCxnSpPr/>
          <p:nvPr/>
        </p:nvCxnSpPr>
        <p:spPr>
          <a:xfrm>
            <a:off x="5870425" y="1579150"/>
            <a:ext cx="5745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2"/>
          <p:cNvSpPr txBox="1"/>
          <p:nvPr/>
        </p:nvSpPr>
        <p:spPr>
          <a:xfrm>
            <a:off x="7135100" y="1288800"/>
            <a:ext cx="4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data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N</a:t>
            </a:r>
            <a:endParaRPr b="0" baseline="3000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77" name="Google Shape;77;p2"/>
          <p:cNvCxnSpPr/>
          <p:nvPr/>
        </p:nvCxnSpPr>
        <p:spPr>
          <a:xfrm>
            <a:off x="7089625" y="1579150"/>
            <a:ext cx="5745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" name="Google Shape;78;p2"/>
          <p:cNvSpPr txBox="1"/>
          <p:nvPr/>
        </p:nvSpPr>
        <p:spPr>
          <a:xfrm>
            <a:off x="5458700" y="1351975"/>
            <a:ext cx="4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…</a:t>
            </a:r>
            <a:endParaRPr b="0" baseline="3000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313200" y="1914025"/>
            <a:ext cx="3979200" cy="29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Pipeline en Unix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     command</a:t>
            </a:r>
            <a:r>
              <a:rPr baseline="-25000" lang="en-GB" sz="1200">
                <a:latin typeface="Oswald"/>
                <a:ea typeface="Oswald"/>
                <a:cs typeface="Oswald"/>
                <a:sym typeface="Oswald"/>
              </a:rPr>
              <a:t>1</a:t>
            </a: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  |  command</a:t>
            </a:r>
            <a:r>
              <a:rPr baseline="-25000" lang="en-GB" sz="1200">
                <a:latin typeface="Oswald"/>
                <a:ea typeface="Oswald"/>
                <a:cs typeface="Oswald"/>
                <a:sym typeface="Oswald"/>
              </a:rPr>
              <a:t>2</a:t>
            </a: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  |  command</a:t>
            </a:r>
            <a:r>
              <a:rPr baseline="-25000" lang="en-GB" sz="1200">
                <a:latin typeface="Oswald"/>
                <a:ea typeface="Oswald"/>
                <a:cs typeface="Oswald"/>
                <a:sym typeface="Oswald"/>
              </a:rPr>
              <a:t>3</a:t>
            </a: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  |   …   |  command</a:t>
            </a:r>
            <a:r>
              <a:rPr baseline="-25000" lang="en-GB" sz="1200">
                <a:latin typeface="Oswald"/>
                <a:ea typeface="Oswald"/>
                <a:cs typeface="Oswald"/>
                <a:sym typeface="Oswald"/>
              </a:rPr>
              <a:t>N</a:t>
            </a: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  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80" name="Google Shape;80;p2"/>
          <p:cNvGraphicFramePr/>
          <p:nvPr/>
        </p:nvGraphicFramePr>
        <p:xfrm>
          <a:off x="4263775" y="2266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{B4629DC2-0F85-47DA-B863-5ACAEB323F40}</a:tableStyleId>
              </a:tblPr>
              <a:tblGrid>
                <a:gridCol w="4568525"/>
              </a:tblGrid>
              <a:tr h="229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 cat urls.txt 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https://www.mongodb.com/docs/manual/tutorial/query-array-of-documents/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https://askubuntu.com/questions/1424501/unable-to-install-mongodb-in-ubuntu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https://www.mongodb.com/docs/manual/crud/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https://famaf.aulavirtual.unc.edu.ar/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https://dev.mysql.com/doc/refman/8.0/en/subqueries.html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https://dev.mysql.com/doc/refman/8.0/en/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https://dev.mysql.com/doc/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http://twitter.com/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 cat urls.txt | sed -E "s/^https?:\/\/([^\/]+).*/\1/" | sort | uniq -c | sort -n -r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3 dev.mysql.com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2 www.mongodb.com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1 twitter.com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1 famaf.aulavirtual.unc.edu.ar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7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1 askubuntu.com</a:t>
                      </a:r>
                      <a:endParaRPr b="1" sz="600" u="none" cap="none" strike="noStrike"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0" marR="63500" marL="63500">
                    <a:solidFill>
                      <a:srgbClr val="F9FB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Pipeline de agregación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6" name="Google Shape;86;p3"/>
          <p:cNvSpPr txBox="1"/>
          <p:nvPr>
            <p:ph idx="1" type="body"/>
          </p:nvPr>
        </p:nvSpPr>
        <p:spPr>
          <a:xfrm>
            <a:off x="311700" y="854850"/>
            <a:ext cx="85206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Es una secuencia de una o más stages que procesan documentos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684475" y="1423725"/>
            <a:ext cx="644700" cy="312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stage</a:t>
            </a:r>
            <a:r>
              <a:rPr b="0" baseline="-2500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 b="0" baseline="-25000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920900" y="1423725"/>
            <a:ext cx="644700" cy="312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stage</a:t>
            </a:r>
            <a:r>
              <a:rPr b="0" baseline="-2500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  <a:endParaRPr b="0" baseline="-25000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1021975" y="1289825"/>
            <a:ext cx="7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collection </a:t>
            </a:r>
            <a:endParaRPr b="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90" name="Google Shape;90;p3"/>
          <p:cNvCxnSpPr/>
          <p:nvPr/>
        </p:nvCxnSpPr>
        <p:spPr>
          <a:xfrm>
            <a:off x="1165175" y="1578525"/>
            <a:ext cx="5193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" name="Google Shape;91;p3"/>
          <p:cNvSpPr txBox="1"/>
          <p:nvPr/>
        </p:nvSpPr>
        <p:spPr>
          <a:xfrm>
            <a:off x="2409475" y="1289825"/>
            <a:ext cx="4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docs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l</a:t>
            </a:r>
            <a:endParaRPr b="0" baseline="3000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92" name="Google Shape;92;p3"/>
          <p:cNvCxnSpPr>
            <a:stCxn id="87" idx="3"/>
          </p:cNvCxnSpPr>
          <p:nvPr/>
        </p:nvCxnSpPr>
        <p:spPr>
          <a:xfrm>
            <a:off x="2329175" y="1580175"/>
            <a:ext cx="5745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" name="Google Shape;93;p3"/>
          <p:cNvSpPr/>
          <p:nvPr/>
        </p:nvSpPr>
        <p:spPr>
          <a:xfrm>
            <a:off x="4140100" y="1423725"/>
            <a:ext cx="644700" cy="312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stage</a:t>
            </a:r>
            <a:r>
              <a:rPr b="0" baseline="-2500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endParaRPr b="0" baseline="-25000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3628675" y="1289825"/>
            <a:ext cx="4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docs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ll</a:t>
            </a:r>
            <a:endParaRPr b="0" baseline="3000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95" name="Google Shape;95;p3"/>
          <p:cNvCxnSpPr/>
          <p:nvPr/>
        </p:nvCxnSpPr>
        <p:spPr>
          <a:xfrm>
            <a:off x="3564000" y="1580175"/>
            <a:ext cx="5745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p3"/>
          <p:cNvSpPr/>
          <p:nvPr/>
        </p:nvSpPr>
        <p:spPr>
          <a:xfrm>
            <a:off x="6426100" y="1423725"/>
            <a:ext cx="644700" cy="312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stage</a:t>
            </a:r>
            <a:r>
              <a:rPr b="0" baseline="-25000" i="0" lang="en-GB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N</a:t>
            </a:r>
            <a:endParaRPr b="0" baseline="-25000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4847875" y="1289825"/>
            <a:ext cx="4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docs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lll</a:t>
            </a:r>
            <a:endParaRPr b="0" baseline="3000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98" name="Google Shape;98;p3"/>
          <p:cNvCxnSpPr/>
          <p:nvPr/>
        </p:nvCxnSpPr>
        <p:spPr>
          <a:xfrm>
            <a:off x="4802400" y="1580175"/>
            <a:ext cx="5745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" name="Google Shape;99;p3"/>
          <p:cNvSpPr txBox="1"/>
          <p:nvPr/>
        </p:nvSpPr>
        <p:spPr>
          <a:xfrm>
            <a:off x="5822875" y="1289825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docs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N-1</a:t>
            </a:r>
            <a:endParaRPr b="0" baseline="3000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100" name="Google Shape;100;p3"/>
          <p:cNvCxnSpPr/>
          <p:nvPr/>
        </p:nvCxnSpPr>
        <p:spPr>
          <a:xfrm>
            <a:off x="5869200" y="1580175"/>
            <a:ext cx="5745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" name="Google Shape;101;p3"/>
          <p:cNvSpPr txBox="1"/>
          <p:nvPr/>
        </p:nvSpPr>
        <p:spPr>
          <a:xfrm>
            <a:off x="7133875" y="1289825"/>
            <a:ext cx="4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docs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N</a:t>
            </a:r>
            <a:endParaRPr b="0" baseline="3000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102" name="Google Shape;102;p3"/>
          <p:cNvCxnSpPr/>
          <p:nvPr/>
        </p:nvCxnSpPr>
        <p:spPr>
          <a:xfrm>
            <a:off x="7088400" y="1580175"/>
            <a:ext cx="5745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" name="Google Shape;103;p3"/>
          <p:cNvSpPr txBox="1"/>
          <p:nvPr/>
        </p:nvSpPr>
        <p:spPr>
          <a:xfrm>
            <a:off x="5457475" y="1353000"/>
            <a:ext cx="4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…</a:t>
            </a:r>
            <a:endParaRPr b="0" baseline="3000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313200" y="1914025"/>
            <a:ext cx="4258800" cy="29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Método Aggregate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db.&lt;collection&gt;.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r>
              <a:rPr lang="en-GB" sz="14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pipeline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, &lt;options&gt;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db.&lt;collection&gt;.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[ 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{</a:t>
            </a:r>
            <a:r>
              <a:rPr lang="en-GB" sz="14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&lt;stage</a:t>
            </a:r>
            <a:r>
              <a:rPr baseline="-25000" lang="en-GB" sz="14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4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&gt; 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}, {</a:t>
            </a:r>
            <a:r>
              <a:rPr lang="en-GB" sz="1400">
                <a:solidFill>
                  <a:srgbClr val="66666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</a:t>
            </a:r>
            <a:r>
              <a:rPr lang="en-GB" sz="14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&lt;stage</a:t>
            </a:r>
            <a:r>
              <a:rPr baseline="-25000" lang="en-GB" sz="14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2</a:t>
            </a:r>
            <a:r>
              <a:rPr lang="en-GB" sz="14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&gt; 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}, … , { </a:t>
            </a:r>
            <a:r>
              <a:rPr lang="en-GB" sz="14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&lt;stage</a:t>
            </a:r>
            <a:r>
              <a:rPr baseline="-25000" lang="en-GB" sz="14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N</a:t>
            </a:r>
            <a:r>
              <a:rPr lang="en-GB" sz="14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&gt; 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} </a:t>
            </a:r>
            <a:r>
              <a:rPr lang="en-GB" sz="140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]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,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&lt;options&gt;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4572000" y="1914025"/>
            <a:ext cx="4258800" cy="29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Pipeline y stages de agregación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db.companies.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[</a:t>
            </a:r>
            <a:endParaRPr sz="1400"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$match: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{ founded_year: 2004 }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$sort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name: 1}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$limit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5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$project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_id: 0, name: 1 }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]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Expresiones de agregación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311700" y="853200"/>
            <a:ext cx="85206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            			{ &lt;</a:t>
            </a:r>
            <a:r>
              <a:rPr b="1"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operator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[ { argument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}, { argument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2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}, … ]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            			{ &lt;</a:t>
            </a:r>
            <a:r>
              <a:rPr b="1"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operator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{ argument } }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313200" y="1757700"/>
            <a:ext cx="4258800" cy="30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Expresiones booleanas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$and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$not  $or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Expresiones de comparación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$cmp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$eq  $gt  $gte  $lt  $lte  $ne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Expresiones aritméticas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$add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$subtract  $divide  $abs …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Expresiones de arreglos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$arrayElemAt  $first  $last $size …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$concatArray  </a:t>
            </a:r>
            <a:r>
              <a:rPr b="1"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$filter  $map $reduce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…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Expresiones de conjuntos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$setDifference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$setUnion  $setIsSubset …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4572000" y="1757700"/>
            <a:ext cx="4258800" cy="30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Expresiones condicionales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$cond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$ifNull  $switch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Expresiones de fechas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$year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$month  $dateAdd  $dateDiff …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Expresiones de strings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$concat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$split  $substr  $dateFromString …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Expresiones de tipos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$convert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$isNumber  $type …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Pragati Narrow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Field Path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"$&lt;field&gt;"  (= "$$CURRENT.&lt;field&gt;")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Pragati Narrow"/>
              <a:buChar char="➢"/>
            </a:pPr>
            <a:r>
              <a:rPr lang="en-GB" sz="1600" u="sng">
                <a:solidFill>
                  <a:schemeClr val="accent5"/>
                </a:solidFill>
                <a:latin typeface="Pragati Narrow"/>
                <a:ea typeface="Pragati Narrow"/>
                <a:cs typeface="Pragati Narrow"/>
                <a:sym typeface="Pragati Narr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Mas expresiones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311700" y="854850"/>
            <a:ext cx="8520600" cy="3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$match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Filtra los documentos que pasan a la siguiente etapa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$project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Cambia la forma de cada documento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$skip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Omite los primero N documentos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$limit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Limita el resultado a los primeros N documentos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$sort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Ordena el flujo de documentos por uno o más campos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$count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Retorna la cantidad de documentos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$addFields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Agrega nuevos campos a cada documento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- MATCH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311700" y="853200"/>
            <a:ext cx="85206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            			{ </a:t>
            </a: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$match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{ &lt;query filter&gt; }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            			{ </a:t>
            </a: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$match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 { </a:t>
            </a:r>
            <a:r>
              <a:rPr b="1"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$expr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&lt; aggregation expression&gt; } }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313200" y="1757700"/>
            <a:ext cx="4258800" cy="30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Colección monthlyBudget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db.monthlyBudget.insertMany([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{ _id: 1, category: "food", budget: 400, spent: 450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{ _id: 2, category: "drinks", budget: 100, spent: 150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{ _id: 3, category: "clothes", budget: 100, spent: 50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{ _id: 4, category: "misc", budget: 500, spent: 300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{ _id: 5, category: "travel", budget: 200, spent: 650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]);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4572000" y="1757700"/>
            <a:ext cx="4258800" cy="30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Match con operadores de selección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db.monthlyBudget.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$match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"budget":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400,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600} }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Match con expresiones de agregación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db.monthlyBudget.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$match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$expr: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spent" ,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budget" ] } }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- PROJECT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311700" y="853200"/>
            <a:ext cx="85206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$project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{ &lt;specifications&gt; }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$project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 { &lt;field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&lt; 1 or true&gt;,  &lt;field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2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&lt; 0 or false&gt;, &lt;field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3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&lt; aggregation expression&gt;, … } }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313200" y="1757700"/>
            <a:ext cx="4258800" cy="30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Colección monthlyBudget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db.monthlyBudget.insertMany([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{ _id: 1, category: "food", budget: 400, spent: 450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{ _id: 2, category: "drinks", budget: 100, spent: 150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{ _id: 3, category: "clothes", budget: 100, spent: 50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{ _id: 4, category: "misc", budget: 500, spent: 300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{ _id: 5, category: "travel", budget: 200, spent: 650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]);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4572000" y="1757700"/>
            <a:ext cx="4258800" cy="30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Project con expresiones de agregación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db.monthlyBudget.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$match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$expr: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spent" ,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budget" ] } }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$project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cat_prefix: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$substr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category", 0, 3 ]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excess: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$subtract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spent" ,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budget" ]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_id: 0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- SORT SKIP LIMIT COUNT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8"/>
          <p:cNvSpPr txBox="1"/>
          <p:nvPr>
            <p:ph idx="1" type="body"/>
          </p:nvPr>
        </p:nvSpPr>
        <p:spPr>
          <a:xfrm>
            <a:off x="313200" y="853200"/>
            <a:ext cx="42588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15912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Oswald"/>
              <a:buChar char="➢"/>
            </a:pPr>
            <a:r>
              <a:rPr lang="en-GB" sz="2200">
                <a:latin typeface="Oswald"/>
                <a:ea typeface="Oswald"/>
                <a:cs typeface="Oswald"/>
                <a:sym typeface="Oswald"/>
              </a:rPr>
              <a:t>Métodos del cursor: SORT, SKIP y LIMIT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44000"/>
              <a:buNone/>
            </a:pP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db.monthlyBudget.</a:t>
            </a:r>
            <a:r>
              <a:rPr lang="en-GB" sz="2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(</a:t>
            </a:r>
            <a:endParaRPr sz="2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44000"/>
              <a:buNone/>
            </a:pP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    { </a:t>
            </a:r>
            <a:r>
              <a:rPr lang="en-GB" sz="2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$expr:</a:t>
            </a: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 { </a:t>
            </a:r>
            <a:r>
              <a:rPr lang="en-GB" sz="2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$gt</a:t>
            </a: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: [ "$spent" , "$budget" ] } },</a:t>
            </a:r>
            <a:endParaRPr sz="2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44000"/>
              <a:buNone/>
            </a:pP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    {   </a:t>
            </a:r>
            <a:endParaRPr sz="2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44000"/>
              <a:buNone/>
            </a:pP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        cat_prefix: { </a:t>
            </a:r>
            <a:r>
              <a:rPr lang="en-GB" sz="2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$substr</a:t>
            </a: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: [ "$category", 0, 3 ] },</a:t>
            </a:r>
            <a:endParaRPr sz="2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44000"/>
              <a:buNone/>
            </a:pP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        excess: { </a:t>
            </a:r>
            <a:r>
              <a:rPr lang="en-GB" sz="2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$subtract:</a:t>
            </a: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 [ "$spent" , "$budget" ] },</a:t>
            </a:r>
            <a:endParaRPr sz="2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44000"/>
              <a:buNone/>
            </a:pP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        _id: 0</a:t>
            </a:r>
            <a:endParaRPr sz="2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44000"/>
              <a:buNone/>
            </a:pP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    }</a:t>
            </a:r>
            <a:endParaRPr sz="2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44000"/>
              <a:buNone/>
            </a:pP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).</a:t>
            </a:r>
            <a:r>
              <a:rPr lang="en-GB" sz="2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sort</a:t>
            </a: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sz="2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44000"/>
              <a:buNone/>
            </a:pP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    { excess: -1, excess: 1}</a:t>
            </a:r>
            <a:endParaRPr sz="2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44000"/>
              <a:buNone/>
            </a:pP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).</a:t>
            </a:r>
            <a:r>
              <a:rPr lang="en-GB" sz="2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skip</a:t>
            </a: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( 0</a:t>
            </a:r>
            <a:endParaRPr sz="2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4000"/>
              <a:buNone/>
            </a:pP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).</a:t>
            </a:r>
            <a:r>
              <a:rPr lang="en-GB" sz="2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limit</a:t>
            </a: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(1)</a:t>
            </a:r>
            <a:endParaRPr sz="20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05714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Oswald"/>
              <a:buChar char="➢"/>
            </a:pPr>
            <a:r>
              <a:rPr lang="en-GB" sz="2200">
                <a:latin typeface="Oswald"/>
                <a:ea typeface="Oswald"/>
                <a:cs typeface="Oswald"/>
                <a:sym typeface="Oswald"/>
              </a:rPr>
              <a:t>Métodos del cursor: COUNT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44000"/>
              <a:buNone/>
            </a:pP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db.monthlyBudget.</a:t>
            </a:r>
            <a:r>
              <a:rPr lang="en-GB" sz="2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( { } ).</a:t>
            </a:r>
            <a:r>
              <a:rPr lang="en-GB" sz="20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count</a:t>
            </a:r>
            <a:r>
              <a:rPr lang="en-GB" sz="2000">
                <a:latin typeface="Pragati Narrow"/>
                <a:ea typeface="Pragati Narrow"/>
                <a:cs typeface="Pragati Narrow"/>
                <a:sym typeface="Pragati Narrow"/>
              </a:rPr>
              <a:t>()</a:t>
            </a:r>
            <a:endParaRPr sz="20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4572000" y="853200"/>
            <a:ext cx="42588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Stages: SORT, SKIP y LIMIT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db.monthlyBudget.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$match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$expr: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spent" ,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budget" ] } }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$project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cat_prefix: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$substr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category", 0, 3 ]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excess: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$subtract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spent" ,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budget" ] }, _id: 0 } 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$sort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excess: -1, cat_prefix: 1 }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$skip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$limit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1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Stages: COUNT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db.monthlyBudget.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 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$count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"numOfItems" } 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- ADDFIELDS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8" name="Google Shape;148;p9"/>
          <p:cNvSpPr txBox="1"/>
          <p:nvPr>
            <p:ph idx="1" type="body"/>
          </p:nvPr>
        </p:nvSpPr>
        <p:spPr>
          <a:xfrm>
            <a:off x="311700" y="853200"/>
            <a:ext cx="8520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$addFields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 { &lt;newField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&lt; aggregation expression&gt;, … } }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49;p9"/>
          <p:cNvSpPr txBox="1"/>
          <p:nvPr>
            <p:ph idx="1" type="body"/>
          </p:nvPr>
        </p:nvSpPr>
        <p:spPr>
          <a:xfrm>
            <a:off x="313200" y="1298700"/>
            <a:ext cx="4258800" cy="3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Colección survey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db.survey.insertMany([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{ _id: 1, results: [ { product: "abc", score: 10 }, { product: "xyz", score: 5 } ] },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{ _id: 2, results: [ { product: "abc", score: 9 }, { product: "xyz", score: 8 } ] },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{ _id: 3, results: [ { product: "abc", score: 6 }, { product: "xyz", score: 3 } ] }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])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50" name="Google Shape;150;p9"/>
          <p:cNvSpPr txBox="1"/>
          <p:nvPr>
            <p:ph idx="1" type="body"/>
          </p:nvPr>
        </p:nvSpPr>
        <p:spPr>
          <a:xfrm>
            <a:off x="4572000" y="1298700"/>
            <a:ext cx="4258800" cy="3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 de addFields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db.survey.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$addFields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"avg_score":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$avg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results.score" }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},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$match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avg_score: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7 }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},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$project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{"avg_score": 1}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rgbClr val="6AA84F"/>
                </a:solidFill>
              </a:rPr>
              <a:t>IT’S DEMO TIME</a:t>
            </a:r>
            <a:endParaRPr b="1">
              <a:solidFill>
                <a:srgbClr val="6AA84F"/>
              </a:solidFill>
            </a:endParaRPr>
          </a:p>
        </p:txBody>
      </p:sp>
      <p:pic>
        <p:nvPicPr>
          <p:cNvPr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4775" y="1361075"/>
            <a:ext cx="4557275" cy="29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(2)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11"/>
          <p:cNvSpPr txBox="1"/>
          <p:nvPr>
            <p:ph idx="1" type="body"/>
          </p:nvPr>
        </p:nvSpPr>
        <p:spPr>
          <a:xfrm>
            <a:off x="311700" y="854850"/>
            <a:ext cx="8520600" cy="3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$unwind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Deconstruye un campo arreglo en el documento y crea documentos separados para cada elemento en el arreglo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$replaceRoot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Reemplaza el documento por un documento anidado especificado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$group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Agrupa los documentos por una expresión especificada y aplica las expresiones acumuladoras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$unionWith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Realiza la unión de dos colecciones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$out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Almacena el resultado del pipeline en una colección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$lookup</a:t>
            </a:r>
            <a:endParaRPr>
              <a:solidFill>
                <a:srgbClr val="3D85C6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agati Narrow"/>
              <a:buChar char="○"/>
            </a:pPr>
            <a:r>
              <a:rPr lang="en-GB">
                <a:latin typeface="Pragati Narrow"/>
                <a:ea typeface="Pragati Narrow"/>
                <a:cs typeface="Pragati Narrow"/>
                <a:sym typeface="Pragati Narrow"/>
              </a:rPr>
              <a:t>Realiza un left join a otra colección</a:t>
            </a:r>
            <a:endParaRPr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(2) - UNWIND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8" name="Google Shape;168;p12"/>
          <p:cNvSpPr txBox="1"/>
          <p:nvPr>
            <p:ph idx="1" type="body"/>
          </p:nvPr>
        </p:nvSpPr>
        <p:spPr>
          <a:xfrm>
            <a:off x="311700" y="853200"/>
            <a:ext cx="8520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$unwind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 &lt;field path&gt; }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p12"/>
          <p:cNvSpPr txBox="1"/>
          <p:nvPr>
            <p:ph idx="1" type="body"/>
          </p:nvPr>
        </p:nvSpPr>
        <p:spPr>
          <a:xfrm>
            <a:off x="313200" y="1298700"/>
            <a:ext cx="4258800" cy="3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Colección survey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db.survey.insertMany([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{ _id: 1, results: [ { product: "abc", score: 10 }, { product: "xyz", score: 5 } ] }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])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4572000" y="1298700"/>
            <a:ext cx="4258800" cy="3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 de unwind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db.survey.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$unwind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"$results"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Resultado del pipeline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1, results: { product: 'abc', score: 10 }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1, results: { product: 'xyz', score: 5 }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(2) - ReplaceRoot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6" name="Google Shape;176;p13"/>
          <p:cNvSpPr txBox="1"/>
          <p:nvPr>
            <p:ph idx="1" type="body"/>
          </p:nvPr>
        </p:nvSpPr>
        <p:spPr>
          <a:xfrm>
            <a:off x="311700" y="853200"/>
            <a:ext cx="8520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$replaceRoot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 { newRoot: &lt; replacementDocument &gt; } }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313200" y="1298700"/>
            <a:ext cx="4258800" cy="3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Colección survey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db.survey.insertMany([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{ _id: 1, results: [ { product: "abc", score: 10 }, { product: "xyz", score: 5 } ] },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{ _id: 2, results: [ { product: "abc", score: 9 }, { product: "xyz", score: 8 } ] },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{ _id: 3, results: [ { product: "abc", score: 6 }, { product: "xyz", score: 3 } ] }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])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78" name="Google Shape;178;p13"/>
          <p:cNvSpPr txBox="1"/>
          <p:nvPr>
            <p:ph idx="1" type="body"/>
          </p:nvPr>
        </p:nvSpPr>
        <p:spPr>
          <a:xfrm>
            <a:off x="4572000" y="1298700"/>
            <a:ext cx="4258800" cy="3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 de replaceRoot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db.survey.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$unwind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"$results" 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$match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"results.score":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9 }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b="1"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$replaceRoot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newRoot: "$results"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(2) - GROUP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" name="Google Shape;184;p14"/>
          <p:cNvSpPr txBox="1"/>
          <p:nvPr>
            <p:ph idx="1" type="body"/>
          </p:nvPr>
        </p:nvSpPr>
        <p:spPr>
          <a:xfrm>
            <a:off x="311700" y="853200"/>
            <a:ext cx="85206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b="1"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$group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_id: &lt;expression&gt;, 			        </a:t>
            </a:r>
            <a:r>
              <a:rPr i="1" lang="en-GB" sz="1400">
                <a:solidFill>
                  <a:srgbClr val="99999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// single or group key</a:t>
            </a:r>
            <a:endParaRPr i="1" sz="1400">
              <a:solidFill>
                <a:srgbClr val="999999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&lt;field</a:t>
            </a:r>
            <a:r>
              <a:rPr baseline="-25000" lang="en-GB" sz="1400"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&gt;: { &lt;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accumulator</a:t>
            </a:r>
            <a:r>
              <a:rPr baseline="-25000"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&gt;: &lt;expression</a:t>
            </a:r>
            <a:r>
              <a:rPr baseline="-25000" lang="en-GB" sz="1400"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&gt;,       </a:t>
            </a:r>
            <a:r>
              <a:rPr i="1" lang="en-GB" sz="1400">
                <a:solidFill>
                  <a:srgbClr val="99999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// accumulator expression: $avg, $max, $min, $stdDevPop,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… 					       </a:t>
            </a:r>
            <a:r>
              <a:rPr i="1" lang="en-GB" sz="1400">
                <a:solidFill>
                  <a:srgbClr val="999999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// $count, $sum, $first, $addToSet, $push, ….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}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}</a:t>
            </a:r>
            <a:endParaRPr sz="1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5" name="Google Shape;185;p14"/>
          <p:cNvSpPr txBox="1"/>
          <p:nvPr>
            <p:ph idx="1" type="body"/>
          </p:nvPr>
        </p:nvSpPr>
        <p:spPr>
          <a:xfrm>
            <a:off x="313200" y="2130450"/>
            <a:ext cx="4258800" cy="26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Colección sales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db.sales.insertMany([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_id: 1, item: "abc", price: 10, qty: 2, date: ISODate("2014-03-01T08:00:00Z")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_id: 2, item: "jkl", price: 20, qty: 1, date: ISODate("2014-03-01T09:00:00Z")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_id: 3, item: "xyz", price: 5, qty: 10, date: ISODate("2014-03-15T09:00:00Z")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_id: 4, item: "xyz", price: 5, qty: 20, date: ISODate("2014-04-04T11:21:39Z")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_id: 5, item: "abc", price: 10, qty: 10, date: ISODate("2014-04-04T21:23:13Z")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_id: 6, item: "def", price: 7.5, qty: 5, date: ISODate("2015-06-04T05:08:13Z")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_id: 7, item: "def", price: 7.5, qty: 10, date: ISODate("2015-09-10T08:43:00Z")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_id: 8, item: "abc", price: 10, qty: 5, date: ISODate("2016-02-06T20:20:13Z")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86" name="Google Shape;186;p14"/>
          <p:cNvSpPr txBox="1"/>
          <p:nvPr>
            <p:ph idx="1" type="body"/>
          </p:nvPr>
        </p:nvSpPr>
        <p:spPr>
          <a:xfrm>
            <a:off x="4572000" y="2130150"/>
            <a:ext cx="4258800" cy="26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Oswald"/>
              <a:buChar char="➢"/>
            </a:pPr>
            <a:r>
              <a:rPr lang="en-GB" sz="1400">
                <a:latin typeface="Oswald"/>
                <a:ea typeface="Oswald"/>
                <a:cs typeface="Oswald"/>
                <a:sym typeface="Oswald"/>
              </a:rPr>
              <a:t>Ejemplo de group donde _id es null y </a:t>
            </a:r>
            <a:r>
              <a:rPr lang="en-GB" sz="14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3"/>
              </a:rPr>
              <a:t>expresiones de acumulador</a:t>
            </a:r>
            <a:endParaRPr sz="14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db.sales.</a:t>
            </a:r>
            <a:r>
              <a:rPr lang="en-GB" sz="12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([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{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lang="en-GB" sz="12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$group</a:t>
            </a: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: {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    _id: null,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    totalQuanty: { </a:t>
            </a:r>
            <a:r>
              <a:rPr lang="en-GB" sz="12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$sum</a:t>
            </a: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: "$qty"},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    count: { </a:t>
            </a:r>
            <a:r>
              <a:rPr lang="en-GB" sz="12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$count</a:t>
            </a: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: {}}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}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}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])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Oswald"/>
              <a:buChar char="➢"/>
            </a:pPr>
            <a:r>
              <a:rPr lang="en-GB" sz="1400">
                <a:latin typeface="Oswald"/>
                <a:ea typeface="Oswald"/>
                <a:cs typeface="Oswald"/>
                <a:sym typeface="Oswald"/>
              </a:rPr>
              <a:t>Resultado del pipeline</a:t>
            </a:r>
            <a:endParaRPr sz="14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[ { _id: null, totalQuanty: 63, count: 8 } ]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(2) - GROUP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2" name="Google Shape;192;p15"/>
          <p:cNvSpPr txBox="1"/>
          <p:nvPr>
            <p:ph idx="1" type="body"/>
          </p:nvPr>
        </p:nvSpPr>
        <p:spPr>
          <a:xfrm>
            <a:off x="4572000" y="853200"/>
            <a:ext cx="42588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073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Agrupar por varios campos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db.sales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.aggregate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</a:t>
            </a:r>
            <a:endParaRPr sz="14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$group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_id: { "year": {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$year: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"$date"}, month: {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$month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"$date" }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totalQuantity: {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$sum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"$qty"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count: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$sum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1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073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Resultado del pipeline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{ year: 2014, month: 3 }, totalQuantity: 13, count: 3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{ year: 2015, month: 9 }, totalQuantity: 10, count: 1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{ year: 2015, month: 6 }, totalQuantity: 5, count: 1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{ year: 2016, month: 2 }, totalQuantity: 5, count: 1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{ year: 2014, month: 4 }, totalQuantity: 30, count: 2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5898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93" name="Google Shape;193;p15"/>
          <p:cNvSpPr txBox="1"/>
          <p:nvPr>
            <p:ph idx="1" type="body"/>
          </p:nvPr>
        </p:nvSpPr>
        <p:spPr>
          <a:xfrm>
            <a:off x="311700" y="853200"/>
            <a:ext cx="42588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Agrupar por un solo campo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db.sales.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$group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_id: "$item",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tamount: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$sum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$multiply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"$price", "$qty" ] }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Resultado del pipeline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'def', amount: 112.5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'jkl', amount: 20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'abc', amount: 170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'xyz', amount: 150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(2) - UnionWith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9" name="Google Shape;199;p16"/>
          <p:cNvSpPr txBox="1"/>
          <p:nvPr>
            <p:ph idx="1" type="body"/>
          </p:nvPr>
        </p:nvSpPr>
        <p:spPr>
          <a:xfrm>
            <a:off x="311700" y="853200"/>
            <a:ext cx="85206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$unionWith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 "&lt;collection&gt;"  }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$unionWith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 {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coll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"&lt;collection&gt;", 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pipeline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[ { &lt;stage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 }, … ] } }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0" name="Google Shape;200;p16"/>
          <p:cNvSpPr txBox="1"/>
          <p:nvPr>
            <p:ph idx="1" type="body"/>
          </p:nvPr>
        </p:nvSpPr>
        <p:spPr>
          <a:xfrm>
            <a:off x="313200" y="1757700"/>
            <a:ext cx="4258800" cy="30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Colecciones cats y dogs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db.cats.insertMany([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	{ _id: 1, name: "Fluffy", type: "Cat", weight: 5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	{ _id: 2, name: "Scratch", type: "Cat", weight: 3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	{ _id: 3, name: "Meow", type: "Cat", weight: 7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db.dogs.insertMany([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	{ _id: 1, name: "Wag", type: "Dog", weight: 20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	{ _id: 2, name: "Bark", type: "Dog", weight: 10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	{ _id: 3, name: "Fluffy", type: "Dog", weight: 40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201" name="Google Shape;201;p16"/>
          <p:cNvSpPr txBox="1"/>
          <p:nvPr>
            <p:ph idx="1" type="body"/>
          </p:nvPr>
        </p:nvSpPr>
        <p:spPr>
          <a:xfrm>
            <a:off x="4572000" y="1757700"/>
            <a:ext cx="4258800" cy="3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 de unionWith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db.cats.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$unionWith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coll: "dogs",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pipeline: [ 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$match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weight: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30 } } } ]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225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Resultado del pipeline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1, name: 'Fluffy', type: 'Cat', weight: 5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2, name: 'Scratch', type: 'Cat', weight: 3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3, name: 'Meow', type: 'Cat', weight: 7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1, name: 'Wag', type: 'Dog', weight: 20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_id: 2, name: 'Bark', type: 'Dog', weight: 10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(2) - OUT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7" name="Google Shape;207;p17"/>
          <p:cNvSpPr txBox="1"/>
          <p:nvPr>
            <p:ph idx="1" type="body"/>
          </p:nvPr>
        </p:nvSpPr>
        <p:spPr>
          <a:xfrm>
            <a:off x="311700" y="853200"/>
            <a:ext cx="8520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$out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 { db:  "&lt;outDatabase&gt;", coll:  "&lt;outCollection&gt;"} }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8" name="Google Shape;208;p17"/>
          <p:cNvSpPr txBox="1"/>
          <p:nvPr>
            <p:ph idx="1" type="body"/>
          </p:nvPr>
        </p:nvSpPr>
        <p:spPr>
          <a:xfrm>
            <a:off x="313200" y="1298700"/>
            <a:ext cx="4258800" cy="3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Colecciones cats y dogs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db.cats.insertMany([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	{ _id: 1, name: "Fluffy", type: "Cat", weight: 5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	{ _id: 2, name: "Scratch", type: "Cat", weight: 3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	{ _id: 3, name: "Meow", type: "Cat", weight: 7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db.dogs.insertMany([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	{ _id: 1, name: "Wag", type: "Dog", weight: 20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	{ _id: 2, name: "Bark", type: "Dog", weight: 10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	{ _id: 3, name: "Fluffy", type: "Dog", weight: 40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209" name="Google Shape;209;p17"/>
          <p:cNvSpPr txBox="1"/>
          <p:nvPr>
            <p:ph idx="1" type="body"/>
          </p:nvPr>
        </p:nvSpPr>
        <p:spPr>
          <a:xfrm>
            <a:off x="4572000" y="1298700"/>
            <a:ext cx="4258800" cy="3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 de replaceRoot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db.cats.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$unionWith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coll: "dogs",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pipeline: [ 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$match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weight: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30 } } } ]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$unset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"_id"  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b="1"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$out: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{ db: "samples", coll: "pets"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db.pets.find()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(2) - LOOKUP - Condición de JOIN simple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5" name="Google Shape;215;p18"/>
          <p:cNvSpPr txBox="1"/>
          <p:nvPr>
            <p:ph idx="1" type="body"/>
          </p:nvPr>
        </p:nvSpPr>
        <p:spPr>
          <a:xfrm>
            <a:off x="311700" y="854850"/>
            <a:ext cx="8520600" cy="21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$lookup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{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from: &lt;collection to join&gt;, 		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localField: &lt;field from the input documents&gt;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foreignField: &lt;field from the documents of the "from" collection&gt;,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as : &lt;output array field&gt;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}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216" name="Google Shape;216;p18"/>
          <p:cNvSpPr txBox="1"/>
          <p:nvPr>
            <p:ph idx="1" type="body"/>
          </p:nvPr>
        </p:nvSpPr>
        <p:spPr>
          <a:xfrm>
            <a:off x="313200" y="2996250"/>
            <a:ext cx="4258800" cy="18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Colección posts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	db.posts.insertMany(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      { _id: 1, "author": "Jim", "likes": 5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      { _id: 2, "author": "Jim", "likes" : 2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{ _id: 3, "author": "Joe", "likes": 3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217" name="Google Shape;217;p18"/>
          <p:cNvSpPr txBox="1"/>
          <p:nvPr>
            <p:ph idx="1" type="body"/>
          </p:nvPr>
        </p:nvSpPr>
        <p:spPr>
          <a:xfrm>
            <a:off x="4572000" y="2995200"/>
            <a:ext cx="4258800" cy="18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Colección posts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	db.comments.insertMany(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     { "comment": "great read", "likes": 3, post_id: 1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     { "comment": "good info", "likes": 0, post_id: 2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     { "comment": "i liked this post", "likes": 12, post_id: 2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     { "comment": "not my favorite", "likes": 8, post_id: 3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     { "comment": null, "likes": 0, post_id: 4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(2) - LOOKUP - Condición de JOIN simple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3" name="Google Shape;223;p19"/>
          <p:cNvSpPr txBox="1"/>
          <p:nvPr>
            <p:ph idx="1" type="body"/>
          </p:nvPr>
        </p:nvSpPr>
        <p:spPr>
          <a:xfrm>
            <a:off x="4605825" y="853200"/>
            <a:ext cx="42249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Resultado del pipeline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[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{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_id: 1, author: 'Jim', likes: 5,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cmts: [ { _id: ObjectId, comment: 'great read', likes: 3, post_id: 1 } ]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}, 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{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_id: 2, author: 'Jim', likes: 2,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cmts: [ 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{ _id: ObjectId, comment: 'good info', likes: 0, post_id: 2 },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{ _id: ObjectId, comment: 'i liked this post', likes: 12, post_id: 2 }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]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}, 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{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_id: 3, author: 'Joe', likes: 3,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cmts: [ { _id: ObjectId, comment: 'not my favorite', likes: 8, post_id: 3 } ]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}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]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311700" y="853200"/>
            <a:ext cx="42588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Lookup con condición de join simple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</a:t>
            </a:r>
            <a:r>
              <a:rPr b="1" lang="en-GB" sz="1400">
                <a:latin typeface="Pragati Narrow"/>
                <a:ea typeface="Pragati Narrow"/>
                <a:cs typeface="Pragati Narrow"/>
                <a:sym typeface="Pragati Narrow"/>
              </a:rPr>
              <a:t>posts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	     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	      	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$lookup: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		      from: "</a:t>
            </a:r>
            <a:r>
              <a:rPr b="1" lang="en-GB" sz="1400">
                <a:latin typeface="Pragati Narrow"/>
                <a:ea typeface="Pragati Narrow"/>
                <a:cs typeface="Pragati Narrow"/>
                <a:sym typeface="Pragati Narrow"/>
              </a:rPr>
              <a:t>comments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		      localField: "_id",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		      foreignField: "post_id",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		      as: "cmts"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	            }  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(2) - LOOKUP - Multiple condiciones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0" name="Google Shape;230;p20"/>
          <p:cNvSpPr txBox="1"/>
          <p:nvPr>
            <p:ph idx="1" type="body"/>
          </p:nvPr>
        </p:nvSpPr>
        <p:spPr>
          <a:xfrm>
            <a:off x="311700" y="854850"/>
            <a:ext cx="8520600" cy="21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$lookup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{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from: &lt;joined collection&gt;, 		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let: { &lt;var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&lt;expression&gt;, … , &lt;var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N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&lt;expression&gt; },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pipeline: [ &lt;pipeline to run joined collection&gt; ],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as : &lt;output array field&gt;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}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Stages de agregación (2) - LOOKUP - Multiple condiciones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6" name="Google Shape;236;p21"/>
          <p:cNvSpPr txBox="1"/>
          <p:nvPr>
            <p:ph idx="1" type="body"/>
          </p:nvPr>
        </p:nvSpPr>
        <p:spPr>
          <a:xfrm>
            <a:off x="4605825" y="853200"/>
            <a:ext cx="42249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Resultado del pipeline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[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	    { _id: 1, author: 'Jim', likes: 5, cmts: [] },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	    {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	        _id: 2, author: 'Jim', likes: 2,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	        cmts: [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	            {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	                _id: ObjectId("635b467558c2ead4c68a4880"),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	         	comment: 'i liked this post',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		likes: 12,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	 	post_id: 2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	             }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	          ]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	    },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	    {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	        _id: 3, author: 'Joe', likes: 3,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	        cmts: [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	            {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		_id: ObjectId("635b467558c2ead4c68a4881"),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		comment: 'not my favorite',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		likes: 8,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		post_id: 3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	            }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	        ]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	    }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]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237" name="Google Shape;237;p21"/>
          <p:cNvSpPr txBox="1"/>
          <p:nvPr>
            <p:ph idx="1" type="body"/>
          </p:nvPr>
        </p:nvSpPr>
        <p:spPr>
          <a:xfrm>
            <a:off x="311700" y="853200"/>
            <a:ext cx="42588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ct val="1000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Lookup con condición de join múltiple y subquery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db.posts.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aggregate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$lookup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from: "comments",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let: { post_likes: "$likes", post_id: "$_id"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pipeline: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{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$match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   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$expr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       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$and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            { </a:t>
            </a:r>
            <a:r>
              <a:rPr lang="en-GB" sz="1400">
                <a:solidFill>
                  <a:srgbClr val="38761D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$eq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["$post_id",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$$post_id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" ]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           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"$likes", "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$$post_likes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" ]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        ]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],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as: "cmts"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996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Vistas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3" name="Google Shape;243;p22"/>
          <p:cNvSpPr txBox="1"/>
          <p:nvPr>
            <p:ph idx="1" type="body"/>
          </p:nvPr>
        </p:nvSpPr>
        <p:spPr>
          <a:xfrm>
            <a:off x="311700" y="853200"/>
            <a:ext cx="8520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db.createView( "&lt;viewName&gt;", "&lt;source&gt;", [ &lt;pipeline&gt; ] 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4" name="Google Shape;244;p22"/>
          <p:cNvSpPr txBox="1"/>
          <p:nvPr>
            <p:ph idx="1" type="body"/>
          </p:nvPr>
        </p:nvSpPr>
        <p:spPr>
          <a:xfrm>
            <a:off x="313200" y="1298700"/>
            <a:ext cx="4258800" cy="3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Colecciones students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db.students.insertMany( 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sID: 22001, name: "Alex", year: 1, score: 4.0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sID: 21001, name: "bernie", year: 2, score: 3.7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sID: 20010, name: "Chris", year: 3, score: 2.5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sID: 22021, name: "Drew", year: 1, score: 3.2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sID: 17301, name: "harley", year: 6, score: 3.1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sID: 21022, name: "Farmer", year: 1, score: 2.2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sID: 20020, name: "george", year: 3, score: 2.8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sID: 18020, name: "Harley", year: 5, score: 2.8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245" name="Google Shape;245;p22"/>
          <p:cNvSpPr txBox="1"/>
          <p:nvPr>
            <p:ph idx="1" type="body"/>
          </p:nvPr>
        </p:nvSpPr>
        <p:spPr>
          <a:xfrm>
            <a:off x="4572000" y="1298700"/>
            <a:ext cx="4258800" cy="3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 de createView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db.createView(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"firstYears",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"students",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[ { $match: { year: 1 } } ]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db.firstYears.find( { }, { _id: 0 }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sID: 22001, name: 'Alex', year: 1, score: 4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sID: 22021, name: 'Drew', year: 1, score: 3.2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{ sID: 21022, name: 'Farmer', year: 1, score: 2.2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Temas a estudiar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1" name="Google Shape;251;p23"/>
          <p:cNvSpPr txBox="1"/>
          <p:nvPr>
            <p:ph idx="1" type="body"/>
          </p:nvPr>
        </p:nvSpPr>
        <p:spPr>
          <a:xfrm>
            <a:off x="311700" y="853200"/>
            <a:ext cx="83316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Roboto"/>
              <a:buChar char="➢"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Próxima clase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Validación de esquemas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Modelado de datos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Roboto"/>
              <a:buChar char="➢"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Referencias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-GB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Pipeline de agregación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-GB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Vistas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